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31"/>
  </p:notesMasterIdLst>
  <p:handoutMasterIdLst>
    <p:handoutMasterId r:id="rId32"/>
  </p:handoutMasterIdLst>
  <p:sldIdLst>
    <p:sldId id="340" r:id="rId2"/>
    <p:sldId id="398" r:id="rId3"/>
    <p:sldId id="399" r:id="rId4"/>
    <p:sldId id="403" r:id="rId5"/>
    <p:sldId id="402" r:id="rId6"/>
    <p:sldId id="404" r:id="rId7"/>
    <p:sldId id="400" r:id="rId8"/>
    <p:sldId id="401" r:id="rId9"/>
    <p:sldId id="405" r:id="rId10"/>
    <p:sldId id="406" r:id="rId11"/>
    <p:sldId id="408" r:id="rId12"/>
    <p:sldId id="423" r:id="rId13"/>
    <p:sldId id="409" r:id="rId14"/>
    <p:sldId id="410" r:id="rId15"/>
    <p:sldId id="411" r:id="rId16"/>
    <p:sldId id="412" r:id="rId17"/>
    <p:sldId id="413" r:id="rId18"/>
    <p:sldId id="414" r:id="rId19"/>
    <p:sldId id="415" r:id="rId20"/>
    <p:sldId id="424" r:id="rId21"/>
    <p:sldId id="416" r:id="rId22"/>
    <p:sldId id="417" r:id="rId23"/>
    <p:sldId id="425" r:id="rId24"/>
    <p:sldId id="428" r:id="rId25"/>
    <p:sldId id="418" r:id="rId26"/>
    <p:sldId id="419" r:id="rId27"/>
    <p:sldId id="426" r:id="rId28"/>
    <p:sldId id="427" r:id="rId29"/>
    <p:sldId id="421" r:id="rId30"/>
  </p:sldIdLst>
  <p:sldSz cx="9144000" cy="6858000" type="screen4x3"/>
  <p:notesSz cx="6858000" cy="9144000"/>
  <p:defaultTextStyle>
    <a:defPPr>
      <a:defRPr lang="tr-TR"/>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72365" autoAdjust="0"/>
  </p:normalViewPr>
  <p:slideViewPr>
    <p:cSldViewPr>
      <p:cViewPr varScale="1">
        <p:scale>
          <a:sx n="84" d="100"/>
          <a:sy n="84" d="100"/>
        </p:scale>
        <p:origin x="2400"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varScale="1">
        <p:scale>
          <a:sx n="53" d="100"/>
          <a:sy n="53" d="100"/>
        </p:scale>
        <p:origin x="2648"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7302DE-D8DD-447A-A737-DC35E5AC9993}"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tr-TR"/>
        </a:p>
      </dgm:t>
    </dgm:pt>
    <dgm:pt modelId="{E9BCF7CA-52BA-4192-AC39-1FAF2E9ABA83}">
      <dgm:prSet phldrT="[Metin]"/>
      <dgm:spPr>
        <a:effectLst>
          <a:outerShdw blurRad="50800" dist="127000" dir="18900000" algn="bl" rotWithShape="0">
            <a:prstClr val="black">
              <a:alpha val="40000"/>
            </a:prstClr>
          </a:outerShdw>
        </a:effectLst>
      </dgm:spPr>
      <dgm:t>
        <a:bodyPr/>
        <a:lstStyle/>
        <a:p>
          <a:r>
            <a:rPr lang="tr-TR" dirty="0" smtClean="0"/>
            <a:t>Kriptoloji</a:t>
          </a:r>
          <a:endParaRPr lang="tr-TR" dirty="0"/>
        </a:p>
      </dgm:t>
    </dgm:pt>
    <dgm:pt modelId="{E7A80024-7DB1-4A88-B033-378C75089050}" type="parTrans" cxnId="{B8E81B3A-4966-4BC9-84E7-20BD795C286F}">
      <dgm:prSet/>
      <dgm:spPr/>
      <dgm:t>
        <a:bodyPr/>
        <a:lstStyle/>
        <a:p>
          <a:endParaRPr lang="tr-TR"/>
        </a:p>
      </dgm:t>
    </dgm:pt>
    <dgm:pt modelId="{7EE81658-5847-4A0A-BE6C-964680AA5B13}" type="sibTrans" cxnId="{B8E81B3A-4966-4BC9-84E7-20BD795C286F}">
      <dgm:prSet/>
      <dgm:spPr/>
      <dgm:t>
        <a:bodyPr/>
        <a:lstStyle/>
        <a:p>
          <a:endParaRPr lang="tr-TR"/>
        </a:p>
      </dgm:t>
    </dgm:pt>
    <dgm:pt modelId="{B281C9F8-B422-4D57-A29C-C0AE7B248D21}">
      <dgm:prSet phldrT="[Metin]"/>
      <dgm:spPr>
        <a:effectLst>
          <a:outerShdw blurRad="50800" dist="152400" dir="8100000" algn="tr" rotWithShape="0">
            <a:prstClr val="black">
              <a:alpha val="40000"/>
            </a:prstClr>
          </a:outerShdw>
        </a:effectLst>
      </dgm:spPr>
      <dgm:t>
        <a:bodyPr/>
        <a:lstStyle/>
        <a:p>
          <a:r>
            <a:rPr lang="tr-TR" dirty="0" err="1" smtClean="0"/>
            <a:t>Kriptografi</a:t>
          </a:r>
          <a:endParaRPr lang="tr-TR" dirty="0"/>
        </a:p>
      </dgm:t>
    </dgm:pt>
    <dgm:pt modelId="{5E99A8B9-8594-469A-972A-ACC60CC8EA20}" type="parTrans" cxnId="{55E06DEF-4043-4B1A-938B-EC6C7D5A1B3A}">
      <dgm:prSet/>
      <dgm:spPr>
        <a:solidFill>
          <a:schemeClr val="bg1"/>
        </a:solidFill>
        <a:ln w="25400"/>
      </dgm:spPr>
      <dgm:t>
        <a:bodyPr/>
        <a:lstStyle/>
        <a:p>
          <a:endParaRPr lang="tr-TR"/>
        </a:p>
      </dgm:t>
    </dgm:pt>
    <dgm:pt modelId="{307D2AA8-6BB0-4B68-9A48-09DCA6117B8C}" type="sibTrans" cxnId="{55E06DEF-4043-4B1A-938B-EC6C7D5A1B3A}">
      <dgm:prSet/>
      <dgm:spPr/>
      <dgm:t>
        <a:bodyPr/>
        <a:lstStyle/>
        <a:p>
          <a:endParaRPr lang="tr-TR"/>
        </a:p>
      </dgm:t>
    </dgm:pt>
    <dgm:pt modelId="{7E2B4072-002C-4755-9100-30C06EACA392}">
      <dgm:prSet phldrT="[Metin]"/>
      <dgm:spPr>
        <a:effectLst>
          <a:outerShdw blurRad="50800" dist="152400" dir="8100000" algn="tr" rotWithShape="0">
            <a:prstClr val="black">
              <a:alpha val="40000"/>
            </a:prstClr>
          </a:outerShdw>
        </a:effectLst>
      </dgm:spPr>
      <dgm:t>
        <a:bodyPr/>
        <a:lstStyle/>
        <a:p>
          <a:r>
            <a:rPr lang="tr-TR" dirty="0" err="1" smtClean="0"/>
            <a:t>Kriptoanaliz</a:t>
          </a:r>
          <a:endParaRPr lang="tr-TR" dirty="0"/>
        </a:p>
      </dgm:t>
    </dgm:pt>
    <dgm:pt modelId="{C8DC9296-B6D1-461E-B5CB-91F50DC8EE36}" type="parTrans" cxnId="{78021B2E-29B5-42D6-AA3C-A9E137AAFAFA}">
      <dgm:prSet/>
      <dgm:spPr>
        <a:solidFill>
          <a:schemeClr val="bg1"/>
        </a:solidFill>
        <a:ln w="25400"/>
      </dgm:spPr>
      <dgm:t>
        <a:bodyPr/>
        <a:lstStyle/>
        <a:p>
          <a:endParaRPr lang="tr-TR"/>
        </a:p>
      </dgm:t>
    </dgm:pt>
    <dgm:pt modelId="{E653FF6D-8415-47BD-9D1D-956B3A8DD142}" type="sibTrans" cxnId="{78021B2E-29B5-42D6-AA3C-A9E137AAFAFA}">
      <dgm:prSet/>
      <dgm:spPr/>
      <dgm:t>
        <a:bodyPr/>
        <a:lstStyle/>
        <a:p>
          <a:endParaRPr lang="tr-TR"/>
        </a:p>
      </dgm:t>
    </dgm:pt>
    <dgm:pt modelId="{B02C3358-6309-422E-B71E-6DBCE6C9A04C}" type="pres">
      <dgm:prSet presAssocID="{2F7302DE-D8DD-447A-A737-DC35E5AC9993}" presName="Name0" presStyleCnt="0">
        <dgm:presLayoutVars>
          <dgm:chPref val="1"/>
          <dgm:dir/>
          <dgm:animOne val="branch"/>
          <dgm:animLvl val="lvl"/>
          <dgm:resizeHandles val="exact"/>
        </dgm:presLayoutVars>
      </dgm:prSet>
      <dgm:spPr/>
      <dgm:t>
        <a:bodyPr/>
        <a:lstStyle/>
        <a:p>
          <a:endParaRPr lang="tr-TR"/>
        </a:p>
      </dgm:t>
    </dgm:pt>
    <dgm:pt modelId="{C5E56F33-577A-4812-AE07-D29A80685C07}" type="pres">
      <dgm:prSet presAssocID="{E9BCF7CA-52BA-4192-AC39-1FAF2E9ABA83}" presName="root1" presStyleCnt="0"/>
      <dgm:spPr/>
    </dgm:pt>
    <dgm:pt modelId="{F17DAA59-FCC4-46BB-AEDE-04F8742DEFA9}" type="pres">
      <dgm:prSet presAssocID="{E9BCF7CA-52BA-4192-AC39-1FAF2E9ABA83}" presName="LevelOneTextNode" presStyleLbl="node0" presStyleIdx="0" presStyleCnt="1" custScaleY="95240" custLinFactNeighborY="428">
        <dgm:presLayoutVars>
          <dgm:chPref val="3"/>
        </dgm:presLayoutVars>
      </dgm:prSet>
      <dgm:spPr>
        <a:prstGeom prst="roundRect">
          <a:avLst/>
        </a:prstGeom>
      </dgm:spPr>
      <dgm:t>
        <a:bodyPr/>
        <a:lstStyle/>
        <a:p>
          <a:endParaRPr lang="tr-TR"/>
        </a:p>
      </dgm:t>
    </dgm:pt>
    <dgm:pt modelId="{365D4F8F-97BC-4107-B021-0BCB85EB8E7F}" type="pres">
      <dgm:prSet presAssocID="{E9BCF7CA-52BA-4192-AC39-1FAF2E9ABA83}" presName="level2hierChild" presStyleCnt="0"/>
      <dgm:spPr/>
    </dgm:pt>
    <dgm:pt modelId="{220968E9-D980-4CDD-93DB-96F54A0DB1FE}" type="pres">
      <dgm:prSet presAssocID="{5E99A8B9-8594-469A-972A-ACC60CC8EA20}" presName="conn2-1" presStyleLbl="parChTrans1D2" presStyleIdx="0" presStyleCnt="2"/>
      <dgm:spPr/>
      <dgm:t>
        <a:bodyPr/>
        <a:lstStyle/>
        <a:p>
          <a:endParaRPr lang="tr-TR"/>
        </a:p>
      </dgm:t>
    </dgm:pt>
    <dgm:pt modelId="{1C4FE9F3-01ED-4513-A515-CD2BA55AA932}" type="pres">
      <dgm:prSet presAssocID="{5E99A8B9-8594-469A-972A-ACC60CC8EA20}" presName="connTx" presStyleLbl="parChTrans1D2" presStyleIdx="0" presStyleCnt="2"/>
      <dgm:spPr/>
      <dgm:t>
        <a:bodyPr/>
        <a:lstStyle/>
        <a:p>
          <a:endParaRPr lang="tr-TR"/>
        </a:p>
      </dgm:t>
    </dgm:pt>
    <dgm:pt modelId="{3308171F-0487-429D-A176-0E8DB4F82AD3}" type="pres">
      <dgm:prSet presAssocID="{B281C9F8-B422-4D57-A29C-C0AE7B248D21}" presName="root2" presStyleCnt="0"/>
      <dgm:spPr/>
    </dgm:pt>
    <dgm:pt modelId="{0B0FB4CE-653A-446A-8023-4321DD1A4B11}" type="pres">
      <dgm:prSet presAssocID="{B281C9F8-B422-4D57-A29C-C0AE7B248D21}" presName="LevelTwoTextNode" presStyleLbl="node2" presStyleIdx="0" presStyleCnt="2" custScaleX="125787" custLinFactNeighborY="-28788">
        <dgm:presLayoutVars>
          <dgm:chPref val="3"/>
        </dgm:presLayoutVars>
      </dgm:prSet>
      <dgm:spPr>
        <a:prstGeom prst="roundRect">
          <a:avLst/>
        </a:prstGeom>
      </dgm:spPr>
      <dgm:t>
        <a:bodyPr/>
        <a:lstStyle/>
        <a:p>
          <a:endParaRPr lang="tr-TR"/>
        </a:p>
      </dgm:t>
    </dgm:pt>
    <dgm:pt modelId="{44FD95D1-E528-46B6-A2A7-AA82A323C1B5}" type="pres">
      <dgm:prSet presAssocID="{B281C9F8-B422-4D57-A29C-C0AE7B248D21}" presName="level3hierChild" presStyleCnt="0"/>
      <dgm:spPr/>
    </dgm:pt>
    <dgm:pt modelId="{E34B6362-B25C-4082-B8EC-1D9A0829E894}" type="pres">
      <dgm:prSet presAssocID="{C8DC9296-B6D1-461E-B5CB-91F50DC8EE36}" presName="conn2-1" presStyleLbl="parChTrans1D2" presStyleIdx="1" presStyleCnt="2"/>
      <dgm:spPr/>
      <dgm:t>
        <a:bodyPr/>
        <a:lstStyle/>
        <a:p>
          <a:endParaRPr lang="tr-TR"/>
        </a:p>
      </dgm:t>
    </dgm:pt>
    <dgm:pt modelId="{B3E279D9-AB35-4012-AE9F-EDED6D51F767}" type="pres">
      <dgm:prSet presAssocID="{C8DC9296-B6D1-461E-B5CB-91F50DC8EE36}" presName="connTx" presStyleLbl="parChTrans1D2" presStyleIdx="1" presStyleCnt="2"/>
      <dgm:spPr/>
      <dgm:t>
        <a:bodyPr/>
        <a:lstStyle/>
        <a:p>
          <a:endParaRPr lang="tr-TR"/>
        </a:p>
      </dgm:t>
    </dgm:pt>
    <dgm:pt modelId="{D7599398-6B01-4EFB-A81A-570F180B7897}" type="pres">
      <dgm:prSet presAssocID="{7E2B4072-002C-4755-9100-30C06EACA392}" presName="root2" presStyleCnt="0"/>
      <dgm:spPr/>
    </dgm:pt>
    <dgm:pt modelId="{5880E4F5-60EE-4A31-8CFD-369FFE289529}" type="pres">
      <dgm:prSet presAssocID="{7E2B4072-002C-4755-9100-30C06EACA392}" presName="LevelTwoTextNode" presStyleLbl="node2" presStyleIdx="1" presStyleCnt="2" custScaleX="125787" custLinFactNeighborY="19279">
        <dgm:presLayoutVars>
          <dgm:chPref val="3"/>
        </dgm:presLayoutVars>
      </dgm:prSet>
      <dgm:spPr>
        <a:prstGeom prst="roundRect">
          <a:avLst/>
        </a:prstGeom>
      </dgm:spPr>
      <dgm:t>
        <a:bodyPr/>
        <a:lstStyle/>
        <a:p>
          <a:endParaRPr lang="tr-TR"/>
        </a:p>
      </dgm:t>
    </dgm:pt>
    <dgm:pt modelId="{A29320F9-56A0-49D9-AD57-8D9CAF8636AC}" type="pres">
      <dgm:prSet presAssocID="{7E2B4072-002C-4755-9100-30C06EACA392}" presName="level3hierChild" presStyleCnt="0"/>
      <dgm:spPr/>
    </dgm:pt>
  </dgm:ptLst>
  <dgm:cxnLst>
    <dgm:cxn modelId="{507950BC-0FE7-440F-BE24-FAEF868788FA}" type="presOf" srcId="{5E99A8B9-8594-469A-972A-ACC60CC8EA20}" destId="{220968E9-D980-4CDD-93DB-96F54A0DB1FE}" srcOrd="0" destOrd="0" presId="urn:microsoft.com/office/officeart/2008/layout/HorizontalMultiLevelHierarchy"/>
    <dgm:cxn modelId="{8392B3B3-38E8-4AF0-91BE-372D72176735}" type="presOf" srcId="{7E2B4072-002C-4755-9100-30C06EACA392}" destId="{5880E4F5-60EE-4A31-8CFD-369FFE289529}" srcOrd="0" destOrd="0" presId="urn:microsoft.com/office/officeart/2008/layout/HorizontalMultiLevelHierarchy"/>
    <dgm:cxn modelId="{6F8A7512-629F-4050-832C-B49548D52690}" type="presOf" srcId="{C8DC9296-B6D1-461E-B5CB-91F50DC8EE36}" destId="{B3E279D9-AB35-4012-AE9F-EDED6D51F767}" srcOrd="1" destOrd="0" presId="urn:microsoft.com/office/officeart/2008/layout/HorizontalMultiLevelHierarchy"/>
    <dgm:cxn modelId="{5E5BFC54-A70B-4F1F-BA4C-99F36B311AF2}" type="presOf" srcId="{5E99A8B9-8594-469A-972A-ACC60CC8EA20}" destId="{1C4FE9F3-01ED-4513-A515-CD2BA55AA932}" srcOrd="1" destOrd="0" presId="urn:microsoft.com/office/officeart/2008/layout/HorizontalMultiLevelHierarchy"/>
    <dgm:cxn modelId="{5DC36D3F-162E-42BD-8405-4416F4199133}" type="presOf" srcId="{E9BCF7CA-52BA-4192-AC39-1FAF2E9ABA83}" destId="{F17DAA59-FCC4-46BB-AEDE-04F8742DEFA9}" srcOrd="0" destOrd="0" presId="urn:microsoft.com/office/officeart/2008/layout/HorizontalMultiLevelHierarchy"/>
    <dgm:cxn modelId="{70633B9C-630B-4F3F-9A2A-98EA5AAE2CAB}" type="presOf" srcId="{C8DC9296-B6D1-461E-B5CB-91F50DC8EE36}" destId="{E34B6362-B25C-4082-B8EC-1D9A0829E894}" srcOrd="0" destOrd="0" presId="urn:microsoft.com/office/officeart/2008/layout/HorizontalMultiLevelHierarchy"/>
    <dgm:cxn modelId="{389C9057-9716-42B0-A8AD-CCF23D3797CB}" type="presOf" srcId="{2F7302DE-D8DD-447A-A737-DC35E5AC9993}" destId="{B02C3358-6309-422E-B71E-6DBCE6C9A04C}" srcOrd="0" destOrd="0" presId="urn:microsoft.com/office/officeart/2008/layout/HorizontalMultiLevelHierarchy"/>
    <dgm:cxn modelId="{B8E81B3A-4966-4BC9-84E7-20BD795C286F}" srcId="{2F7302DE-D8DD-447A-A737-DC35E5AC9993}" destId="{E9BCF7CA-52BA-4192-AC39-1FAF2E9ABA83}" srcOrd="0" destOrd="0" parTransId="{E7A80024-7DB1-4A88-B033-378C75089050}" sibTransId="{7EE81658-5847-4A0A-BE6C-964680AA5B13}"/>
    <dgm:cxn modelId="{55E06DEF-4043-4B1A-938B-EC6C7D5A1B3A}" srcId="{E9BCF7CA-52BA-4192-AC39-1FAF2E9ABA83}" destId="{B281C9F8-B422-4D57-A29C-C0AE7B248D21}" srcOrd="0" destOrd="0" parTransId="{5E99A8B9-8594-469A-972A-ACC60CC8EA20}" sibTransId="{307D2AA8-6BB0-4B68-9A48-09DCA6117B8C}"/>
    <dgm:cxn modelId="{2FAA8D83-1DDD-4B3C-9510-9BB1578AA605}" type="presOf" srcId="{B281C9F8-B422-4D57-A29C-C0AE7B248D21}" destId="{0B0FB4CE-653A-446A-8023-4321DD1A4B11}" srcOrd="0" destOrd="0" presId="urn:microsoft.com/office/officeart/2008/layout/HorizontalMultiLevelHierarchy"/>
    <dgm:cxn modelId="{78021B2E-29B5-42D6-AA3C-A9E137AAFAFA}" srcId="{E9BCF7CA-52BA-4192-AC39-1FAF2E9ABA83}" destId="{7E2B4072-002C-4755-9100-30C06EACA392}" srcOrd="1" destOrd="0" parTransId="{C8DC9296-B6D1-461E-B5CB-91F50DC8EE36}" sibTransId="{E653FF6D-8415-47BD-9D1D-956B3A8DD142}"/>
    <dgm:cxn modelId="{ABEA1DAA-DD85-4D17-B881-D1660BA6FA02}" type="presParOf" srcId="{B02C3358-6309-422E-B71E-6DBCE6C9A04C}" destId="{C5E56F33-577A-4812-AE07-D29A80685C07}" srcOrd="0" destOrd="0" presId="urn:microsoft.com/office/officeart/2008/layout/HorizontalMultiLevelHierarchy"/>
    <dgm:cxn modelId="{6B83C987-A742-4E1C-9695-184231102209}" type="presParOf" srcId="{C5E56F33-577A-4812-AE07-D29A80685C07}" destId="{F17DAA59-FCC4-46BB-AEDE-04F8742DEFA9}" srcOrd="0" destOrd="0" presId="urn:microsoft.com/office/officeart/2008/layout/HorizontalMultiLevelHierarchy"/>
    <dgm:cxn modelId="{C4B310F3-544C-4BF8-BA2B-84B7F2931C92}" type="presParOf" srcId="{C5E56F33-577A-4812-AE07-D29A80685C07}" destId="{365D4F8F-97BC-4107-B021-0BCB85EB8E7F}" srcOrd="1" destOrd="0" presId="urn:microsoft.com/office/officeart/2008/layout/HorizontalMultiLevelHierarchy"/>
    <dgm:cxn modelId="{CD1DA36B-BF3F-4407-A509-083644441C74}" type="presParOf" srcId="{365D4F8F-97BC-4107-B021-0BCB85EB8E7F}" destId="{220968E9-D980-4CDD-93DB-96F54A0DB1FE}" srcOrd="0" destOrd="0" presId="urn:microsoft.com/office/officeart/2008/layout/HorizontalMultiLevelHierarchy"/>
    <dgm:cxn modelId="{5952476E-D42E-430E-B890-8F2BFADD55C0}" type="presParOf" srcId="{220968E9-D980-4CDD-93DB-96F54A0DB1FE}" destId="{1C4FE9F3-01ED-4513-A515-CD2BA55AA932}" srcOrd="0" destOrd="0" presId="urn:microsoft.com/office/officeart/2008/layout/HorizontalMultiLevelHierarchy"/>
    <dgm:cxn modelId="{C02809BC-05B2-4909-A912-A6D7897F47B0}" type="presParOf" srcId="{365D4F8F-97BC-4107-B021-0BCB85EB8E7F}" destId="{3308171F-0487-429D-A176-0E8DB4F82AD3}" srcOrd="1" destOrd="0" presId="urn:microsoft.com/office/officeart/2008/layout/HorizontalMultiLevelHierarchy"/>
    <dgm:cxn modelId="{87F3A521-E89D-4C4E-9455-4E12280FFD9E}" type="presParOf" srcId="{3308171F-0487-429D-A176-0E8DB4F82AD3}" destId="{0B0FB4CE-653A-446A-8023-4321DD1A4B11}" srcOrd="0" destOrd="0" presId="urn:microsoft.com/office/officeart/2008/layout/HorizontalMultiLevelHierarchy"/>
    <dgm:cxn modelId="{1AC64DF3-DA91-45D1-8053-9F91B70995D1}" type="presParOf" srcId="{3308171F-0487-429D-A176-0E8DB4F82AD3}" destId="{44FD95D1-E528-46B6-A2A7-AA82A323C1B5}" srcOrd="1" destOrd="0" presId="urn:microsoft.com/office/officeart/2008/layout/HorizontalMultiLevelHierarchy"/>
    <dgm:cxn modelId="{00A98B01-F400-4436-9420-AD3643A44DE4}" type="presParOf" srcId="{365D4F8F-97BC-4107-B021-0BCB85EB8E7F}" destId="{E34B6362-B25C-4082-B8EC-1D9A0829E894}" srcOrd="2" destOrd="0" presId="urn:microsoft.com/office/officeart/2008/layout/HorizontalMultiLevelHierarchy"/>
    <dgm:cxn modelId="{B46E9CE9-B4DB-4995-A220-037728EA8B8D}" type="presParOf" srcId="{E34B6362-B25C-4082-B8EC-1D9A0829E894}" destId="{B3E279D9-AB35-4012-AE9F-EDED6D51F767}" srcOrd="0" destOrd="0" presId="urn:microsoft.com/office/officeart/2008/layout/HorizontalMultiLevelHierarchy"/>
    <dgm:cxn modelId="{EBA8579E-B4D9-4260-B63B-80687C3E2A61}" type="presParOf" srcId="{365D4F8F-97BC-4107-B021-0BCB85EB8E7F}" destId="{D7599398-6B01-4EFB-A81A-570F180B7897}" srcOrd="3" destOrd="0" presId="urn:microsoft.com/office/officeart/2008/layout/HorizontalMultiLevelHierarchy"/>
    <dgm:cxn modelId="{F79A4783-A639-4C2E-BF25-C002E24C7DCB}" type="presParOf" srcId="{D7599398-6B01-4EFB-A81A-570F180B7897}" destId="{5880E4F5-60EE-4A31-8CFD-369FFE289529}" srcOrd="0" destOrd="0" presId="urn:microsoft.com/office/officeart/2008/layout/HorizontalMultiLevelHierarchy"/>
    <dgm:cxn modelId="{6D54A39E-4C1C-42A5-9118-5D85EEB754BC}" type="presParOf" srcId="{D7599398-6B01-4EFB-A81A-570F180B7897}" destId="{A29320F9-56A0-49D9-AD57-8D9CAF8636AC}" srcOrd="1" destOrd="0" presId="urn:microsoft.com/office/officeart/2008/layout/HorizontalMultiLevelHierarchy"/>
  </dgm:cxnLst>
  <dgm:bg>
    <a:solidFill>
      <a:schemeClr val="bg1">
        <a:lumMod val="95000"/>
      </a:schemeClr>
    </a:solidFill>
    <a:effectLst>
      <a:outerShdw blurRad="76200" dir="13500000" sy="23000" kx="1200000" algn="br" rotWithShape="0">
        <a:prstClr val="black">
          <a:alpha val="2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F7302DE-D8DD-447A-A737-DC35E5AC9993}"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tr-TR"/>
        </a:p>
      </dgm:t>
    </dgm:pt>
    <dgm:pt modelId="{E9BCF7CA-52BA-4192-AC39-1FAF2E9ABA83}">
      <dgm:prSet phldrT="[Metin]"/>
      <dgm:spPr>
        <a:effectLst>
          <a:outerShdw blurRad="50800" dist="127000" dir="18900000" algn="bl" rotWithShape="0">
            <a:prstClr val="black">
              <a:alpha val="40000"/>
            </a:prstClr>
          </a:outerShdw>
        </a:effectLst>
      </dgm:spPr>
      <dgm:t>
        <a:bodyPr/>
        <a:lstStyle/>
        <a:p>
          <a:r>
            <a:rPr lang="tr-TR" dirty="0" smtClean="0"/>
            <a:t>Kriptoloji</a:t>
          </a:r>
          <a:endParaRPr lang="tr-TR" dirty="0"/>
        </a:p>
      </dgm:t>
    </dgm:pt>
    <dgm:pt modelId="{E7A80024-7DB1-4A88-B033-378C75089050}" type="parTrans" cxnId="{B8E81B3A-4966-4BC9-84E7-20BD795C286F}">
      <dgm:prSet/>
      <dgm:spPr/>
      <dgm:t>
        <a:bodyPr/>
        <a:lstStyle/>
        <a:p>
          <a:endParaRPr lang="tr-TR"/>
        </a:p>
      </dgm:t>
    </dgm:pt>
    <dgm:pt modelId="{7EE81658-5847-4A0A-BE6C-964680AA5B13}" type="sibTrans" cxnId="{B8E81B3A-4966-4BC9-84E7-20BD795C286F}">
      <dgm:prSet/>
      <dgm:spPr/>
      <dgm:t>
        <a:bodyPr/>
        <a:lstStyle/>
        <a:p>
          <a:endParaRPr lang="tr-TR"/>
        </a:p>
      </dgm:t>
    </dgm:pt>
    <dgm:pt modelId="{B281C9F8-B422-4D57-A29C-C0AE7B248D21}">
      <dgm:prSet phldrT="[Metin]"/>
      <dgm:spPr>
        <a:effectLst>
          <a:outerShdw blurRad="50800" dist="152400" dir="8100000" algn="tr" rotWithShape="0">
            <a:prstClr val="black">
              <a:alpha val="40000"/>
            </a:prstClr>
          </a:outerShdw>
        </a:effectLst>
      </dgm:spPr>
      <dgm:t>
        <a:bodyPr/>
        <a:lstStyle/>
        <a:p>
          <a:r>
            <a:rPr lang="tr-TR" dirty="0" err="1" smtClean="0"/>
            <a:t>Kriptografi</a:t>
          </a:r>
          <a:endParaRPr lang="tr-TR" dirty="0"/>
        </a:p>
      </dgm:t>
    </dgm:pt>
    <dgm:pt modelId="{5E99A8B9-8594-469A-972A-ACC60CC8EA20}" type="parTrans" cxnId="{55E06DEF-4043-4B1A-938B-EC6C7D5A1B3A}">
      <dgm:prSet/>
      <dgm:spPr>
        <a:solidFill>
          <a:schemeClr val="bg1"/>
        </a:solidFill>
        <a:ln w="25400"/>
      </dgm:spPr>
      <dgm:t>
        <a:bodyPr/>
        <a:lstStyle/>
        <a:p>
          <a:endParaRPr lang="tr-TR"/>
        </a:p>
      </dgm:t>
    </dgm:pt>
    <dgm:pt modelId="{307D2AA8-6BB0-4B68-9A48-09DCA6117B8C}" type="sibTrans" cxnId="{55E06DEF-4043-4B1A-938B-EC6C7D5A1B3A}">
      <dgm:prSet/>
      <dgm:spPr/>
      <dgm:t>
        <a:bodyPr/>
        <a:lstStyle/>
        <a:p>
          <a:endParaRPr lang="tr-TR"/>
        </a:p>
      </dgm:t>
    </dgm:pt>
    <dgm:pt modelId="{7E2B4072-002C-4755-9100-30C06EACA392}">
      <dgm:prSet phldrT="[Metin]"/>
      <dgm:spPr>
        <a:effectLst>
          <a:outerShdw blurRad="50800" dist="152400" dir="8100000" algn="tr" rotWithShape="0">
            <a:prstClr val="black">
              <a:alpha val="40000"/>
            </a:prstClr>
          </a:outerShdw>
        </a:effectLst>
      </dgm:spPr>
      <dgm:t>
        <a:bodyPr/>
        <a:lstStyle/>
        <a:p>
          <a:r>
            <a:rPr lang="tr-TR" dirty="0" err="1" smtClean="0"/>
            <a:t>Kriptoanaliz</a:t>
          </a:r>
          <a:endParaRPr lang="tr-TR" dirty="0"/>
        </a:p>
      </dgm:t>
    </dgm:pt>
    <dgm:pt modelId="{C8DC9296-B6D1-461E-B5CB-91F50DC8EE36}" type="parTrans" cxnId="{78021B2E-29B5-42D6-AA3C-A9E137AAFAFA}">
      <dgm:prSet/>
      <dgm:spPr>
        <a:solidFill>
          <a:schemeClr val="bg1"/>
        </a:solidFill>
        <a:ln w="25400"/>
      </dgm:spPr>
      <dgm:t>
        <a:bodyPr/>
        <a:lstStyle/>
        <a:p>
          <a:endParaRPr lang="tr-TR"/>
        </a:p>
      </dgm:t>
    </dgm:pt>
    <dgm:pt modelId="{E653FF6D-8415-47BD-9D1D-956B3A8DD142}" type="sibTrans" cxnId="{78021B2E-29B5-42D6-AA3C-A9E137AAFAFA}">
      <dgm:prSet/>
      <dgm:spPr/>
      <dgm:t>
        <a:bodyPr/>
        <a:lstStyle/>
        <a:p>
          <a:endParaRPr lang="tr-TR"/>
        </a:p>
      </dgm:t>
    </dgm:pt>
    <dgm:pt modelId="{2CD01A82-7287-48A1-9BA9-C07F4B4051A0}">
      <dgm:prSet phldrT="[Metin]"/>
      <dgm:spPr>
        <a:effectLst>
          <a:outerShdw blurRad="50800" dist="152400" dir="8100000" algn="tr" rotWithShape="0">
            <a:prstClr val="black">
              <a:alpha val="40000"/>
            </a:prstClr>
          </a:outerShdw>
        </a:effectLst>
      </dgm:spPr>
      <dgm:t>
        <a:bodyPr/>
        <a:lstStyle/>
        <a:p>
          <a:r>
            <a:rPr lang="tr-TR" dirty="0" smtClean="0"/>
            <a:t>Simetrik Şifreleme</a:t>
          </a:r>
          <a:endParaRPr lang="tr-TR" dirty="0"/>
        </a:p>
      </dgm:t>
    </dgm:pt>
    <dgm:pt modelId="{15E2FCF6-53BA-4137-B84A-71CA4D9CD56F}" type="parTrans" cxnId="{F5582BED-A345-44EF-9BC0-40E2F18DA992}">
      <dgm:prSet/>
      <dgm:spPr>
        <a:ln w="25400"/>
      </dgm:spPr>
      <dgm:t>
        <a:bodyPr/>
        <a:lstStyle/>
        <a:p>
          <a:endParaRPr lang="tr-TR"/>
        </a:p>
      </dgm:t>
    </dgm:pt>
    <dgm:pt modelId="{7C9C7C21-01AB-450E-8D7E-838C26B7695E}" type="sibTrans" cxnId="{F5582BED-A345-44EF-9BC0-40E2F18DA992}">
      <dgm:prSet/>
      <dgm:spPr/>
      <dgm:t>
        <a:bodyPr/>
        <a:lstStyle/>
        <a:p>
          <a:endParaRPr lang="tr-TR"/>
        </a:p>
      </dgm:t>
    </dgm:pt>
    <dgm:pt modelId="{C1612273-6466-4CE0-87FB-E9AC967F9A99}">
      <dgm:prSet phldrT="[Metin]"/>
      <dgm:spPr>
        <a:effectLst>
          <a:outerShdw blurRad="50800" dist="152400" dir="8100000" algn="tr" rotWithShape="0">
            <a:prstClr val="black">
              <a:alpha val="40000"/>
            </a:prstClr>
          </a:outerShdw>
        </a:effectLst>
      </dgm:spPr>
      <dgm:t>
        <a:bodyPr/>
        <a:lstStyle/>
        <a:p>
          <a:r>
            <a:rPr lang="tr-TR" dirty="0" smtClean="0"/>
            <a:t>Asimetrik Şifreleme</a:t>
          </a:r>
          <a:endParaRPr lang="tr-TR" dirty="0"/>
        </a:p>
      </dgm:t>
    </dgm:pt>
    <dgm:pt modelId="{5DF24D41-F6FC-4FCD-9E5A-5B1141ADB7B6}" type="parTrans" cxnId="{DECF4343-D4E2-4A3A-A56B-B9C090515128}">
      <dgm:prSet/>
      <dgm:spPr>
        <a:ln w="25400"/>
      </dgm:spPr>
      <dgm:t>
        <a:bodyPr/>
        <a:lstStyle/>
        <a:p>
          <a:endParaRPr lang="tr-TR"/>
        </a:p>
      </dgm:t>
    </dgm:pt>
    <dgm:pt modelId="{05AB077E-2379-48BA-ABCB-5A3E9DF694CA}" type="sibTrans" cxnId="{DECF4343-D4E2-4A3A-A56B-B9C090515128}">
      <dgm:prSet/>
      <dgm:spPr/>
      <dgm:t>
        <a:bodyPr/>
        <a:lstStyle/>
        <a:p>
          <a:endParaRPr lang="tr-TR"/>
        </a:p>
      </dgm:t>
    </dgm:pt>
    <dgm:pt modelId="{B02C3358-6309-422E-B71E-6DBCE6C9A04C}" type="pres">
      <dgm:prSet presAssocID="{2F7302DE-D8DD-447A-A737-DC35E5AC9993}" presName="Name0" presStyleCnt="0">
        <dgm:presLayoutVars>
          <dgm:chPref val="1"/>
          <dgm:dir/>
          <dgm:animOne val="branch"/>
          <dgm:animLvl val="lvl"/>
          <dgm:resizeHandles val="exact"/>
        </dgm:presLayoutVars>
      </dgm:prSet>
      <dgm:spPr/>
      <dgm:t>
        <a:bodyPr/>
        <a:lstStyle/>
        <a:p>
          <a:endParaRPr lang="tr-TR"/>
        </a:p>
      </dgm:t>
    </dgm:pt>
    <dgm:pt modelId="{C5E56F33-577A-4812-AE07-D29A80685C07}" type="pres">
      <dgm:prSet presAssocID="{E9BCF7CA-52BA-4192-AC39-1FAF2E9ABA83}" presName="root1" presStyleCnt="0"/>
      <dgm:spPr/>
    </dgm:pt>
    <dgm:pt modelId="{F17DAA59-FCC4-46BB-AEDE-04F8742DEFA9}" type="pres">
      <dgm:prSet presAssocID="{E9BCF7CA-52BA-4192-AC39-1FAF2E9ABA83}" presName="LevelOneTextNode" presStyleLbl="node0" presStyleIdx="0" presStyleCnt="1" custScaleY="95240" custLinFactNeighborY="428">
        <dgm:presLayoutVars>
          <dgm:chPref val="3"/>
        </dgm:presLayoutVars>
      </dgm:prSet>
      <dgm:spPr>
        <a:prstGeom prst="roundRect">
          <a:avLst/>
        </a:prstGeom>
      </dgm:spPr>
      <dgm:t>
        <a:bodyPr/>
        <a:lstStyle/>
        <a:p>
          <a:endParaRPr lang="tr-TR"/>
        </a:p>
      </dgm:t>
    </dgm:pt>
    <dgm:pt modelId="{365D4F8F-97BC-4107-B021-0BCB85EB8E7F}" type="pres">
      <dgm:prSet presAssocID="{E9BCF7CA-52BA-4192-AC39-1FAF2E9ABA83}" presName="level2hierChild" presStyleCnt="0"/>
      <dgm:spPr/>
    </dgm:pt>
    <dgm:pt modelId="{220968E9-D980-4CDD-93DB-96F54A0DB1FE}" type="pres">
      <dgm:prSet presAssocID="{5E99A8B9-8594-469A-972A-ACC60CC8EA20}" presName="conn2-1" presStyleLbl="parChTrans1D2" presStyleIdx="0" presStyleCnt="2"/>
      <dgm:spPr/>
      <dgm:t>
        <a:bodyPr/>
        <a:lstStyle/>
        <a:p>
          <a:endParaRPr lang="tr-TR"/>
        </a:p>
      </dgm:t>
    </dgm:pt>
    <dgm:pt modelId="{1C4FE9F3-01ED-4513-A515-CD2BA55AA932}" type="pres">
      <dgm:prSet presAssocID="{5E99A8B9-8594-469A-972A-ACC60CC8EA20}" presName="connTx" presStyleLbl="parChTrans1D2" presStyleIdx="0" presStyleCnt="2"/>
      <dgm:spPr/>
      <dgm:t>
        <a:bodyPr/>
        <a:lstStyle/>
        <a:p>
          <a:endParaRPr lang="tr-TR"/>
        </a:p>
      </dgm:t>
    </dgm:pt>
    <dgm:pt modelId="{3308171F-0487-429D-A176-0E8DB4F82AD3}" type="pres">
      <dgm:prSet presAssocID="{B281C9F8-B422-4D57-A29C-C0AE7B248D21}" presName="root2" presStyleCnt="0"/>
      <dgm:spPr/>
    </dgm:pt>
    <dgm:pt modelId="{0B0FB4CE-653A-446A-8023-4321DD1A4B11}" type="pres">
      <dgm:prSet presAssocID="{B281C9F8-B422-4D57-A29C-C0AE7B248D21}" presName="LevelTwoTextNode" presStyleLbl="node2" presStyleIdx="0" presStyleCnt="2" custScaleX="108373" custLinFactNeighborY="-28788">
        <dgm:presLayoutVars>
          <dgm:chPref val="3"/>
        </dgm:presLayoutVars>
      </dgm:prSet>
      <dgm:spPr>
        <a:prstGeom prst="roundRect">
          <a:avLst/>
        </a:prstGeom>
      </dgm:spPr>
      <dgm:t>
        <a:bodyPr/>
        <a:lstStyle/>
        <a:p>
          <a:endParaRPr lang="tr-TR"/>
        </a:p>
      </dgm:t>
    </dgm:pt>
    <dgm:pt modelId="{44FD95D1-E528-46B6-A2A7-AA82A323C1B5}" type="pres">
      <dgm:prSet presAssocID="{B281C9F8-B422-4D57-A29C-C0AE7B248D21}" presName="level3hierChild" presStyleCnt="0"/>
      <dgm:spPr/>
    </dgm:pt>
    <dgm:pt modelId="{28AEA47A-8418-4E1C-8B3C-E3490C017E14}" type="pres">
      <dgm:prSet presAssocID="{15E2FCF6-53BA-4137-B84A-71CA4D9CD56F}" presName="conn2-1" presStyleLbl="parChTrans1D3" presStyleIdx="0" presStyleCnt="2"/>
      <dgm:spPr/>
      <dgm:t>
        <a:bodyPr/>
        <a:lstStyle/>
        <a:p>
          <a:endParaRPr lang="tr-TR"/>
        </a:p>
      </dgm:t>
    </dgm:pt>
    <dgm:pt modelId="{C1EDDF78-2348-42E1-91E6-1A4372B7B1E4}" type="pres">
      <dgm:prSet presAssocID="{15E2FCF6-53BA-4137-B84A-71CA4D9CD56F}" presName="connTx" presStyleLbl="parChTrans1D3" presStyleIdx="0" presStyleCnt="2"/>
      <dgm:spPr/>
      <dgm:t>
        <a:bodyPr/>
        <a:lstStyle/>
        <a:p>
          <a:endParaRPr lang="tr-TR"/>
        </a:p>
      </dgm:t>
    </dgm:pt>
    <dgm:pt modelId="{83EEAD34-73BD-435A-BD07-1B37DFF1DA84}" type="pres">
      <dgm:prSet presAssocID="{2CD01A82-7287-48A1-9BA9-C07F4B4051A0}" presName="root2" presStyleCnt="0"/>
      <dgm:spPr/>
    </dgm:pt>
    <dgm:pt modelId="{422780D4-5C74-483B-9555-3EBD316814FB}" type="pres">
      <dgm:prSet presAssocID="{2CD01A82-7287-48A1-9BA9-C07F4B4051A0}" presName="LevelTwoTextNode" presStyleLbl="node3" presStyleIdx="0" presStyleCnt="2" custScaleX="130881">
        <dgm:presLayoutVars>
          <dgm:chPref val="3"/>
        </dgm:presLayoutVars>
      </dgm:prSet>
      <dgm:spPr>
        <a:prstGeom prst="roundRect">
          <a:avLst/>
        </a:prstGeom>
      </dgm:spPr>
      <dgm:t>
        <a:bodyPr/>
        <a:lstStyle/>
        <a:p>
          <a:endParaRPr lang="tr-TR"/>
        </a:p>
      </dgm:t>
    </dgm:pt>
    <dgm:pt modelId="{B83134A3-C79E-4B09-BD13-73D4DC3B4FB5}" type="pres">
      <dgm:prSet presAssocID="{2CD01A82-7287-48A1-9BA9-C07F4B4051A0}" presName="level3hierChild" presStyleCnt="0"/>
      <dgm:spPr/>
    </dgm:pt>
    <dgm:pt modelId="{82130720-4A36-473D-B018-5EA3CCE8B929}" type="pres">
      <dgm:prSet presAssocID="{5DF24D41-F6FC-4FCD-9E5A-5B1141ADB7B6}" presName="conn2-1" presStyleLbl="parChTrans1D3" presStyleIdx="1" presStyleCnt="2"/>
      <dgm:spPr/>
      <dgm:t>
        <a:bodyPr/>
        <a:lstStyle/>
        <a:p>
          <a:endParaRPr lang="tr-TR"/>
        </a:p>
      </dgm:t>
    </dgm:pt>
    <dgm:pt modelId="{0A560985-C054-407C-8F87-4034EFEF8AA9}" type="pres">
      <dgm:prSet presAssocID="{5DF24D41-F6FC-4FCD-9E5A-5B1141ADB7B6}" presName="connTx" presStyleLbl="parChTrans1D3" presStyleIdx="1" presStyleCnt="2"/>
      <dgm:spPr/>
      <dgm:t>
        <a:bodyPr/>
        <a:lstStyle/>
        <a:p>
          <a:endParaRPr lang="tr-TR"/>
        </a:p>
      </dgm:t>
    </dgm:pt>
    <dgm:pt modelId="{C810A14F-5D9B-489D-9EC9-F0BC7D1CF6AB}" type="pres">
      <dgm:prSet presAssocID="{C1612273-6466-4CE0-87FB-E9AC967F9A99}" presName="root2" presStyleCnt="0"/>
      <dgm:spPr/>
    </dgm:pt>
    <dgm:pt modelId="{EAFBA309-F17C-4E33-89F6-CE454B1E7ABB}" type="pres">
      <dgm:prSet presAssocID="{C1612273-6466-4CE0-87FB-E9AC967F9A99}" presName="LevelTwoTextNode" presStyleLbl="node3" presStyleIdx="1" presStyleCnt="2" custScaleX="130881">
        <dgm:presLayoutVars>
          <dgm:chPref val="3"/>
        </dgm:presLayoutVars>
      </dgm:prSet>
      <dgm:spPr>
        <a:prstGeom prst="roundRect">
          <a:avLst/>
        </a:prstGeom>
      </dgm:spPr>
      <dgm:t>
        <a:bodyPr/>
        <a:lstStyle/>
        <a:p>
          <a:endParaRPr lang="tr-TR"/>
        </a:p>
      </dgm:t>
    </dgm:pt>
    <dgm:pt modelId="{83BBEA7B-7354-4163-9E13-F999E0684612}" type="pres">
      <dgm:prSet presAssocID="{C1612273-6466-4CE0-87FB-E9AC967F9A99}" presName="level3hierChild" presStyleCnt="0"/>
      <dgm:spPr/>
    </dgm:pt>
    <dgm:pt modelId="{E34B6362-B25C-4082-B8EC-1D9A0829E894}" type="pres">
      <dgm:prSet presAssocID="{C8DC9296-B6D1-461E-B5CB-91F50DC8EE36}" presName="conn2-1" presStyleLbl="parChTrans1D2" presStyleIdx="1" presStyleCnt="2"/>
      <dgm:spPr/>
      <dgm:t>
        <a:bodyPr/>
        <a:lstStyle/>
        <a:p>
          <a:endParaRPr lang="tr-TR"/>
        </a:p>
      </dgm:t>
    </dgm:pt>
    <dgm:pt modelId="{B3E279D9-AB35-4012-AE9F-EDED6D51F767}" type="pres">
      <dgm:prSet presAssocID="{C8DC9296-B6D1-461E-B5CB-91F50DC8EE36}" presName="connTx" presStyleLbl="parChTrans1D2" presStyleIdx="1" presStyleCnt="2"/>
      <dgm:spPr/>
      <dgm:t>
        <a:bodyPr/>
        <a:lstStyle/>
        <a:p>
          <a:endParaRPr lang="tr-TR"/>
        </a:p>
      </dgm:t>
    </dgm:pt>
    <dgm:pt modelId="{D7599398-6B01-4EFB-A81A-570F180B7897}" type="pres">
      <dgm:prSet presAssocID="{7E2B4072-002C-4755-9100-30C06EACA392}" presName="root2" presStyleCnt="0"/>
      <dgm:spPr/>
    </dgm:pt>
    <dgm:pt modelId="{5880E4F5-60EE-4A31-8CFD-369FFE289529}" type="pres">
      <dgm:prSet presAssocID="{7E2B4072-002C-4755-9100-30C06EACA392}" presName="LevelTwoTextNode" presStyleLbl="node2" presStyleIdx="1" presStyleCnt="2" custScaleX="106918" custLinFactNeighborY="19279">
        <dgm:presLayoutVars>
          <dgm:chPref val="3"/>
        </dgm:presLayoutVars>
      </dgm:prSet>
      <dgm:spPr>
        <a:prstGeom prst="roundRect">
          <a:avLst/>
        </a:prstGeom>
      </dgm:spPr>
      <dgm:t>
        <a:bodyPr/>
        <a:lstStyle/>
        <a:p>
          <a:endParaRPr lang="tr-TR"/>
        </a:p>
      </dgm:t>
    </dgm:pt>
    <dgm:pt modelId="{A29320F9-56A0-49D9-AD57-8D9CAF8636AC}" type="pres">
      <dgm:prSet presAssocID="{7E2B4072-002C-4755-9100-30C06EACA392}" presName="level3hierChild" presStyleCnt="0"/>
      <dgm:spPr/>
    </dgm:pt>
  </dgm:ptLst>
  <dgm:cxnLst>
    <dgm:cxn modelId="{8477EE18-7B95-48D1-AD2D-1BD85AF71768}" type="presOf" srcId="{C1612273-6466-4CE0-87FB-E9AC967F9A99}" destId="{EAFBA309-F17C-4E33-89F6-CE454B1E7ABB}" srcOrd="0" destOrd="0" presId="urn:microsoft.com/office/officeart/2008/layout/HorizontalMultiLevelHierarchy"/>
    <dgm:cxn modelId="{507950BC-0FE7-440F-BE24-FAEF868788FA}" type="presOf" srcId="{5E99A8B9-8594-469A-972A-ACC60CC8EA20}" destId="{220968E9-D980-4CDD-93DB-96F54A0DB1FE}" srcOrd="0" destOrd="0" presId="urn:microsoft.com/office/officeart/2008/layout/HorizontalMultiLevelHierarchy"/>
    <dgm:cxn modelId="{8392B3B3-38E8-4AF0-91BE-372D72176735}" type="presOf" srcId="{7E2B4072-002C-4755-9100-30C06EACA392}" destId="{5880E4F5-60EE-4A31-8CFD-369FFE289529}" srcOrd="0" destOrd="0" presId="urn:microsoft.com/office/officeart/2008/layout/HorizontalMultiLevelHierarchy"/>
    <dgm:cxn modelId="{F5582BED-A345-44EF-9BC0-40E2F18DA992}" srcId="{B281C9F8-B422-4D57-A29C-C0AE7B248D21}" destId="{2CD01A82-7287-48A1-9BA9-C07F4B4051A0}" srcOrd="0" destOrd="0" parTransId="{15E2FCF6-53BA-4137-B84A-71CA4D9CD56F}" sibTransId="{7C9C7C21-01AB-450E-8D7E-838C26B7695E}"/>
    <dgm:cxn modelId="{6F8A7512-629F-4050-832C-B49548D52690}" type="presOf" srcId="{C8DC9296-B6D1-461E-B5CB-91F50DC8EE36}" destId="{B3E279D9-AB35-4012-AE9F-EDED6D51F767}" srcOrd="1" destOrd="0" presId="urn:microsoft.com/office/officeart/2008/layout/HorizontalMultiLevelHierarchy"/>
    <dgm:cxn modelId="{5E5BFC54-A70B-4F1F-BA4C-99F36B311AF2}" type="presOf" srcId="{5E99A8B9-8594-469A-972A-ACC60CC8EA20}" destId="{1C4FE9F3-01ED-4513-A515-CD2BA55AA932}" srcOrd="1" destOrd="0" presId="urn:microsoft.com/office/officeart/2008/layout/HorizontalMultiLevelHierarchy"/>
    <dgm:cxn modelId="{5DC36D3F-162E-42BD-8405-4416F4199133}" type="presOf" srcId="{E9BCF7CA-52BA-4192-AC39-1FAF2E9ABA83}" destId="{F17DAA59-FCC4-46BB-AEDE-04F8742DEFA9}" srcOrd="0" destOrd="0" presId="urn:microsoft.com/office/officeart/2008/layout/HorizontalMultiLevelHierarchy"/>
    <dgm:cxn modelId="{70633B9C-630B-4F3F-9A2A-98EA5AAE2CAB}" type="presOf" srcId="{C8DC9296-B6D1-461E-B5CB-91F50DC8EE36}" destId="{E34B6362-B25C-4082-B8EC-1D9A0829E894}" srcOrd="0" destOrd="0" presId="urn:microsoft.com/office/officeart/2008/layout/HorizontalMultiLevelHierarchy"/>
    <dgm:cxn modelId="{AD0D3016-B3AD-4A70-9DC5-F13837E20CCB}" type="presOf" srcId="{5DF24D41-F6FC-4FCD-9E5A-5B1141ADB7B6}" destId="{82130720-4A36-473D-B018-5EA3CCE8B929}" srcOrd="0" destOrd="0" presId="urn:microsoft.com/office/officeart/2008/layout/HorizontalMultiLevelHierarchy"/>
    <dgm:cxn modelId="{9DD94B4F-9B25-4033-9431-D93691B666C9}" type="presOf" srcId="{2CD01A82-7287-48A1-9BA9-C07F4B4051A0}" destId="{422780D4-5C74-483B-9555-3EBD316814FB}" srcOrd="0" destOrd="0" presId="urn:microsoft.com/office/officeart/2008/layout/HorizontalMultiLevelHierarchy"/>
    <dgm:cxn modelId="{DECF4343-D4E2-4A3A-A56B-B9C090515128}" srcId="{B281C9F8-B422-4D57-A29C-C0AE7B248D21}" destId="{C1612273-6466-4CE0-87FB-E9AC967F9A99}" srcOrd="1" destOrd="0" parTransId="{5DF24D41-F6FC-4FCD-9E5A-5B1141ADB7B6}" sibTransId="{05AB077E-2379-48BA-ABCB-5A3E9DF694CA}"/>
    <dgm:cxn modelId="{389C9057-9716-42B0-A8AD-CCF23D3797CB}" type="presOf" srcId="{2F7302DE-D8DD-447A-A737-DC35E5AC9993}" destId="{B02C3358-6309-422E-B71E-6DBCE6C9A04C}" srcOrd="0" destOrd="0" presId="urn:microsoft.com/office/officeart/2008/layout/HorizontalMultiLevelHierarchy"/>
    <dgm:cxn modelId="{B8E81B3A-4966-4BC9-84E7-20BD795C286F}" srcId="{2F7302DE-D8DD-447A-A737-DC35E5AC9993}" destId="{E9BCF7CA-52BA-4192-AC39-1FAF2E9ABA83}" srcOrd="0" destOrd="0" parTransId="{E7A80024-7DB1-4A88-B033-378C75089050}" sibTransId="{7EE81658-5847-4A0A-BE6C-964680AA5B13}"/>
    <dgm:cxn modelId="{55E06DEF-4043-4B1A-938B-EC6C7D5A1B3A}" srcId="{E9BCF7CA-52BA-4192-AC39-1FAF2E9ABA83}" destId="{B281C9F8-B422-4D57-A29C-C0AE7B248D21}" srcOrd="0" destOrd="0" parTransId="{5E99A8B9-8594-469A-972A-ACC60CC8EA20}" sibTransId="{307D2AA8-6BB0-4B68-9A48-09DCA6117B8C}"/>
    <dgm:cxn modelId="{09FA468A-A3A9-43BA-A5F1-46DE7181438E}" type="presOf" srcId="{15E2FCF6-53BA-4137-B84A-71CA4D9CD56F}" destId="{C1EDDF78-2348-42E1-91E6-1A4372B7B1E4}" srcOrd="1" destOrd="0" presId="urn:microsoft.com/office/officeart/2008/layout/HorizontalMultiLevelHierarchy"/>
    <dgm:cxn modelId="{2FAA8D83-1DDD-4B3C-9510-9BB1578AA605}" type="presOf" srcId="{B281C9F8-B422-4D57-A29C-C0AE7B248D21}" destId="{0B0FB4CE-653A-446A-8023-4321DD1A4B11}" srcOrd="0" destOrd="0" presId="urn:microsoft.com/office/officeart/2008/layout/HorizontalMultiLevelHierarchy"/>
    <dgm:cxn modelId="{78021B2E-29B5-42D6-AA3C-A9E137AAFAFA}" srcId="{E9BCF7CA-52BA-4192-AC39-1FAF2E9ABA83}" destId="{7E2B4072-002C-4755-9100-30C06EACA392}" srcOrd="1" destOrd="0" parTransId="{C8DC9296-B6D1-461E-B5CB-91F50DC8EE36}" sibTransId="{E653FF6D-8415-47BD-9D1D-956B3A8DD142}"/>
    <dgm:cxn modelId="{DCE860ED-C104-471A-928E-63A63F866543}" type="presOf" srcId="{15E2FCF6-53BA-4137-B84A-71CA4D9CD56F}" destId="{28AEA47A-8418-4E1C-8B3C-E3490C017E14}" srcOrd="0" destOrd="0" presId="urn:microsoft.com/office/officeart/2008/layout/HorizontalMultiLevelHierarchy"/>
    <dgm:cxn modelId="{305C96DA-BC3A-401A-8E5E-2E28399F8A68}" type="presOf" srcId="{5DF24D41-F6FC-4FCD-9E5A-5B1141ADB7B6}" destId="{0A560985-C054-407C-8F87-4034EFEF8AA9}" srcOrd="1" destOrd="0" presId="urn:microsoft.com/office/officeart/2008/layout/HorizontalMultiLevelHierarchy"/>
    <dgm:cxn modelId="{ABEA1DAA-DD85-4D17-B881-D1660BA6FA02}" type="presParOf" srcId="{B02C3358-6309-422E-B71E-6DBCE6C9A04C}" destId="{C5E56F33-577A-4812-AE07-D29A80685C07}" srcOrd="0" destOrd="0" presId="urn:microsoft.com/office/officeart/2008/layout/HorizontalMultiLevelHierarchy"/>
    <dgm:cxn modelId="{6B83C987-A742-4E1C-9695-184231102209}" type="presParOf" srcId="{C5E56F33-577A-4812-AE07-D29A80685C07}" destId="{F17DAA59-FCC4-46BB-AEDE-04F8742DEFA9}" srcOrd="0" destOrd="0" presId="urn:microsoft.com/office/officeart/2008/layout/HorizontalMultiLevelHierarchy"/>
    <dgm:cxn modelId="{C4B310F3-544C-4BF8-BA2B-84B7F2931C92}" type="presParOf" srcId="{C5E56F33-577A-4812-AE07-D29A80685C07}" destId="{365D4F8F-97BC-4107-B021-0BCB85EB8E7F}" srcOrd="1" destOrd="0" presId="urn:microsoft.com/office/officeart/2008/layout/HorizontalMultiLevelHierarchy"/>
    <dgm:cxn modelId="{CD1DA36B-BF3F-4407-A509-083644441C74}" type="presParOf" srcId="{365D4F8F-97BC-4107-B021-0BCB85EB8E7F}" destId="{220968E9-D980-4CDD-93DB-96F54A0DB1FE}" srcOrd="0" destOrd="0" presId="urn:microsoft.com/office/officeart/2008/layout/HorizontalMultiLevelHierarchy"/>
    <dgm:cxn modelId="{5952476E-D42E-430E-B890-8F2BFADD55C0}" type="presParOf" srcId="{220968E9-D980-4CDD-93DB-96F54A0DB1FE}" destId="{1C4FE9F3-01ED-4513-A515-CD2BA55AA932}" srcOrd="0" destOrd="0" presId="urn:microsoft.com/office/officeart/2008/layout/HorizontalMultiLevelHierarchy"/>
    <dgm:cxn modelId="{C02809BC-05B2-4909-A912-A6D7897F47B0}" type="presParOf" srcId="{365D4F8F-97BC-4107-B021-0BCB85EB8E7F}" destId="{3308171F-0487-429D-A176-0E8DB4F82AD3}" srcOrd="1" destOrd="0" presId="urn:microsoft.com/office/officeart/2008/layout/HorizontalMultiLevelHierarchy"/>
    <dgm:cxn modelId="{87F3A521-E89D-4C4E-9455-4E12280FFD9E}" type="presParOf" srcId="{3308171F-0487-429D-A176-0E8DB4F82AD3}" destId="{0B0FB4CE-653A-446A-8023-4321DD1A4B11}" srcOrd="0" destOrd="0" presId="urn:microsoft.com/office/officeart/2008/layout/HorizontalMultiLevelHierarchy"/>
    <dgm:cxn modelId="{1AC64DF3-DA91-45D1-8053-9F91B70995D1}" type="presParOf" srcId="{3308171F-0487-429D-A176-0E8DB4F82AD3}" destId="{44FD95D1-E528-46B6-A2A7-AA82A323C1B5}" srcOrd="1" destOrd="0" presId="urn:microsoft.com/office/officeart/2008/layout/HorizontalMultiLevelHierarchy"/>
    <dgm:cxn modelId="{2ED82D55-47DB-41CD-84D9-B9AB307D8860}" type="presParOf" srcId="{44FD95D1-E528-46B6-A2A7-AA82A323C1B5}" destId="{28AEA47A-8418-4E1C-8B3C-E3490C017E14}" srcOrd="0" destOrd="0" presId="urn:microsoft.com/office/officeart/2008/layout/HorizontalMultiLevelHierarchy"/>
    <dgm:cxn modelId="{751FF261-EDE5-487C-A623-042BD834CED4}" type="presParOf" srcId="{28AEA47A-8418-4E1C-8B3C-E3490C017E14}" destId="{C1EDDF78-2348-42E1-91E6-1A4372B7B1E4}" srcOrd="0" destOrd="0" presId="urn:microsoft.com/office/officeart/2008/layout/HorizontalMultiLevelHierarchy"/>
    <dgm:cxn modelId="{C2115750-2EDF-4285-94C1-B671EE467B23}" type="presParOf" srcId="{44FD95D1-E528-46B6-A2A7-AA82A323C1B5}" destId="{83EEAD34-73BD-435A-BD07-1B37DFF1DA84}" srcOrd="1" destOrd="0" presId="urn:microsoft.com/office/officeart/2008/layout/HorizontalMultiLevelHierarchy"/>
    <dgm:cxn modelId="{45A219D4-DF0D-4F72-93F3-8906539300FF}" type="presParOf" srcId="{83EEAD34-73BD-435A-BD07-1B37DFF1DA84}" destId="{422780D4-5C74-483B-9555-3EBD316814FB}" srcOrd="0" destOrd="0" presId="urn:microsoft.com/office/officeart/2008/layout/HorizontalMultiLevelHierarchy"/>
    <dgm:cxn modelId="{0CA2A7DA-8DA8-44E0-A15F-55474D33DA28}" type="presParOf" srcId="{83EEAD34-73BD-435A-BD07-1B37DFF1DA84}" destId="{B83134A3-C79E-4B09-BD13-73D4DC3B4FB5}" srcOrd="1" destOrd="0" presId="urn:microsoft.com/office/officeart/2008/layout/HorizontalMultiLevelHierarchy"/>
    <dgm:cxn modelId="{8A90A2BE-934E-4376-8C4A-FB3030D4A353}" type="presParOf" srcId="{44FD95D1-E528-46B6-A2A7-AA82A323C1B5}" destId="{82130720-4A36-473D-B018-5EA3CCE8B929}" srcOrd="2" destOrd="0" presId="urn:microsoft.com/office/officeart/2008/layout/HorizontalMultiLevelHierarchy"/>
    <dgm:cxn modelId="{7884F837-5B1B-44BA-8996-BC1174EEAA8E}" type="presParOf" srcId="{82130720-4A36-473D-B018-5EA3CCE8B929}" destId="{0A560985-C054-407C-8F87-4034EFEF8AA9}" srcOrd="0" destOrd="0" presId="urn:microsoft.com/office/officeart/2008/layout/HorizontalMultiLevelHierarchy"/>
    <dgm:cxn modelId="{118A0DF1-FD46-4D30-93F8-CC3FBFC6EBE1}" type="presParOf" srcId="{44FD95D1-E528-46B6-A2A7-AA82A323C1B5}" destId="{C810A14F-5D9B-489D-9EC9-F0BC7D1CF6AB}" srcOrd="3" destOrd="0" presId="urn:microsoft.com/office/officeart/2008/layout/HorizontalMultiLevelHierarchy"/>
    <dgm:cxn modelId="{E19F86ED-5DF7-49BD-BF9A-020C3BD3BD23}" type="presParOf" srcId="{C810A14F-5D9B-489D-9EC9-F0BC7D1CF6AB}" destId="{EAFBA309-F17C-4E33-89F6-CE454B1E7ABB}" srcOrd="0" destOrd="0" presId="urn:microsoft.com/office/officeart/2008/layout/HorizontalMultiLevelHierarchy"/>
    <dgm:cxn modelId="{0E8135D7-9028-4B1A-8711-728B6E6DD069}" type="presParOf" srcId="{C810A14F-5D9B-489D-9EC9-F0BC7D1CF6AB}" destId="{83BBEA7B-7354-4163-9E13-F999E0684612}" srcOrd="1" destOrd="0" presId="urn:microsoft.com/office/officeart/2008/layout/HorizontalMultiLevelHierarchy"/>
    <dgm:cxn modelId="{00A98B01-F400-4436-9420-AD3643A44DE4}" type="presParOf" srcId="{365D4F8F-97BC-4107-B021-0BCB85EB8E7F}" destId="{E34B6362-B25C-4082-B8EC-1D9A0829E894}" srcOrd="2" destOrd="0" presId="urn:microsoft.com/office/officeart/2008/layout/HorizontalMultiLevelHierarchy"/>
    <dgm:cxn modelId="{B46E9CE9-B4DB-4995-A220-037728EA8B8D}" type="presParOf" srcId="{E34B6362-B25C-4082-B8EC-1D9A0829E894}" destId="{B3E279D9-AB35-4012-AE9F-EDED6D51F767}" srcOrd="0" destOrd="0" presId="urn:microsoft.com/office/officeart/2008/layout/HorizontalMultiLevelHierarchy"/>
    <dgm:cxn modelId="{EBA8579E-B4D9-4260-B63B-80687C3E2A61}" type="presParOf" srcId="{365D4F8F-97BC-4107-B021-0BCB85EB8E7F}" destId="{D7599398-6B01-4EFB-A81A-570F180B7897}" srcOrd="3" destOrd="0" presId="urn:microsoft.com/office/officeart/2008/layout/HorizontalMultiLevelHierarchy"/>
    <dgm:cxn modelId="{F79A4783-A639-4C2E-BF25-C002E24C7DCB}" type="presParOf" srcId="{D7599398-6B01-4EFB-A81A-570F180B7897}" destId="{5880E4F5-60EE-4A31-8CFD-369FFE289529}" srcOrd="0" destOrd="0" presId="urn:microsoft.com/office/officeart/2008/layout/HorizontalMultiLevelHierarchy"/>
    <dgm:cxn modelId="{6D54A39E-4C1C-42A5-9118-5D85EEB754BC}" type="presParOf" srcId="{D7599398-6B01-4EFB-A81A-570F180B7897}" destId="{A29320F9-56A0-49D9-AD57-8D9CAF8636AC}" srcOrd="1" destOrd="0" presId="urn:microsoft.com/office/officeart/2008/layout/HorizontalMultiLevelHierarchy"/>
  </dgm:cxnLst>
  <dgm:bg>
    <a:solidFill>
      <a:schemeClr val="bg1">
        <a:lumMod val="95000"/>
      </a:schemeClr>
    </a:solidFill>
    <a:effectLst>
      <a:outerShdw blurRad="76200" dir="13500000" sy="23000" kx="1200000" algn="br" rotWithShape="0">
        <a:prstClr val="black">
          <a:alpha val="2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B6362-B25C-4082-B8EC-1D9A0829E894}">
      <dsp:nvSpPr>
        <dsp:cNvPr id="0" name=""/>
        <dsp:cNvSpPr/>
      </dsp:nvSpPr>
      <dsp:spPr>
        <a:xfrm>
          <a:off x="867724" y="1460443"/>
          <a:ext cx="360969" cy="437600"/>
        </a:xfrm>
        <a:custGeom>
          <a:avLst/>
          <a:gdLst/>
          <a:ahLst/>
          <a:cxnLst/>
          <a:rect l="0" t="0" r="0" b="0"/>
          <a:pathLst>
            <a:path>
              <a:moveTo>
                <a:pt x="0" y="0"/>
              </a:moveTo>
              <a:lnTo>
                <a:pt x="180484" y="0"/>
              </a:lnTo>
              <a:lnTo>
                <a:pt x="180484" y="437600"/>
              </a:lnTo>
              <a:lnTo>
                <a:pt x="360969" y="437600"/>
              </a:lnTo>
            </a:path>
          </a:pathLst>
        </a:custGeom>
        <a:noFill/>
        <a:ln w="254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1034027" y="1665061"/>
        <a:ext cx="28363" cy="28363"/>
      </dsp:txXfrm>
    </dsp:sp>
    <dsp:sp modelId="{220968E9-D980-4CDD-93DB-96F54A0DB1FE}">
      <dsp:nvSpPr>
        <dsp:cNvPr id="0" name=""/>
        <dsp:cNvSpPr/>
      </dsp:nvSpPr>
      <dsp:spPr>
        <a:xfrm>
          <a:off x="867724" y="945728"/>
          <a:ext cx="360969" cy="514715"/>
        </a:xfrm>
        <a:custGeom>
          <a:avLst/>
          <a:gdLst/>
          <a:ahLst/>
          <a:cxnLst/>
          <a:rect l="0" t="0" r="0" b="0"/>
          <a:pathLst>
            <a:path>
              <a:moveTo>
                <a:pt x="0" y="514715"/>
              </a:moveTo>
              <a:lnTo>
                <a:pt x="180484" y="514715"/>
              </a:lnTo>
              <a:lnTo>
                <a:pt x="180484" y="0"/>
              </a:lnTo>
              <a:lnTo>
                <a:pt x="360969" y="0"/>
              </a:lnTo>
            </a:path>
          </a:pathLst>
        </a:custGeom>
        <a:noFill/>
        <a:ln w="254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1032492" y="1187368"/>
        <a:ext cx="31433" cy="31433"/>
      </dsp:txXfrm>
    </dsp:sp>
    <dsp:sp modelId="{F17DAA59-FCC4-46BB-AEDE-04F8742DEFA9}">
      <dsp:nvSpPr>
        <dsp:cNvPr id="0" name=""/>
        <dsp:cNvSpPr/>
      </dsp:nvSpPr>
      <dsp:spPr>
        <a:xfrm rot="16200000">
          <a:off x="-786525" y="1185314"/>
          <a:ext cx="2758241"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27000" dir="18900000" algn="b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tr-TR" sz="3200" kern="1200" dirty="0" smtClean="0"/>
            <a:t>Kriptoloji</a:t>
          </a:r>
          <a:endParaRPr lang="tr-TR" sz="3200" kern="1200" dirty="0"/>
        </a:p>
      </dsp:txBody>
      <dsp:txXfrm>
        <a:off x="-759664" y="1212175"/>
        <a:ext cx="2704519" cy="496536"/>
      </dsp:txXfrm>
    </dsp:sp>
    <dsp:sp modelId="{0B0FB4CE-653A-446A-8023-4321DD1A4B11}">
      <dsp:nvSpPr>
        <dsp:cNvPr id="0" name=""/>
        <dsp:cNvSpPr/>
      </dsp:nvSpPr>
      <dsp:spPr>
        <a:xfrm>
          <a:off x="1228694" y="670599"/>
          <a:ext cx="2270262"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524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a:lnSpc>
              <a:spcPct val="90000"/>
            </a:lnSpc>
            <a:spcBef>
              <a:spcPct val="0"/>
            </a:spcBef>
            <a:spcAft>
              <a:spcPct val="35000"/>
            </a:spcAft>
          </a:pPr>
          <a:r>
            <a:rPr lang="tr-TR" sz="2900" kern="1200" dirty="0" err="1" smtClean="0"/>
            <a:t>Kriptografi</a:t>
          </a:r>
          <a:endParaRPr lang="tr-TR" sz="2900" kern="1200" dirty="0"/>
        </a:p>
      </dsp:txBody>
      <dsp:txXfrm>
        <a:off x="1255555" y="697460"/>
        <a:ext cx="2216540" cy="496536"/>
      </dsp:txXfrm>
    </dsp:sp>
    <dsp:sp modelId="{5880E4F5-60EE-4A31-8CFD-369FFE289529}">
      <dsp:nvSpPr>
        <dsp:cNvPr id="0" name=""/>
        <dsp:cNvSpPr/>
      </dsp:nvSpPr>
      <dsp:spPr>
        <a:xfrm>
          <a:off x="1228694" y="1622914"/>
          <a:ext cx="2270262"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524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lvl="0" algn="ctr" defTabSz="1289050">
            <a:lnSpc>
              <a:spcPct val="90000"/>
            </a:lnSpc>
            <a:spcBef>
              <a:spcPct val="0"/>
            </a:spcBef>
            <a:spcAft>
              <a:spcPct val="35000"/>
            </a:spcAft>
          </a:pPr>
          <a:r>
            <a:rPr lang="tr-TR" sz="2900" kern="1200" dirty="0" err="1" smtClean="0"/>
            <a:t>Kriptoanaliz</a:t>
          </a:r>
          <a:endParaRPr lang="tr-TR" sz="2900" kern="1200" dirty="0"/>
        </a:p>
      </dsp:txBody>
      <dsp:txXfrm>
        <a:off x="1255555" y="1649775"/>
        <a:ext cx="2216540" cy="496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34B6362-B25C-4082-B8EC-1D9A0829E894}">
      <dsp:nvSpPr>
        <dsp:cNvPr id="0" name=""/>
        <dsp:cNvSpPr/>
      </dsp:nvSpPr>
      <dsp:spPr>
        <a:xfrm>
          <a:off x="779411" y="1460443"/>
          <a:ext cx="360969" cy="437600"/>
        </a:xfrm>
        <a:custGeom>
          <a:avLst/>
          <a:gdLst/>
          <a:ahLst/>
          <a:cxnLst/>
          <a:rect l="0" t="0" r="0" b="0"/>
          <a:pathLst>
            <a:path>
              <a:moveTo>
                <a:pt x="0" y="0"/>
              </a:moveTo>
              <a:lnTo>
                <a:pt x="180484" y="0"/>
              </a:lnTo>
              <a:lnTo>
                <a:pt x="180484" y="437600"/>
              </a:lnTo>
              <a:lnTo>
                <a:pt x="360969" y="437600"/>
              </a:lnTo>
            </a:path>
          </a:pathLst>
        </a:custGeom>
        <a:noFill/>
        <a:ln w="254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945714" y="1665061"/>
        <a:ext cx="28363" cy="28363"/>
      </dsp:txXfrm>
    </dsp:sp>
    <dsp:sp modelId="{82130720-4A36-473D-B018-5EA3CCE8B929}">
      <dsp:nvSpPr>
        <dsp:cNvPr id="0" name=""/>
        <dsp:cNvSpPr/>
      </dsp:nvSpPr>
      <dsp:spPr>
        <a:xfrm>
          <a:off x="3096347" y="945728"/>
          <a:ext cx="360969" cy="502319"/>
        </a:xfrm>
        <a:custGeom>
          <a:avLst/>
          <a:gdLst/>
          <a:ahLst/>
          <a:cxnLst/>
          <a:rect l="0" t="0" r="0" b="0"/>
          <a:pathLst>
            <a:path>
              <a:moveTo>
                <a:pt x="0" y="0"/>
              </a:moveTo>
              <a:lnTo>
                <a:pt x="180484" y="0"/>
              </a:lnTo>
              <a:lnTo>
                <a:pt x="180484" y="502319"/>
              </a:lnTo>
              <a:lnTo>
                <a:pt x="360969" y="502319"/>
              </a:lnTo>
            </a:path>
          </a:pathLst>
        </a:custGeom>
        <a:noFill/>
        <a:ln w="254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3261368" y="1181423"/>
        <a:ext cx="30928" cy="30928"/>
      </dsp:txXfrm>
    </dsp:sp>
    <dsp:sp modelId="{28AEA47A-8418-4E1C-8B3C-E3490C017E14}">
      <dsp:nvSpPr>
        <dsp:cNvPr id="0" name=""/>
        <dsp:cNvSpPr/>
      </dsp:nvSpPr>
      <dsp:spPr>
        <a:xfrm>
          <a:off x="3096347" y="760225"/>
          <a:ext cx="360969" cy="185503"/>
        </a:xfrm>
        <a:custGeom>
          <a:avLst/>
          <a:gdLst/>
          <a:ahLst/>
          <a:cxnLst/>
          <a:rect l="0" t="0" r="0" b="0"/>
          <a:pathLst>
            <a:path>
              <a:moveTo>
                <a:pt x="0" y="185503"/>
              </a:moveTo>
              <a:lnTo>
                <a:pt x="180484" y="185503"/>
              </a:lnTo>
              <a:lnTo>
                <a:pt x="180484" y="0"/>
              </a:lnTo>
              <a:lnTo>
                <a:pt x="360969" y="0"/>
              </a:lnTo>
            </a:path>
          </a:pathLst>
        </a:custGeom>
        <a:noFill/>
        <a:ln w="254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3266686" y="842830"/>
        <a:ext cx="20292" cy="20292"/>
      </dsp:txXfrm>
    </dsp:sp>
    <dsp:sp modelId="{220968E9-D980-4CDD-93DB-96F54A0DB1FE}">
      <dsp:nvSpPr>
        <dsp:cNvPr id="0" name=""/>
        <dsp:cNvSpPr/>
      </dsp:nvSpPr>
      <dsp:spPr>
        <a:xfrm>
          <a:off x="779411" y="945728"/>
          <a:ext cx="360969" cy="514715"/>
        </a:xfrm>
        <a:custGeom>
          <a:avLst/>
          <a:gdLst/>
          <a:ahLst/>
          <a:cxnLst/>
          <a:rect l="0" t="0" r="0" b="0"/>
          <a:pathLst>
            <a:path>
              <a:moveTo>
                <a:pt x="0" y="514715"/>
              </a:moveTo>
              <a:lnTo>
                <a:pt x="180484" y="514715"/>
              </a:lnTo>
              <a:lnTo>
                <a:pt x="180484" y="0"/>
              </a:lnTo>
              <a:lnTo>
                <a:pt x="360969" y="0"/>
              </a:lnTo>
            </a:path>
          </a:pathLst>
        </a:custGeom>
        <a:noFill/>
        <a:ln w="25400" cap="flat" cmpd="sng" algn="ctr">
          <a:solidFill>
            <a:scrgbClr r="0" g="0" b="0"/>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lvl="0" algn="ctr" defTabSz="222250">
            <a:lnSpc>
              <a:spcPct val="90000"/>
            </a:lnSpc>
            <a:spcBef>
              <a:spcPct val="0"/>
            </a:spcBef>
            <a:spcAft>
              <a:spcPct val="35000"/>
            </a:spcAft>
          </a:pPr>
          <a:endParaRPr lang="tr-TR" sz="500" kern="1200"/>
        </a:p>
      </dsp:txBody>
      <dsp:txXfrm>
        <a:off x="944179" y="1187368"/>
        <a:ext cx="31433" cy="31433"/>
      </dsp:txXfrm>
    </dsp:sp>
    <dsp:sp modelId="{F17DAA59-FCC4-46BB-AEDE-04F8742DEFA9}">
      <dsp:nvSpPr>
        <dsp:cNvPr id="0" name=""/>
        <dsp:cNvSpPr/>
      </dsp:nvSpPr>
      <dsp:spPr>
        <a:xfrm rot="16200000">
          <a:off x="-874838" y="1185314"/>
          <a:ext cx="2758241"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27000" dir="18900000" algn="b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lvl="0" algn="ctr" defTabSz="1422400">
            <a:lnSpc>
              <a:spcPct val="90000"/>
            </a:lnSpc>
            <a:spcBef>
              <a:spcPct val="0"/>
            </a:spcBef>
            <a:spcAft>
              <a:spcPct val="35000"/>
            </a:spcAft>
          </a:pPr>
          <a:r>
            <a:rPr lang="tr-TR" sz="3200" kern="1200" dirty="0" smtClean="0"/>
            <a:t>Kriptoloji</a:t>
          </a:r>
          <a:endParaRPr lang="tr-TR" sz="3200" kern="1200" dirty="0"/>
        </a:p>
      </dsp:txBody>
      <dsp:txXfrm>
        <a:off x="-847977" y="1212175"/>
        <a:ext cx="2704519" cy="496536"/>
      </dsp:txXfrm>
    </dsp:sp>
    <dsp:sp modelId="{0B0FB4CE-653A-446A-8023-4321DD1A4B11}">
      <dsp:nvSpPr>
        <dsp:cNvPr id="0" name=""/>
        <dsp:cNvSpPr/>
      </dsp:nvSpPr>
      <dsp:spPr>
        <a:xfrm>
          <a:off x="1140380" y="670599"/>
          <a:ext cx="1955966"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524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tr-TR" sz="1900" kern="1200" dirty="0" err="1" smtClean="0"/>
            <a:t>Kriptografi</a:t>
          </a:r>
          <a:endParaRPr lang="tr-TR" sz="1900" kern="1200" dirty="0"/>
        </a:p>
      </dsp:txBody>
      <dsp:txXfrm>
        <a:off x="1167241" y="697460"/>
        <a:ext cx="1902244" cy="496536"/>
      </dsp:txXfrm>
    </dsp:sp>
    <dsp:sp modelId="{422780D4-5C74-483B-9555-3EBD316814FB}">
      <dsp:nvSpPr>
        <dsp:cNvPr id="0" name=""/>
        <dsp:cNvSpPr/>
      </dsp:nvSpPr>
      <dsp:spPr>
        <a:xfrm>
          <a:off x="3457317" y="485096"/>
          <a:ext cx="2362201"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524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tr-TR" sz="1900" kern="1200" dirty="0" smtClean="0"/>
            <a:t>Simetrik Şifreleme</a:t>
          </a:r>
          <a:endParaRPr lang="tr-TR" sz="1900" kern="1200" dirty="0"/>
        </a:p>
      </dsp:txBody>
      <dsp:txXfrm>
        <a:off x="3484178" y="511957"/>
        <a:ext cx="2308479" cy="496536"/>
      </dsp:txXfrm>
    </dsp:sp>
    <dsp:sp modelId="{EAFBA309-F17C-4E33-89F6-CE454B1E7ABB}">
      <dsp:nvSpPr>
        <dsp:cNvPr id="0" name=""/>
        <dsp:cNvSpPr/>
      </dsp:nvSpPr>
      <dsp:spPr>
        <a:xfrm>
          <a:off x="3457317" y="1172918"/>
          <a:ext cx="2362201"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524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tr-TR" sz="1900" kern="1200" dirty="0" smtClean="0"/>
            <a:t>Asimetrik Şifreleme</a:t>
          </a:r>
          <a:endParaRPr lang="tr-TR" sz="1900" kern="1200" dirty="0"/>
        </a:p>
      </dsp:txBody>
      <dsp:txXfrm>
        <a:off x="3484178" y="1199779"/>
        <a:ext cx="2308479" cy="496536"/>
      </dsp:txXfrm>
    </dsp:sp>
    <dsp:sp modelId="{5880E4F5-60EE-4A31-8CFD-369FFE289529}">
      <dsp:nvSpPr>
        <dsp:cNvPr id="0" name=""/>
        <dsp:cNvSpPr/>
      </dsp:nvSpPr>
      <dsp:spPr>
        <a:xfrm>
          <a:off x="1140380" y="1622914"/>
          <a:ext cx="1929706" cy="55025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a:outerShdw blurRad="50800" dist="152400" dir="8100000" algn="tr"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12065" tIns="12065" rIns="12065" bIns="12065" numCol="1" spcCol="1270" anchor="ctr" anchorCtr="0">
          <a:noAutofit/>
        </a:bodyPr>
        <a:lstStyle/>
        <a:p>
          <a:pPr lvl="0" algn="ctr" defTabSz="844550">
            <a:lnSpc>
              <a:spcPct val="90000"/>
            </a:lnSpc>
            <a:spcBef>
              <a:spcPct val="0"/>
            </a:spcBef>
            <a:spcAft>
              <a:spcPct val="35000"/>
            </a:spcAft>
          </a:pPr>
          <a:r>
            <a:rPr lang="tr-TR" sz="1900" kern="1200" dirty="0" err="1" smtClean="0"/>
            <a:t>Kriptoanaliz</a:t>
          </a:r>
          <a:endParaRPr lang="tr-TR" sz="1900" kern="1200" dirty="0"/>
        </a:p>
      </dsp:txBody>
      <dsp:txXfrm>
        <a:off x="1167241" y="1649775"/>
        <a:ext cx="1875984" cy="496536"/>
      </dsp:txXfrm>
    </dsp:sp>
  </dsp:spTree>
</dsp:drawing>
</file>

<file path=ppt/diagrams/layout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dirty="0"/>
          </a:p>
        </p:txBody>
      </p:sp>
      <p:sp>
        <p:nvSpPr>
          <p:cNvPr id="3" name="2 Veri Yer Tutucusu"/>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D92011-80F3-416C-A4E6-DC258354ED27}" type="datetimeFigureOut">
              <a:rPr lang="tr-TR" smtClean="0"/>
              <a:pPr/>
              <a:t>7.05.2018</a:t>
            </a:fld>
            <a:endParaRPr lang="tr-TR" dirty="0"/>
          </a:p>
        </p:txBody>
      </p:sp>
      <p:sp>
        <p:nvSpPr>
          <p:cNvPr id="4" name="3 Altbilgi Yer Tutucusu"/>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dirty="0"/>
          </a:p>
        </p:txBody>
      </p:sp>
      <p:sp>
        <p:nvSpPr>
          <p:cNvPr id="5" name="4 Slayt Numarası Yer Tutucusu"/>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85CCD8F-EE12-4831-9F93-21C6B97F7A4C}" type="slidenum">
              <a:rPr lang="tr-TR" smtClean="0"/>
              <a:pPr/>
              <a:t>‹#›</a:t>
            </a:fld>
            <a:endParaRPr lang="tr-TR"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dirty="0"/>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00E6A1-830D-4C29-9D2C-9B28226A27E6}" type="datetimeFigureOut">
              <a:rPr lang="tr-TR" smtClean="0"/>
              <a:pPr/>
              <a:t>7.05.2018</a:t>
            </a:fld>
            <a:endParaRPr lang="tr-TR" dirty="0"/>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dirty="0"/>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dirty="0"/>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A9AC84-81BD-442C-8608-DAE8E5CF2363}" type="slidenum">
              <a:rPr lang="tr-TR" smtClean="0"/>
              <a:pPr/>
              <a:t>‹#›</a:t>
            </a:fld>
            <a:endParaRPr lang="tr-TR"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sz="1200" b="0" i="0" u="none" strike="noStrike" kern="1200" baseline="0" dirty="0" smtClean="0">
              <a:solidFill>
                <a:schemeClr val="tx1"/>
              </a:solidFill>
              <a:latin typeface="+mn-lt"/>
              <a:ea typeface="+mn-ea"/>
              <a:cs typeface="+mn-cs"/>
            </a:endParaRPr>
          </a:p>
          <a:p>
            <a:r>
              <a:rPr lang="tr-TR" sz="1200" b="0" i="0" u="none" strike="noStrike" kern="1200" baseline="0" dirty="0" err="1" smtClean="0">
                <a:solidFill>
                  <a:schemeClr val="tx1"/>
                </a:solidFill>
                <a:latin typeface="+mn-lt"/>
                <a:ea typeface="+mn-ea"/>
                <a:cs typeface="+mn-cs"/>
              </a:rPr>
              <a:t>ATMlerde</a:t>
            </a:r>
            <a:r>
              <a:rPr lang="tr-TR" sz="1200" b="0" i="0" u="none" strike="noStrike" kern="1200" baseline="0" dirty="0" smtClean="0">
                <a:solidFill>
                  <a:schemeClr val="tx1"/>
                </a:solidFill>
                <a:latin typeface="+mn-lt"/>
                <a:ea typeface="+mn-ea"/>
                <a:cs typeface="+mn-cs"/>
              </a:rPr>
              <a:t> şifremizi girdikten sonra, şifre doğruluk kontrolü için telefon hatları üzerinden bankanın bilgisayarına yollanır. Bu yolculuk süresince şifrenin güvenliği sağlanmak zorundadır. Bu nedenle şifre şifrelenerek yollanır. </a:t>
            </a:r>
          </a:p>
          <a:p>
            <a:r>
              <a:rPr lang="tr-TR" sz="1200" b="0" i="0" u="none" strike="noStrike" kern="1200" baseline="0" dirty="0" smtClean="0">
                <a:solidFill>
                  <a:schemeClr val="tx1"/>
                </a:solidFill>
                <a:latin typeface="+mn-lt"/>
                <a:ea typeface="+mn-ea"/>
                <a:cs typeface="+mn-cs"/>
              </a:rPr>
              <a:t>Televizyonda izlediğimiz şifreli </a:t>
            </a:r>
            <a:r>
              <a:rPr lang="tr-TR" sz="1200" b="0" i="0" u="none" strike="noStrike" kern="1200" baseline="0" dirty="0" err="1" smtClean="0">
                <a:solidFill>
                  <a:schemeClr val="tx1"/>
                </a:solidFill>
                <a:latin typeface="+mn-lt"/>
                <a:ea typeface="+mn-ea"/>
                <a:cs typeface="+mn-cs"/>
              </a:rPr>
              <a:t>tv</a:t>
            </a:r>
            <a:r>
              <a:rPr lang="tr-TR" sz="1200" b="0" i="0" u="none" strike="noStrike" kern="1200" baseline="0" dirty="0" smtClean="0">
                <a:solidFill>
                  <a:schemeClr val="tx1"/>
                </a:solidFill>
                <a:latin typeface="+mn-lt"/>
                <a:ea typeface="+mn-ea"/>
                <a:cs typeface="+mn-cs"/>
              </a:rPr>
              <a:t> </a:t>
            </a:r>
            <a:r>
              <a:rPr lang="tr-TR" sz="1200" b="0" i="0" u="none" strike="noStrike" kern="1200" baseline="0" dirty="0" err="1" smtClean="0">
                <a:solidFill>
                  <a:schemeClr val="tx1"/>
                </a:solidFill>
                <a:latin typeface="+mn-lt"/>
                <a:ea typeface="+mn-ea"/>
                <a:cs typeface="+mn-cs"/>
              </a:rPr>
              <a:t>kanallaındada</a:t>
            </a:r>
            <a:r>
              <a:rPr lang="tr-TR" sz="1200" b="0" i="0" u="none" strike="noStrike" kern="1200" baseline="0" dirty="0" smtClean="0">
                <a:solidFill>
                  <a:schemeClr val="tx1"/>
                </a:solidFill>
                <a:latin typeface="+mn-lt"/>
                <a:ea typeface="+mn-ea"/>
                <a:cs typeface="+mn-cs"/>
              </a:rPr>
              <a:t> </a:t>
            </a:r>
            <a:r>
              <a:rPr lang="tr-TR" sz="1200" b="0" i="0" u="none" strike="noStrike" kern="1200" baseline="0" dirty="0" err="1" smtClean="0">
                <a:solidFill>
                  <a:schemeClr val="tx1"/>
                </a:solidFill>
                <a:latin typeface="+mn-lt"/>
                <a:ea typeface="+mn-ea"/>
                <a:cs typeface="+mn-cs"/>
              </a:rPr>
              <a:t>kriptografi</a:t>
            </a:r>
            <a:r>
              <a:rPr lang="tr-TR" sz="1200" b="0" i="0" u="none" strike="noStrike" kern="1200" baseline="0" dirty="0" smtClean="0">
                <a:solidFill>
                  <a:schemeClr val="tx1"/>
                </a:solidFill>
                <a:latin typeface="+mn-lt"/>
                <a:ea typeface="+mn-ea"/>
                <a:cs typeface="+mn-cs"/>
              </a:rPr>
              <a:t> bilimi kullanılır. Uydu üzerinden yayın yapan bu tip kanallar gönderdikleri sinyalleri şifreler. Bu şifreyi çözmek için alıcıya(</a:t>
            </a:r>
            <a:r>
              <a:rPr lang="tr-TR" sz="1200" b="0" i="0" u="none" strike="noStrike" kern="1200" baseline="0" dirty="0" err="1" smtClean="0">
                <a:solidFill>
                  <a:schemeClr val="tx1"/>
                </a:solidFill>
                <a:latin typeface="+mn-lt"/>
                <a:ea typeface="+mn-ea"/>
                <a:cs typeface="+mn-cs"/>
              </a:rPr>
              <a:t>receiver</a:t>
            </a:r>
            <a:r>
              <a:rPr lang="tr-TR" sz="1200" b="0" i="0" u="none" strike="noStrike" kern="1200" baseline="0" dirty="0" smtClean="0">
                <a:solidFill>
                  <a:schemeClr val="tx1"/>
                </a:solidFill>
                <a:latin typeface="+mn-lt"/>
                <a:ea typeface="+mn-ea"/>
                <a:cs typeface="+mn-cs"/>
              </a:rPr>
              <a:t>) akıllı(</a:t>
            </a:r>
            <a:r>
              <a:rPr lang="tr-TR" sz="1200" b="0" i="0" u="none" strike="noStrike" kern="1200" baseline="0" dirty="0" err="1" smtClean="0">
                <a:solidFill>
                  <a:schemeClr val="tx1"/>
                </a:solidFill>
                <a:latin typeface="+mn-lt"/>
                <a:ea typeface="+mn-ea"/>
                <a:cs typeface="+mn-cs"/>
              </a:rPr>
              <a:t>smart</a:t>
            </a:r>
            <a:r>
              <a:rPr lang="tr-TR" sz="1200" b="0" i="0" u="none" strike="noStrike" kern="1200" baseline="0" dirty="0" smtClean="0">
                <a:solidFill>
                  <a:schemeClr val="tx1"/>
                </a:solidFill>
                <a:latin typeface="+mn-lt"/>
                <a:ea typeface="+mn-ea"/>
                <a:cs typeface="+mn-cs"/>
              </a:rPr>
              <a:t>) kart takılır. Kartın içindeki anahtar vasıtası ile şifre çözülür ve yayın normal olarak izlenir. Bir başka iletişim tekniğini göz önüne alırsak, örneğin telsiz haberleşmelerinde de buna benzer sistemler kullanılmaktadır. Ses önce şifrelenir karşıya gönderilir orda şifre açılır ve ses araya başka bir kullanıcı girmeden güvenli bir şekilde teslim edilmiş olur. </a:t>
            </a:r>
          </a:p>
          <a:p>
            <a:r>
              <a:rPr lang="tr-TR" sz="1200" b="0" i="0" u="none" strike="noStrike" kern="1200" baseline="0" dirty="0" smtClean="0">
                <a:solidFill>
                  <a:schemeClr val="tx1"/>
                </a:solidFill>
                <a:latin typeface="+mn-lt"/>
                <a:ea typeface="+mn-ea"/>
                <a:cs typeface="+mn-cs"/>
              </a:rPr>
              <a:t>E-imza </a:t>
            </a:r>
          </a:p>
          <a:p>
            <a:r>
              <a:rPr lang="tr-TR" sz="1200" b="0" i="0" u="none" strike="noStrike" kern="1200" baseline="0" dirty="0" smtClean="0">
                <a:solidFill>
                  <a:schemeClr val="tx1"/>
                </a:solidFill>
                <a:latin typeface="+mn-lt"/>
                <a:ea typeface="+mn-ea"/>
                <a:cs typeface="+mn-cs"/>
              </a:rPr>
              <a:t>Dikkat edeceğimiz gibi kriptoloji iletişim materyallerinin kullanıldığı her alanda gizliliği sağlamak için kullanılmaktadır (ses, görüntü, metin </a:t>
            </a:r>
            <a:r>
              <a:rPr lang="tr-TR" sz="1200" b="0" i="0" u="none" strike="noStrike" kern="1200" baseline="0" dirty="0" err="1" smtClean="0">
                <a:solidFill>
                  <a:schemeClr val="tx1"/>
                </a:solidFill>
                <a:latin typeface="+mn-lt"/>
                <a:ea typeface="+mn-ea"/>
                <a:cs typeface="+mn-cs"/>
              </a:rPr>
              <a:t>v.s</a:t>
            </a:r>
            <a:r>
              <a:rPr lang="tr-TR" sz="1200" b="0" i="0" u="none" strike="noStrike" kern="1200" baseline="0" dirty="0" smtClean="0">
                <a:solidFill>
                  <a:schemeClr val="tx1"/>
                </a:solidFill>
                <a:latin typeface="+mn-lt"/>
                <a:ea typeface="+mn-ea"/>
                <a:cs typeface="+mn-cs"/>
              </a:rPr>
              <a:t> </a:t>
            </a:r>
            <a:r>
              <a:rPr lang="tr-TR" sz="1200" b="0" i="0" u="none" strike="noStrike" kern="1200" baseline="0" dirty="0" err="1" smtClean="0">
                <a:solidFill>
                  <a:schemeClr val="tx1"/>
                </a:solidFill>
                <a:latin typeface="+mn-lt"/>
                <a:ea typeface="+mn-ea"/>
                <a:cs typeface="+mn-cs"/>
              </a:rPr>
              <a:t>v.s</a:t>
            </a:r>
            <a:r>
              <a:rPr lang="tr-TR" sz="1200" b="0" i="0" u="none" strike="noStrike" kern="1200" baseline="0" dirty="0" smtClean="0">
                <a:solidFill>
                  <a:schemeClr val="tx1"/>
                </a:solidFill>
                <a:latin typeface="+mn-lt"/>
                <a:ea typeface="+mn-ea"/>
                <a:cs typeface="+mn-cs"/>
              </a:rPr>
              <a:t>). </a:t>
            </a:r>
            <a:endParaRPr lang="tr-TR" dirty="0"/>
          </a:p>
        </p:txBody>
      </p:sp>
      <p:sp>
        <p:nvSpPr>
          <p:cNvPr id="4" name="Slayt Numarası Yer Tutucusu 3"/>
          <p:cNvSpPr>
            <a:spLocks noGrp="1"/>
          </p:cNvSpPr>
          <p:nvPr>
            <p:ph type="sldNum" sz="quarter" idx="10"/>
          </p:nvPr>
        </p:nvSpPr>
        <p:spPr/>
        <p:txBody>
          <a:bodyPr/>
          <a:lstStyle/>
          <a:p>
            <a:fld id="{0AA9AC84-81BD-442C-8608-DAE8E5CF2363}" type="slidenum">
              <a:rPr lang="tr-TR" smtClean="0"/>
              <a:pPr/>
              <a:t>10</a:t>
            </a:fld>
            <a:endParaRPr lang="tr-TR" dirty="0"/>
          </a:p>
        </p:txBody>
      </p:sp>
    </p:spTree>
    <p:extLst>
      <p:ext uri="{BB962C8B-B14F-4D97-AF65-F5344CB8AC3E}">
        <p14:creationId xmlns:p14="http://schemas.microsoft.com/office/powerpoint/2010/main" val="2456850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Unvan 1"/>
          <p:cNvSpPr>
            <a:spLocks noGrp="1"/>
          </p:cNvSpPr>
          <p:nvPr>
            <p:ph type="ctrTitle"/>
          </p:nvPr>
        </p:nvSpPr>
        <p:spPr>
          <a:xfrm>
            <a:off x="1143000" y="1122363"/>
            <a:ext cx="6858000" cy="2387600"/>
          </a:xfrm>
        </p:spPr>
        <p:txBody>
          <a:bodyPr anchor="b"/>
          <a:lstStyle>
            <a:lvl1pPr algn="ctr">
              <a:defRPr sz="4500"/>
            </a:lvl1pPr>
          </a:lstStyle>
          <a:p>
            <a:r>
              <a:rPr lang="tr-TR" smtClean="0"/>
              <a:t>Asıl başlık stili için tıklatın</a:t>
            </a:r>
            <a:endParaRPr lang="tr-TR"/>
          </a:p>
        </p:txBody>
      </p:sp>
      <p:sp>
        <p:nvSpPr>
          <p:cNvPr id="3" name="Alt Başlık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tr-TR" smtClean="0"/>
              <a:t>Asıl alt başlık stilini düzenlemek için tıklayın</a:t>
            </a:r>
            <a:endParaRPr lang="tr-TR"/>
          </a:p>
        </p:txBody>
      </p:sp>
      <p:sp>
        <p:nvSpPr>
          <p:cNvPr id="4" name="Veri Yer Tutucusu 3"/>
          <p:cNvSpPr>
            <a:spLocks noGrp="1"/>
          </p:cNvSpPr>
          <p:nvPr>
            <p:ph type="dt" sz="half" idx="10"/>
          </p:nvPr>
        </p:nvSpPr>
        <p:spPr/>
        <p:txBody>
          <a:bodyPr/>
          <a:lstStyle/>
          <a:p>
            <a:pPr>
              <a:defRPr/>
            </a:pPr>
            <a:endParaRPr lang="tr-TR"/>
          </a:p>
        </p:txBody>
      </p:sp>
      <p:sp>
        <p:nvSpPr>
          <p:cNvPr id="5" name="Altbilgi Yer Tutucusu 4"/>
          <p:cNvSpPr>
            <a:spLocks noGrp="1"/>
          </p:cNvSpPr>
          <p:nvPr>
            <p:ph type="ftr" sz="quarter" idx="11"/>
          </p:nvPr>
        </p:nvSpPr>
        <p:spPr/>
        <p:txBody>
          <a:bodyPr/>
          <a:lstStyle/>
          <a:p>
            <a:pPr>
              <a:defRPr/>
            </a:pPr>
            <a:endParaRPr lang="tr-TR"/>
          </a:p>
        </p:txBody>
      </p:sp>
      <p:sp>
        <p:nvSpPr>
          <p:cNvPr id="6" name="Slayt Numarası Yer Tutucusu 5"/>
          <p:cNvSpPr>
            <a:spLocks noGrp="1"/>
          </p:cNvSpPr>
          <p:nvPr>
            <p:ph type="sldNum" sz="quarter" idx="12"/>
          </p:nvPr>
        </p:nvSpPr>
        <p:spPr/>
        <p:txBody>
          <a:bodyPr/>
          <a:lstStyle/>
          <a:p>
            <a:pPr>
              <a:defRPr/>
            </a:pPr>
            <a:fld id="{C1CC7129-E796-42F1-AB6E-175AE70EDB47}" type="slidenum">
              <a:rPr lang="tr-TR" smtClean="0"/>
              <a:pPr>
                <a:defRPr/>
              </a:pPr>
              <a:t>‹#›</a:t>
            </a:fld>
            <a:endParaRPr lang="tr-TR"/>
          </a:p>
        </p:txBody>
      </p:sp>
    </p:spTree>
    <p:extLst>
      <p:ext uri="{BB962C8B-B14F-4D97-AF65-F5344CB8AC3E}">
        <p14:creationId xmlns:p14="http://schemas.microsoft.com/office/powerpoint/2010/main" val="290013546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idx="1"/>
          </p:nvPr>
        </p:nvSpPr>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pPr>
              <a:defRPr/>
            </a:pPr>
            <a:endParaRPr lang="tr-TR"/>
          </a:p>
        </p:txBody>
      </p:sp>
      <p:sp>
        <p:nvSpPr>
          <p:cNvPr id="5" name="Altbilgi Yer Tutucusu 4"/>
          <p:cNvSpPr>
            <a:spLocks noGrp="1"/>
          </p:cNvSpPr>
          <p:nvPr>
            <p:ph type="ftr" sz="quarter" idx="11"/>
          </p:nvPr>
        </p:nvSpPr>
        <p:spPr/>
        <p:txBody>
          <a:bodyPr/>
          <a:lstStyle/>
          <a:p>
            <a:pPr>
              <a:defRPr/>
            </a:pPr>
            <a:endParaRPr lang="tr-TR"/>
          </a:p>
        </p:txBody>
      </p:sp>
      <p:sp>
        <p:nvSpPr>
          <p:cNvPr id="6" name="Slayt Numarası Yer Tutucusu 5"/>
          <p:cNvSpPr>
            <a:spLocks noGrp="1"/>
          </p:cNvSpPr>
          <p:nvPr>
            <p:ph type="sldNum" sz="quarter" idx="12"/>
          </p:nvPr>
        </p:nvSpPr>
        <p:spPr/>
        <p:txBody>
          <a:bodyPr/>
          <a:lstStyle/>
          <a:p>
            <a:pPr>
              <a:defRPr/>
            </a:pPr>
            <a:fld id="{A4971776-7564-4797-B611-E641185BF234}" type="slidenum">
              <a:rPr lang="tr-TR" smtClean="0"/>
              <a:pPr>
                <a:defRPr/>
              </a:pPr>
              <a:t>‹#›</a:t>
            </a:fld>
            <a:endParaRPr lang="tr-TR"/>
          </a:p>
        </p:txBody>
      </p:sp>
    </p:spTree>
    <p:extLst>
      <p:ext uri="{BB962C8B-B14F-4D97-AF65-F5344CB8AC3E}">
        <p14:creationId xmlns:p14="http://schemas.microsoft.com/office/powerpoint/2010/main" val="1177051581"/>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Unvan 1"/>
          <p:cNvSpPr>
            <a:spLocks noGrp="1"/>
          </p:cNvSpPr>
          <p:nvPr>
            <p:ph type="title"/>
          </p:nvPr>
        </p:nvSpPr>
        <p:spPr>
          <a:xfrm>
            <a:off x="623888" y="1709739"/>
            <a:ext cx="7886700" cy="2852737"/>
          </a:xfrm>
        </p:spPr>
        <p:txBody>
          <a:bodyPr anchor="b"/>
          <a:lstStyle>
            <a:lvl1pPr>
              <a:defRPr sz="4500"/>
            </a:lvl1pPr>
          </a:lstStyle>
          <a:p>
            <a:r>
              <a:rPr lang="tr-TR" smtClean="0"/>
              <a:t>Asıl başlık stili için tıklatın</a:t>
            </a:r>
            <a:endParaRPr lang="tr-TR"/>
          </a:p>
        </p:txBody>
      </p:sp>
      <p:sp>
        <p:nvSpPr>
          <p:cNvPr id="3" name="Metin Yer Tutucusu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tr-TR" smtClean="0"/>
              <a:t>Asıl metin stillerini düzenle</a:t>
            </a:r>
          </a:p>
        </p:txBody>
      </p:sp>
      <p:sp>
        <p:nvSpPr>
          <p:cNvPr id="4" name="Veri Yer Tutucusu 3"/>
          <p:cNvSpPr>
            <a:spLocks noGrp="1"/>
          </p:cNvSpPr>
          <p:nvPr>
            <p:ph type="dt" sz="half" idx="10"/>
          </p:nvPr>
        </p:nvSpPr>
        <p:spPr/>
        <p:txBody>
          <a:bodyPr/>
          <a:lstStyle/>
          <a:p>
            <a:pPr>
              <a:defRPr/>
            </a:pPr>
            <a:endParaRPr lang="tr-TR"/>
          </a:p>
        </p:txBody>
      </p:sp>
      <p:sp>
        <p:nvSpPr>
          <p:cNvPr id="5" name="Altbilgi Yer Tutucusu 4"/>
          <p:cNvSpPr>
            <a:spLocks noGrp="1"/>
          </p:cNvSpPr>
          <p:nvPr>
            <p:ph type="ftr" sz="quarter" idx="11"/>
          </p:nvPr>
        </p:nvSpPr>
        <p:spPr/>
        <p:txBody>
          <a:bodyPr/>
          <a:lstStyle/>
          <a:p>
            <a:pPr>
              <a:defRPr/>
            </a:pPr>
            <a:endParaRPr lang="tr-TR"/>
          </a:p>
        </p:txBody>
      </p:sp>
      <p:sp>
        <p:nvSpPr>
          <p:cNvPr id="6" name="Slayt Numarası Yer Tutucusu 5"/>
          <p:cNvSpPr>
            <a:spLocks noGrp="1"/>
          </p:cNvSpPr>
          <p:nvPr>
            <p:ph type="sldNum" sz="quarter" idx="12"/>
          </p:nvPr>
        </p:nvSpPr>
        <p:spPr/>
        <p:txBody>
          <a:bodyPr/>
          <a:lstStyle/>
          <a:p>
            <a:pPr>
              <a:defRPr/>
            </a:pPr>
            <a:fld id="{CDCC180B-A068-4E2B-8CAA-08903E42A7C2}" type="slidenum">
              <a:rPr lang="tr-TR" smtClean="0"/>
              <a:pPr>
                <a:defRPr/>
              </a:pPr>
              <a:t>‹#›</a:t>
            </a:fld>
            <a:endParaRPr lang="tr-TR"/>
          </a:p>
        </p:txBody>
      </p:sp>
    </p:spTree>
    <p:extLst>
      <p:ext uri="{BB962C8B-B14F-4D97-AF65-F5344CB8AC3E}">
        <p14:creationId xmlns:p14="http://schemas.microsoft.com/office/powerpoint/2010/main" val="2300745461"/>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628650" y="1825625"/>
            <a:ext cx="38862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29150" y="1825625"/>
            <a:ext cx="3886200" cy="435133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pPr>
              <a:defRPr/>
            </a:pPr>
            <a:endParaRPr lang="tr-TR"/>
          </a:p>
        </p:txBody>
      </p:sp>
      <p:sp>
        <p:nvSpPr>
          <p:cNvPr id="6" name="Altbilgi Yer Tutucusu 5"/>
          <p:cNvSpPr>
            <a:spLocks noGrp="1"/>
          </p:cNvSpPr>
          <p:nvPr>
            <p:ph type="ftr" sz="quarter" idx="11"/>
          </p:nvPr>
        </p:nvSpPr>
        <p:spPr/>
        <p:txBody>
          <a:bodyPr/>
          <a:lstStyle/>
          <a:p>
            <a:pPr>
              <a:defRPr/>
            </a:pPr>
            <a:endParaRPr lang="tr-TR"/>
          </a:p>
        </p:txBody>
      </p:sp>
      <p:sp>
        <p:nvSpPr>
          <p:cNvPr id="7" name="Slayt Numarası Yer Tutucusu 6"/>
          <p:cNvSpPr>
            <a:spLocks noGrp="1"/>
          </p:cNvSpPr>
          <p:nvPr>
            <p:ph type="sldNum" sz="quarter" idx="12"/>
          </p:nvPr>
        </p:nvSpPr>
        <p:spPr/>
        <p:txBody>
          <a:bodyPr/>
          <a:lstStyle/>
          <a:p>
            <a:pPr>
              <a:defRPr/>
            </a:pPr>
            <a:fld id="{6F1B4FFA-B9C2-48FF-B259-9F8603C992F9}" type="slidenum">
              <a:rPr lang="tr-TR" smtClean="0"/>
              <a:pPr>
                <a:defRPr/>
              </a:pPr>
              <a:t>‹#›</a:t>
            </a:fld>
            <a:endParaRPr lang="tr-TR"/>
          </a:p>
        </p:txBody>
      </p:sp>
    </p:spTree>
    <p:extLst>
      <p:ext uri="{BB962C8B-B14F-4D97-AF65-F5344CB8AC3E}">
        <p14:creationId xmlns:p14="http://schemas.microsoft.com/office/powerpoint/2010/main" val="41973880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Unvan 1"/>
          <p:cNvSpPr>
            <a:spLocks noGrp="1"/>
          </p:cNvSpPr>
          <p:nvPr>
            <p:ph type="title"/>
          </p:nvPr>
        </p:nvSpPr>
        <p:spPr>
          <a:xfrm>
            <a:off x="629841" y="365126"/>
            <a:ext cx="7886700" cy="1325563"/>
          </a:xfrm>
        </p:spPr>
        <p:txBody>
          <a:bodyPr/>
          <a:lstStyle/>
          <a:p>
            <a:r>
              <a:rPr lang="tr-TR" smtClean="0"/>
              <a:t>Asıl başlık stili için tıklatın</a:t>
            </a:r>
            <a:endParaRPr lang="tr-TR"/>
          </a:p>
        </p:txBody>
      </p:sp>
      <p:sp>
        <p:nvSpPr>
          <p:cNvPr id="3" name="Metin Yer Tutucusu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smtClean="0"/>
              <a:t>Asıl metin stillerini düzenle</a:t>
            </a:r>
          </a:p>
        </p:txBody>
      </p:sp>
      <p:sp>
        <p:nvSpPr>
          <p:cNvPr id="4" name="İçerik Yer Tutucusu 3"/>
          <p:cNvSpPr>
            <a:spLocks noGrp="1"/>
          </p:cNvSpPr>
          <p:nvPr>
            <p:ph sz="half" idx="2"/>
          </p:nvPr>
        </p:nvSpPr>
        <p:spPr>
          <a:xfrm>
            <a:off x="629842" y="2505075"/>
            <a:ext cx="3868340"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tr-TR" smtClean="0"/>
              <a:t>Asıl metin stillerini düzenle</a:t>
            </a:r>
          </a:p>
        </p:txBody>
      </p:sp>
      <p:sp>
        <p:nvSpPr>
          <p:cNvPr id="6" name="İçerik Yer Tutucusu 5"/>
          <p:cNvSpPr>
            <a:spLocks noGrp="1"/>
          </p:cNvSpPr>
          <p:nvPr>
            <p:ph sz="quarter" idx="4"/>
          </p:nvPr>
        </p:nvSpPr>
        <p:spPr>
          <a:xfrm>
            <a:off x="4629150" y="2505075"/>
            <a:ext cx="3887391" cy="3684588"/>
          </a:xfrm>
        </p:spPr>
        <p:txBody>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pPr>
              <a:defRPr/>
            </a:pPr>
            <a:endParaRPr lang="tr-TR"/>
          </a:p>
        </p:txBody>
      </p:sp>
      <p:sp>
        <p:nvSpPr>
          <p:cNvPr id="8" name="Altbilgi Yer Tutucusu 7"/>
          <p:cNvSpPr>
            <a:spLocks noGrp="1"/>
          </p:cNvSpPr>
          <p:nvPr>
            <p:ph type="ftr" sz="quarter" idx="11"/>
          </p:nvPr>
        </p:nvSpPr>
        <p:spPr/>
        <p:txBody>
          <a:bodyPr/>
          <a:lstStyle/>
          <a:p>
            <a:pPr>
              <a:defRPr/>
            </a:pPr>
            <a:endParaRPr lang="tr-TR"/>
          </a:p>
        </p:txBody>
      </p:sp>
      <p:sp>
        <p:nvSpPr>
          <p:cNvPr id="9" name="Slayt Numarası Yer Tutucusu 8"/>
          <p:cNvSpPr>
            <a:spLocks noGrp="1"/>
          </p:cNvSpPr>
          <p:nvPr>
            <p:ph type="sldNum" sz="quarter" idx="12"/>
          </p:nvPr>
        </p:nvSpPr>
        <p:spPr/>
        <p:txBody>
          <a:bodyPr/>
          <a:lstStyle/>
          <a:p>
            <a:pPr>
              <a:defRPr/>
            </a:pPr>
            <a:fld id="{4AC14A26-8FC7-4466-90C1-A68B44635883}" type="slidenum">
              <a:rPr lang="tr-TR" smtClean="0"/>
              <a:pPr>
                <a:defRPr/>
              </a:pPr>
              <a:t>‹#›</a:t>
            </a:fld>
            <a:endParaRPr lang="tr-TR"/>
          </a:p>
        </p:txBody>
      </p:sp>
    </p:spTree>
    <p:extLst>
      <p:ext uri="{BB962C8B-B14F-4D97-AF65-F5344CB8AC3E}">
        <p14:creationId xmlns:p14="http://schemas.microsoft.com/office/powerpoint/2010/main" val="2605487830"/>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pPr>
              <a:defRPr/>
            </a:pPr>
            <a:endParaRPr lang="tr-TR"/>
          </a:p>
        </p:txBody>
      </p:sp>
      <p:sp>
        <p:nvSpPr>
          <p:cNvPr id="4" name="Altbilgi Yer Tutucusu 3"/>
          <p:cNvSpPr>
            <a:spLocks noGrp="1"/>
          </p:cNvSpPr>
          <p:nvPr>
            <p:ph type="ftr" sz="quarter" idx="11"/>
          </p:nvPr>
        </p:nvSpPr>
        <p:spPr/>
        <p:txBody>
          <a:bodyPr/>
          <a:lstStyle/>
          <a:p>
            <a:pPr>
              <a:defRPr/>
            </a:pPr>
            <a:endParaRPr lang="tr-TR"/>
          </a:p>
        </p:txBody>
      </p:sp>
      <p:sp>
        <p:nvSpPr>
          <p:cNvPr id="5" name="Slayt Numarası Yer Tutucusu 4"/>
          <p:cNvSpPr>
            <a:spLocks noGrp="1"/>
          </p:cNvSpPr>
          <p:nvPr>
            <p:ph type="sldNum" sz="quarter" idx="12"/>
          </p:nvPr>
        </p:nvSpPr>
        <p:spPr/>
        <p:txBody>
          <a:bodyPr/>
          <a:lstStyle/>
          <a:p>
            <a:pPr>
              <a:defRPr/>
            </a:pPr>
            <a:fld id="{A273D6FA-B3EF-407B-B203-65E8476E2F4C}" type="slidenum">
              <a:rPr lang="tr-TR" smtClean="0"/>
              <a:pPr>
                <a:defRPr/>
              </a:pPr>
              <a:t>‹#›</a:t>
            </a:fld>
            <a:endParaRPr lang="tr-TR"/>
          </a:p>
        </p:txBody>
      </p:sp>
    </p:spTree>
    <p:extLst>
      <p:ext uri="{BB962C8B-B14F-4D97-AF65-F5344CB8AC3E}">
        <p14:creationId xmlns:p14="http://schemas.microsoft.com/office/powerpoint/2010/main" val="1631015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pPr>
              <a:defRPr/>
            </a:pPr>
            <a:endParaRPr lang="tr-TR"/>
          </a:p>
        </p:txBody>
      </p:sp>
      <p:sp>
        <p:nvSpPr>
          <p:cNvPr id="3" name="Altbilgi Yer Tutucusu 2"/>
          <p:cNvSpPr>
            <a:spLocks noGrp="1"/>
          </p:cNvSpPr>
          <p:nvPr>
            <p:ph type="ftr" sz="quarter" idx="11"/>
          </p:nvPr>
        </p:nvSpPr>
        <p:spPr/>
        <p:txBody>
          <a:bodyPr/>
          <a:lstStyle/>
          <a:p>
            <a:pPr>
              <a:defRPr/>
            </a:pPr>
            <a:endParaRPr lang="tr-TR"/>
          </a:p>
        </p:txBody>
      </p:sp>
      <p:sp>
        <p:nvSpPr>
          <p:cNvPr id="4" name="Slayt Numarası Yer Tutucusu 3"/>
          <p:cNvSpPr>
            <a:spLocks noGrp="1"/>
          </p:cNvSpPr>
          <p:nvPr>
            <p:ph type="sldNum" sz="quarter" idx="12"/>
          </p:nvPr>
        </p:nvSpPr>
        <p:spPr/>
        <p:txBody>
          <a:bodyPr/>
          <a:lstStyle/>
          <a:p>
            <a:pPr>
              <a:defRPr/>
            </a:pPr>
            <a:fld id="{D83DFD76-7578-421E-BBD1-96E761E065A7}" type="slidenum">
              <a:rPr lang="tr-TR" smtClean="0"/>
              <a:pPr>
                <a:defRPr/>
              </a:pPr>
              <a:t>‹#›</a:t>
            </a:fld>
            <a:endParaRPr lang="tr-TR"/>
          </a:p>
        </p:txBody>
      </p:sp>
    </p:spTree>
    <p:extLst>
      <p:ext uri="{BB962C8B-B14F-4D97-AF65-F5344CB8AC3E}">
        <p14:creationId xmlns:p14="http://schemas.microsoft.com/office/powerpoint/2010/main" val="3470552037"/>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Unvan 1"/>
          <p:cNvSpPr>
            <a:spLocks noGrp="1"/>
          </p:cNvSpPr>
          <p:nvPr>
            <p:ph type="title"/>
          </p:nvPr>
        </p:nvSpPr>
        <p:spPr>
          <a:xfrm>
            <a:off x="629841" y="457200"/>
            <a:ext cx="2949178" cy="1600200"/>
          </a:xfrm>
        </p:spPr>
        <p:txBody>
          <a:bodyPr anchor="b"/>
          <a:lstStyle>
            <a:lvl1pPr>
              <a:defRPr sz="2400"/>
            </a:lvl1pPr>
          </a:lstStyle>
          <a:p>
            <a:r>
              <a:rPr lang="tr-TR" smtClean="0"/>
              <a:t>Asıl başlık stili için tıklatın</a:t>
            </a:r>
            <a:endParaRPr lang="tr-TR"/>
          </a:p>
        </p:txBody>
      </p:sp>
      <p:sp>
        <p:nvSpPr>
          <p:cNvPr id="3" name="İçerik Yer Tutucusu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smtClean="0"/>
              <a:t>Asıl metin stillerini düzenle</a:t>
            </a:r>
          </a:p>
        </p:txBody>
      </p:sp>
      <p:sp>
        <p:nvSpPr>
          <p:cNvPr id="5" name="Veri Yer Tutucusu 4"/>
          <p:cNvSpPr>
            <a:spLocks noGrp="1"/>
          </p:cNvSpPr>
          <p:nvPr>
            <p:ph type="dt" sz="half" idx="10"/>
          </p:nvPr>
        </p:nvSpPr>
        <p:spPr/>
        <p:txBody>
          <a:bodyPr/>
          <a:lstStyle/>
          <a:p>
            <a:pPr>
              <a:defRPr/>
            </a:pPr>
            <a:endParaRPr lang="tr-TR"/>
          </a:p>
        </p:txBody>
      </p:sp>
      <p:sp>
        <p:nvSpPr>
          <p:cNvPr id="6" name="Altbilgi Yer Tutucusu 5"/>
          <p:cNvSpPr>
            <a:spLocks noGrp="1"/>
          </p:cNvSpPr>
          <p:nvPr>
            <p:ph type="ftr" sz="quarter" idx="11"/>
          </p:nvPr>
        </p:nvSpPr>
        <p:spPr/>
        <p:txBody>
          <a:bodyPr/>
          <a:lstStyle/>
          <a:p>
            <a:pPr>
              <a:defRPr/>
            </a:pPr>
            <a:endParaRPr lang="tr-TR"/>
          </a:p>
        </p:txBody>
      </p:sp>
      <p:sp>
        <p:nvSpPr>
          <p:cNvPr id="7" name="Slayt Numarası Yer Tutucusu 6"/>
          <p:cNvSpPr>
            <a:spLocks noGrp="1"/>
          </p:cNvSpPr>
          <p:nvPr>
            <p:ph type="sldNum" sz="quarter" idx="12"/>
          </p:nvPr>
        </p:nvSpPr>
        <p:spPr/>
        <p:txBody>
          <a:bodyPr/>
          <a:lstStyle/>
          <a:p>
            <a:pPr>
              <a:defRPr/>
            </a:pPr>
            <a:fld id="{8561761B-90EE-44EF-AE9D-5DF4B2A7D583}" type="slidenum">
              <a:rPr lang="tr-TR" smtClean="0"/>
              <a:pPr>
                <a:defRPr/>
              </a:pPr>
              <a:t>‹#›</a:t>
            </a:fld>
            <a:endParaRPr lang="tr-TR"/>
          </a:p>
        </p:txBody>
      </p:sp>
    </p:spTree>
    <p:extLst>
      <p:ext uri="{BB962C8B-B14F-4D97-AF65-F5344CB8AC3E}">
        <p14:creationId xmlns:p14="http://schemas.microsoft.com/office/powerpoint/2010/main" val="536307173"/>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Unvan 1"/>
          <p:cNvSpPr>
            <a:spLocks noGrp="1"/>
          </p:cNvSpPr>
          <p:nvPr>
            <p:ph type="title"/>
          </p:nvPr>
        </p:nvSpPr>
        <p:spPr>
          <a:xfrm>
            <a:off x="629841" y="457200"/>
            <a:ext cx="2949178" cy="1600200"/>
          </a:xfrm>
        </p:spPr>
        <p:txBody>
          <a:bodyPr anchor="b"/>
          <a:lstStyle>
            <a:lvl1pPr>
              <a:defRPr sz="2400"/>
            </a:lvl1pPr>
          </a:lstStyle>
          <a:p>
            <a:r>
              <a:rPr lang="tr-TR" smtClean="0"/>
              <a:t>Asıl başlık stili için tıklatın</a:t>
            </a:r>
            <a:endParaRPr lang="tr-TR"/>
          </a:p>
        </p:txBody>
      </p:sp>
      <p:sp>
        <p:nvSpPr>
          <p:cNvPr id="3" name="Resim Yer Tutucusu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tr-TR"/>
          </a:p>
        </p:txBody>
      </p:sp>
      <p:sp>
        <p:nvSpPr>
          <p:cNvPr id="4" name="Metin Yer Tutucusu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tr-TR" smtClean="0"/>
              <a:t>Asıl metin stillerini düzenle</a:t>
            </a:r>
          </a:p>
        </p:txBody>
      </p:sp>
      <p:sp>
        <p:nvSpPr>
          <p:cNvPr id="5" name="Veri Yer Tutucusu 4"/>
          <p:cNvSpPr>
            <a:spLocks noGrp="1"/>
          </p:cNvSpPr>
          <p:nvPr>
            <p:ph type="dt" sz="half" idx="10"/>
          </p:nvPr>
        </p:nvSpPr>
        <p:spPr/>
        <p:txBody>
          <a:bodyPr/>
          <a:lstStyle/>
          <a:p>
            <a:pPr>
              <a:defRPr/>
            </a:pPr>
            <a:endParaRPr lang="tr-TR"/>
          </a:p>
        </p:txBody>
      </p:sp>
      <p:sp>
        <p:nvSpPr>
          <p:cNvPr id="6" name="Altbilgi Yer Tutucusu 5"/>
          <p:cNvSpPr>
            <a:spLocks noGrp="1"/>
          </p:cNvSpPr>
          <p:nvPr>
            <p:ph type="ftr" sz="quarter" idx="11"/>
          </p:nvPr>
        </p:nvSpPr>
        <p:spPr/>
        <p:txBody>
          <a:bodyPr/>
          <a:lstStyle/>
          <a:p>
            <a:pPr>
              <a:defRPr/>
            </a:pPr>
            <a:endParaRPr lang="tr-TR"/>
          </a:p>
        </p:txBody>
      </p:sp>
      <p:sp>
        <p:nvSpPr>
          <p:cNvPr id="7" name="Slayt Numarası Yer Tutucusu 6"/>
          <p:cNvSpPr>
            <a:spLocks noGrp="1"/>
          </p:cNvSpPr>
          <p:nvPr>
            <p:ph type="sldNum" sz="quarter" idx="12"/>
          </p:nvPr>
        </p:nvSpPr>
        <p:spPr/>
        <p:txBody>
          <a:bodyPr/>
          <a:lstStyle/>
          <a:p>
            <a:pPr>
              <a:defRPr/>
            </a:pPr>
            <a:fld id="{20521831-CFBB-4EA3-A3F2-B56F219C3EB7}" type="slidenum">
              <a:rPr lang="tr-TR" smtClean="0"/>
              <a:pPr>
                <a:defRPr/>
              </a:pPr>
              <a:t>‹#›</a:t>
            </a:fld>
            <a:endParaRPr lang="tr-TR"/>
          </a:p>
        </p:txBody>
      </p:sp>
    </p:spTree>
    <p:extLst>
      <p:ext uri="{BB962C8B-B14F-4D97-AF65-F5344CB8AC3E}">
        <p14:creationId xmlns:p14="http://schemas.microsoft.com/office/powerpoint/2010/main" val="2020505610"/>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pPr>
              <a:defRPr/>
            </a:pPr>
            <a:endParaRPr lang="tr-TR"/>
          </a:p>
        </p:txBody>
      </p:sp>
      <p:sp>
        <p:nvSpPr>
          <p:cNvPr id="5" name="Altbilgi Yer Tutucusu 4"/>
          <p:cNvSpPr>
            <a:spLocks noGrp="1"/>
          </p:cNvSpPr>
          <p:nvPr>
            <p:ph type="ftr" sz="quarter" idx="11"/>
          </p:nvPr>
        </p:nvSpPr>
        <p:spPr/>
        <p:txBody>
          <a:bodyPr/>
          <a:lstStyle/>
          <a:p>
            <a:pPr>
              <a:defRPr/>
            </a:pPr>
            <a:endParaRPr lang="tr-TR"/>
          </a:p>
        </p:txBody>
      </p:sp>
      <p:sp>
        <p:nvSpPr>
          <p:cNvPr id="6" name="Slayt Numarası Yer Tutucusu 5"/>
          <p:cNvSpPr>
            <a:spLocks noGrp="1"/>
          </p:cNvSpPr>
          <p:nvPr>
            <p:ph type="sldNum" sz="quarter" idx="12"/>
          </p:nvPr>
        </p:nvSpPr>
        <p:spPr/>
        <p:txBody>
          <a:bodyPr/>
          <a:lstStyle/>
          <a:p>
            <a:pPr>
              <a:defRPr/>
            </a:pPr>
            <a:fld id="{DFCE732A-A61D-4E95-B25A-8234F68BD996}" type="slidenum">
              <a:rPr lang="tr-TR" smtClean="0"/>
              <a:pPr>
                <a:defRPr/>
              </a:pPr>
              <a:t>‹#›</a:t>
            </a:fld>
            <a:endParaRPr lang="tr-TR"/>
          </a:p>
        </p:txBody>
      </p:sp>
    </p:spTree>
    <p:extLst>
      <p:ext uri="{BB962C8B-B14F-4D97-AF65-F5344CB8AC3E}">
        <p14:creationId xmlns:p14="http://schemas.microsoft.com/office/powerpoint/2010/main" val="2647142207"/>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543675" y="365125"/>
            <a:ext cx="1971675" cy="5811838"/>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628650" y="365125"/>
            <a:ext cx="5800725" cy="5811838"/>
          </a:xfrm>
        </p:spPr>
        <p:txBody>
          <a:bodyPr vert="eaVert"/>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pPr>
              <a:defRPr/>
            </a:pPr>
            <a:endParaRPr lang="tr-TR"/>
          </a:p>
        </p:txBody>
      </p:sp>
      <p:sp>
        <p:nvSpPr>
          <p:cNvPr id="5" name="Altbilgi Yer Tutucusu 4"/>
          <p:cNvSpPr>
            <a:spLocks noGrp="1"/>
          </p:cNvSpPr>
          <p:nvPr>
            <p:ph type="ftr" sz="quarter" idx="11"/>
          </p:nvPr>
        </p:nvSpPr>
        <p:spPr/>
        <p:txBody>
          <a:bodyPr/>
          <a:lstStyle/>
          <a:p>
            <a:pPr>
              <a:defRPr/>
            </a:pPr>
            <a:endParaRPr lang="tr-TR"/>
          </a:p>
        </p:txBody>
      </p:sp>
      <p:sp>
        <p:nvSpPr>
          <p:cNvPr id="6" name="Slayt Numarası Yer Tutucusu 5"/>
          <p:cNvSpPr>
            <a:spLocks noGrp="1"/>
          </p:cNvSpPr>
          <p:nvPr>
            <p:ph type="sldNum" sz="quarter" idx="12"/>
          </p:nvPr>
        </p:nvSpPr>
        <p:spPr/>
        <p:txBody>
          <a:bodyPr/>
          <a:lstStyle/>
          <a:p>
            <a:pPr>
              <a:defRPr/>
            </a:pPr>
            <a:fld id="{AD4475FD-5597-4A34-A660-E628784B8721}" type="slidenum">
              <a:rPr lang="tr-TR" smtClean="0"/>
              <a:pPr>
                <a:defRPr/>
              </a:pPr>
              <a:t>‹#›</a:t>
            </a:fld>
            <a:endParaRPr lang="tr-TR"/>
          </a:p>
        </p:txBody>
      </p:sp>
    </p:spTree>
    <p:extLst>
      <p:ext uri="{BB962C8B-B14F-4D97-AF65-F5344CB8AC3E}">
        <p14:creationId xmlns:p14="http://schemas.microsoft.com/office/powerpoint/2010/main" val="322416046"/>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Özel Düze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pPr>
              <a:defRPr/>
            </a:pPr>
            <a:endParaRPr lang="tr-TR"/>
          </a:p>
        </p:txBody>
      </p:sp>
      <p:sp>
        <p:nvSpPr>
          <p:cNvPr id="4" name="3 Altbilgi Yer Tutucusu"/>
          <p:cNvSpPr>
            <a:spLocks noGrp="1"/>
          </p:cNvSpPr>
          <p:nvPr>
            <p:ph type="ftr" sz="quarter" idx="11"/>
          </p:nvPr>
        </p:nvSpPr>
        <p:spPr/>
        <p:txBody>
          <a:bodyPr/>
          <a:lstStyle/>
          <a:p>
            <a:pPr>
              <a:defRPr/>
            </a:pPr>
            <a:endParaRPr lang="tr-TR"/>
          </a:p>
        </p:txBody>
      </p:sp>
      <p:sp>
        <p:nvSpPr>
          <p:cNvPr id="5" name="4 Slayt Numarası Yer Tutucusu"/>
          <p:cNvSpPr>
            <a:spLocks noGrp="1"/>
          </p:cNvSpPr>
          <p:nvPr>
            <p:ph type="sldNum" sz="quarter" idx="12"/>
          </p:nvPr>
        </p:nvSpPr>
        <p:spPr/>
        <p:txBody>
          <a:bodyPr/>
          <a:lstStyle/>
          <a:p>
            <a:pPr>
              <a:defRPr/>
            </a:pPr>
            <a:fld id="{DFCE732A-A61D-4E95-B25A-8234F68BD996}" type="slidenum">
              <a:rPr lang="tr-TR" smtClean="0"/>
              <a:pPr>
                <a:defRPr/>
              </a:pPr>
              <a:t>‹#›</a:t>
            </a:fld>
            <a:endParaRPr lang="tr-T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st7">
    <p:spTree>
      <p:nvGrpSpPr>
        <p:cNvPr id="1" name=""/>
        <p:cNvGrpSpPr/>
        <p:nvPr/>
      </p:nvGrpSpPr>
      <p:grpSpPr>
        <a:xfrm>
          <a:off x="0" y="0"/>
          <a:ext cx="0" cy="0"/>
          <a:chOff x="0" y="0"/>
          <a:chExt cx="0" cy="0"/>
        </a:xfrm>
      </p:grpSpPr>
      <p:grpSp>
        <p:nvGrpSpPr>
          <p:cNvPr id="3" name="Grup 3"/>
          <p:cNvGrpSpPr>
            <a:grpSpLocks/>
          </p:cNvGrpSpPr>
          <p:nvPr userDrawn="1"/>
        </p:nvGrpSpPr>
        <p:grpSpPr bwMode="auto">
          <a:xfrm>
            <a:off x="0" y="6145217"/>
            <a:ext cx="9144000" cy="548522"/>
            <a:chOff x="0" y="5719432"/>
            <a:chExt cx="9144000" cy="1034319"/>
          </a:xfrm>
        </p:grpSpPr>
        <p:pic>
          <p:nvPicPr>
            <p:cNvPr id="4" name="Resim 4"/>
            <p:cNvPicPr>
              <a:picLocks noChangeAspect="1"/>
            </p:cNvPicPr>
            <p:nvPr/>
          </p:nvPicPr>
          <p:blipFill>
            <a:blip r:embed="rId2" cstate="print"/>
            <a:srcRect/>
            <a:stretch>
              <a:fillRect/>
            </a:stretch>
          </p:blipFill>
          <p:spPr bwMode="auto">
            <a:xfrm>
              <a:off x="0" y="5719432"/>
              <a:ext cx="9144000" cy="346009"/>
            </a:xfrm>
            <a:prstGeom prst="rect">
              <a:avLst/>
            </a:prstGeom>
            <a:noFill/>
            <a:ln w="9525">
              <a:noFill/>
              <a:miter lim="800000"/>
              <a:headEnd/>
              <a:tailEnd/>
            </a:ln>
          </p:spPr>
        </p:pic>
        <p:sp>
          <p:nvSpPr>
            <p:cNvPr id="5" name="Alt Başlık 2"/>
            <p:cNvSpPr txBox="1">
              <a:spLocks/>
            </p:cNvSpPr>
            <p:nvPr/>
          </p:nvSpPr>
          <p:spPr bwMode="auto">
            <a:xfrm>
              <a:off x="5148064" y="6278568"/>
              <a:ext cx="3960000" cy="475183"/>
            </a:xfrm>
            <a:prstGeom prst="rect">
              <a:avLst/>
            </a:prstGeom>
            <a:noFill/>
            <a:ln w="9525">
              <a:noFill/>
              <a:miter lim="800000"/>
              <a:headEnd/>
              <a:tailEnd/>
            </a:ln>
          </p:spPr>
          <p:txBody>
            <a:bodyPr/>
            <a:lstStyle/>
            <a:p>
              <a:pPr algn="ctr">
                <a:spcBef>
                  <a:spcPct val="20000"/>
                </a:spcBef>
                <a:buFont typeface="Arial" charset="0"/>
                <a:buNone/>
              </a:pPr>
              <a:r>
                <a:rPr lang="tr-TR" sz="1500" dirty="0" smtClean="0">
                  <a:solidFill>
                    <a:srgbClr val="898989"/>
                  </a:solidFill>
                </a:rPr>
                <a:t>BSM 210 Ayrık </a:t>
              </a:r>
              <a:r>
                <a:rPr lang="tr-TR" sz="1500" dirty="0" err="1" smtClean="0">
                  <a:solidFill>
                    <a:srgbClr val="898989"/>
                  </a:solidFill>
                </a:rPr>
                <a:t>İşlemsel</a:t>
              </a:r>
              <a:r>
                <a:rPr lang="tr-TR" sz="1500" dirty="0" smtClean="0">
                  <a:solidFill>
                    <a:srgbClr val="898989"/>
                  </a:solidFill>
                </a:rPr>
                <a:t> Yapılar 2017-2018 Bahar</a:t>
              </a:r>
              <a:endParaRPr lang="tr-TR" sz="1500" dirty="0">
                <a:solidFill>
                  <a:srgbClr val="898989"/>
                </a:solidFill>
              </a:endParaRPr>
            </a:p>
          </p:txBody>
        </p:sp>
      </p:grpSp>
      <p:pic>
        <p:nvPicPr>
          <p:cNvPr id="6" name="İçerik Yer Tutucusu 10"/>
          <p:cNvPicPr>
            <a:picLocks noChangeAspect="1"/>
          </p:cNvPicPr>
          <p:nvPr userDrawn="1"/>
        </p:nvPicPr>
        <p:blipFill>
          <a:blip r:embed="rId3" cstate="print"/>
          <a:srcRect/>
          <a:stretch>
            <a:fillRect/>
          </a:stretch>
        </p:blipFill>
        <p:spPr bwMode="auto">
          <a:xfrm>
            <a:off x="414338" y="6329363"/>
            <a:ext cx="2011362" cy="463550"/>
          </a:xfrm>
          <a:prstGeom prst="rect">
            <a:avLst/>
          </a:prstGeom>
          <a:noFill/>
          <a:ln w="9525">
            <a:noFill/>
            <a:miter lim="800000"/>
            <a:headEnd/>
            <a:tailEnd/>
          </a:ln>
        </p:spPr>
      </p:pic>
      <p:pic>
        <p:nvPicPr>
          <p:cNvPr id="7" name="Resim 4"/>
          <p:cNvPicPr>
            <a:picLocks noChangeAspect="1"/>
          </p:cNvPicPr>
          <p:nvPr userDrawn="1"/>
        </p:nvPicPr>
        <p:blipFill>
          <a:blip r:embed="rId2" cstate="print"/>
          <a:srcRect/>
          <a:stretch>
            <a:fillRect/>
          </a:stretch>
        </p:blipFill>
        <p:spPr bwMode="auto">
          <a:xfrm>
            <a:off x="-416" y="908720"/>
            <a:ext cx="9144000" cy="183496"/>
          </a:xfrm>
          <a:prstGeom prst="rect">
            <a:avLst/>
          </a:prstGeom>
          <a:noFill/>
          <a:ln w="9525">
            <a:noFill/>
            <a:miter lim="800000"/>
            <a:headEnd/>
            <a:tailEnd/>
          </a:ln>
        </p:spPr>
      </p:pic>
      <p:sp>
        <p:nvSpPr>
          <p:cNvPr id="8" name="1 Başlık"/>
          <p:cNvSpPr>
            <a:spLocks noGrp="1"/>
          </p:cNvSpPr>
          <p:nvPr>
            <p:ph type="title"/>
          </p:nvPr>
        </p:nvSpPr>
        <p:spPr>
          <a:xfrm>
            <a:off x="179512" y="116632"/>
            <a:ext cx="8784976" cy="791438"/>
          </a:xfrm>
          <a:prstGeom prst="rect">
            <a:avLst/>
          </a:prstGeom>
        </p:spPr>
        <p:txBody>
          <a:bodyPr/>
          <a:lstStyle>
            <a:lvl1pPr>
              <a:defRPr sz="4000" b="0">
                <a:solidFill>
                  <a:schemeClr val="accent5">
                    <a:lumMod val="50000"/>
                  </a:schemeClr>
                </a:solidFill>
                <a:effectLst/>
                <a:latin typeface="+mn-lt"/>
              </a:defRPr>
            </a:lvl1pPr>
          </a:lstStyle>
          <a:p>
            <a:r>
              <a:rPr lang="tr-TR" dirty="0" smtClean="0"/>
              <a:t>Asıl başlık stili için tıklatın</a:t>
            </a:r>
            <a:endParaRPr lang="tr-TR" dirty="0"/>
          </a:p>
        </p:txBody>
      </p:sp>
      <p:sp>
        <p:nvSpPr>
          <p:cNvPr id="9" name="İçerik Yer Tutucusu 2"/>
          <p:cNvSpPr>
            <a:spLocks noGrp="1"/>
          </p:cNvSpPr>
          <p:nvPr>
            <p:ph idx="1"/>
          </p:nvPr>
        </p:nvSpPr>
        <p:spPr>
          <a:xfrm>
            <a:off x="179512" y="1180445"/>
            <a:ext cx="8784976" cy="4851746"/>
          </a:xfrm>
        </p:spPr>
        <p:txBody>
          <a:bodyPr/>
          <a:lstStyle>
            <a:lvl1pPr marL="171450" indent="-171450">
              <a:buClr>
                <a:schemeClr val="accent1">
                  <a:lumMod val="50000"/>
                </a:schemeClr>
              </a:buClr>
              <a:buFont typeface="Wingdings" panose="05000000000000000000" pitchFamily="2" charset="2"/>
              <a:buChar char="q"/>
              <a:defRPr sz="2400"/>
            </a:lvl1pPr>
            <a:lvl2pPr marL="514350" indent="-171450">
              <a:buClr>
                <a:schemeClr val="accent1">
                  <a:lumMod val="50000"/>
                </a:schemeClr>
              </a:buClr>
              <a:buFont typeface="Wingdings" panose="05000000000000000000" pitchFamily="2" charset="2"/>
              <a:buChar char="q"/>
              <a:defRPr sz="2100"/>
            </a:lvl2pPr>
            <a:lvl3pPr marL="857250" indent="-171450">
              <a:buClr>
                <a:schemeClr val="accent1">
                  <a:lumMod val="50000"/>
                </a:schemeClr>
              </a:buClr>
              <a:buFont typeface="Wingdings" panose="05000000000000000000" pitchFamily="2" charset="2"/>
              <a:buChar char="q"/>
              <a:defRPr sz="1800"/>
            </a:lvl3pPr>
            <a:lvl4pPr marL="1200150" indent="-171450">
              <a:buClr>
                <a:schemeClr val="accent1">
                  <a:lumMod val="50000"/>
                </a:schemeClr>
              </a:buClr>
              <a:buFont typeface="Wingdings" panose="05000000000000000000" pitchFamily="2" charset="2"/>
              <a:buChar char="q"/>
              <a:defRPr sz="1500"/>
            </a:lvl4pPr>
            <a:lvl5pPr marL="1543050" indent="-171450">
              <a:buClr>
                <a:schemeClr val="accent1">
                  <a:lumMod val="50000"/>
                </a:schemeClr>
              </a:buClr>
              <a:buFont typeface="Wingdings" panose="05000000000000000000" pitchFamily="2" charset="2"/>
              <a:buChar char="q"/>
              <a:defRPr sz="1500"/>
            </a:lvl5pPr>
            <a:lvl6pPr>
              <a:defRPr sz="1500"/>
            </a:lvl6pPr>
            <a:lvl7pPr>
              <a:defRPr sz="1500"/>
            </a:lvl7pPr>
            <a:lvl8pPr>
              <a:defRPr sz="1500"/>
            </a:lvl8pPr>
            <a:lvl9pPr>
              <a:defRPr sz="1500"/>
            </a:lvl9pPr>
          </a:lstStyle>
          <a:p>
            <a:pPr lvl="0"/>
            <a:r>
              <a:rPr lang="tr-TR" dirty="0" smtClean="0"/>
              <a:t>Asıl metin stillerini düzenle</a:t>
            </a:r>
          </a:p>
          <a:p>
            <a:pPr lvl="1"/>
            <a:r>
              <a:rPr lang="tr-TR" dirty="0" smtClean="0"/>
              <a:t>İkinci düzey</a:t>
            </a:r>
          </a:p>
          <a:p>
            <a:pPr lvl="2"/>
            <a:r>
              <a:rPr lang="tr-TR" dirty="0" smtClean="0"/>
              <a:t>Üçüncü düzey</a:t>
            </a:r>
          </a:p>
          <a:p>
            <a:pPr lvl="3"/>
            <a:r>
              <a:rPr lang="tr-TR" dirty="0" smtClean="0"/>
              <a:t>Dördüncü düzey</a:t>
            </a:r>
          </a:p>
          <a:p>
            <a:pPr lvl="4"/>
            <a:r>
              <a:rPr lang="tr-TR" dirty="0" smtClean="0"/>
              <a:t>Beşinci düzey</a:t>
            </a:r>
            <a:endParaRPr lang="tr-TR" dirty="0"/>
          </a:p>
        </p:txBody>
      </p:sp>
    </p:spTree>
    <p:extLst>
      <p:ext uri="{BB962C8B-B14F-4D97-AF65-F5344CB8AC3E}">
        <p14:creationId xmlns:p14="http://schemas.microsoft.com/office/powerpoint/2010/main" val="268750099"/>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est">
    <p:spTree>
      <p:nvGrpSpPr>
        <p:cNvPr id="1" name=""/>
        <p:cNvGrpSpPr/>
        <p:nvPr/>
      </p:nvGrpSpPr>
      <p:grpSpPr>
        <a:xfrm>
          <a:off x="0" y="0"/>
          <a:ext cx="0" cy="0"/>
          <a:chOff x="0" y="0"/>
          <a:chExt cx="0" cy="0"/>
        </a:xfrm>
      </p:grpSpPr>
      <p:grpSp>
        <p:nvGrpSpPr>
          <p:cNvPr id="3" name="Grup 3"/>
          <p:cNvGrpSpPr>
            <a:grpSpLocks/>
          </p:cNvGrpSpPr>
          <p:nvPr userDrawn="1"/>
        </p:nvGrpSpPr>
        <p:grpSpPr bwMode="auto">
          <a:xfrm>
            <a:off x="0" y="6145217"/>
            <a:ext cx="9144000" cy="548522"/>
            <a:chOff x="0" y="5719432"/>
            <a:chExt cx="9144000" cy="1034319"/>
          </a:xfrm>
        </p:grpSpPr>
        <p:pic>
          <p:nvPicPr>
            <p:cNvPr id="4" name="Resim 4"/>
            <p:cNvPicPr>
              <a:picLocks noChangeAspect="1"/>
            </p:cNvPicPr>
            <p:nvPr/>
          </p:nvPicPr>
          <p:blipFill>
            <a:blip r:embed="rId2" cstate="print"/>
            <a:srcRect/>
            <a:stretch>
              <a:fillRect/>
            </a:stretch>
          </p:blipFill>
          <p:spPr bwMode="auto">
            <a:xfrm>
              <a:off x="0" y="5719432"/>
              <a:ext cx="9144000" cy="346009"/>
            </a:xfrm>
            <a:prstGeom prst="rect">
              <a:avLst/>
            </a:prstGeom>
            <a:noFill/>
            <a:ln w="9525">
              <a:noFill/>
              <a:miter lim="800000"/>
              <a:headEnd/>
              <a:tailEnd/>
            </a:ln>
          </p:spPr>
        </p:pic>
        <p:sp>
          <p:nvSpPr>
            <p:cNvPr id="5" name="Alt Başlık 2"/>
            <p:cNvSpPr txBox="1">
              <a:spLocks/>
            </p:cNvSpPr>
            <p:nvPr/>
          </p:nvSpPr>
          <p:spPr bwMode="auto">
            <a:xfrm>
              <a:off x="5148064" y="6278568"/>
              <a:ext cx="3960000" cy="475183"/>
            </a:xfrm>
            <a:prstGeom prst="rect">
              <a:avLst/>
            </a:prstGeom>
            <a:noFill/>
            <a:ln w="9525">
              <a:noFill/>
              <a:miter lim="800000"/>
              <a:headEnd/>
              <a:tailEnd/>
            </a:ln>
          </p:spPr>
          <p:txBody>
            <a:bodyPr/>
            <a:lstStyle/>
            <a:p>
              <a:pPr algn="ctr">
                <a:spcBef>
                  <a:spcPct val="20000"/>
                </a:spcBef>
                <a:buFont typeface="Arial" charset="0"/>
                <a:buNone/>
              </a:pPr>
              <a:r>
                <a:rPr lang="tr-TR" sz="1500" dirty="0" smtClean="0">
                  <a:solidFill>
                    <a:srgbClr val="898989"/>
                  </a:solidFill>
                </a:rPr>
                <a:t>BSM 104 Web Teknolojileri 2017-2018 Bahar</a:t>
              </a:r>
              <a:endParaRPr lang="tr-TR" sz="1500" dirty="0">
                <a:solidFill>
                  <a:srgbClr val="898989"/>
                </a:solidFill>
              </a:endParaRPr>
            </a:p>
          </p:txBody>
        </p:sp>
      </p:grpSp>
      <p:pic>
        <p:nvPicPr>
          <p:cNvPr id="6" name="İçerik Yer Tutucusu 10"/>
          <p:cNvPicPr>
            <a:picLocks noChangeAspect="1"/>
          </p:cNvPicPr>
          <p:nvPr userDrawn="1"/>
        </p:nvPicPr>
        <p:blipFill>
          <a:blip r:embed="rId3" cstate="print"/>
          <a:srcRect/>
          <a:stretch>
            <a:fillRect/>
          </a:stretch>
        </p:blipFill>
        <p:spPr bwMode="auto">
          <a:xfrm>
            <a:off x="414338" y="6329363"/>
            <a:ext cx="2011362" cy="463550"/>
          </a:xfrm>
          <a:prstGeom prst="rect">
            <a:avLst/>
          </a:prstGeom>
          <a:noFill/>
          <a:ln w="9525">
            <a:noFill/>
            <a:miter lim="800000"/>
            <a:headEnd/>
            <a:tailEnd/>
          </a:ln>
        </p:spPr>
      </p:pic>
      <p:pic>
        <p:nvPicPr>
          <p:cNvPr id="7" name="Resim 4"/>
          <p:cNvPicPr>
            <a:picLocks noChangeAspect="1"/>
          </p:cNvPicPr>
          <p:nvPr userDrawn="1"/>
        </p:nvPicPr>
        <p:blipFill>
          <a:blip r:embed="rId2" cstate="print"/>
          <a:srcRect/>
          <a:stretch>
            <a:fillRect/>
          </a:stretch>
        </p:blipFill>
        <p:spPr bwMode="auto">
          <a:xfrm>
            <a:off x="-416" y="908720"/>
            <a:ext cx="9144000" cy="183496"/>
          </a:xfrm>
          <a:prstGeom prst="rect">
            <a:avLst/>
          </a:prstGeom>
          <a:noFill/>
          <a:ln w="9525">
            <a:noFill/>
            <a:miter lim="800000"/>
            <a:headEnd/>
            <a:tailEnd/>
          </a:ln>
        </p:spPr>
      </p:pic>
    </p:spTree>
    <p:extLst>
      <p:ext uri="{BB962C8B-B14F-4D97-AF65-F5344CB8AC3E}">
        <p14:creationId xmlns:p14="http://schemas.microsoft.com/office/powerpoint/2010/main" val="145610712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tr-TR" smtClean="0"/>
              <a:t>Asıl metin stillerini düzenle</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tr-TR"/>
          </a:p>
        </p:txBody>
      </p:sp>
      <p:sp>
        <p:nvSpPr>
          <p:cNvPr id="5" name="Altbilgi Yer Tutucusu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tr-TR"/>
          </a:p>
        </p:txBody>
      </p:sp>
      <p:sp>
        <p:nvSpPr>
          <p:cNvPr id="6" name="Slayt Numarası Yer Tutucusu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DFCE732A-A61D-4E95-B25A-8234F68BD996}" type="slidenum">
              <a:rPr lang="tr-TR" smtClean="0"/>
              <a:pPr>
                <a:defRPr/>
              </a:pPr>
              <a:t>‹#›</a:t>
            </a:fld>
            <a:endParaRPr lang="tr-TR"/>
          </a:p>
        </p:txBody>
      </p:sp>
    </p:spTree>
    <p:extLst>
      <p:ext uri="{BB962C8B-B14F-4D97-AF65-F5344CB8AC3E}">
        <p14:creationId xmlns:p14="http://schemas.microsoft.com/office/powerpoint/2010/main" val="11220614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694" r:id="rId13"/>
    <p:sldLayoutId id="2147483695" r:id="rId14"/>
  </p:sldLayoutIdLst>
  <p:timing>
    <p:tnLst>
      <p:par>
        <p:cTn id="1" dur="indefinite" restart="never" nodeType="tmRoot"/>
      </p:par>
    </p:tnLst>
  </p:timing>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tr-T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13.x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395536" y="1700808"/>
            <a:ext cx="8352928" cy="1875551"/>
          </a:xfrm>
        </p:spPr>
        <p:txBody>
          <a:bodyPr rtlCol="0">
            <a:noAutofit/>
          </a:bodyPr>
          <a:lstStyle/>
          <a:p>
            <a:pPr fontAlgn="auto">
              <a:spcAft>
                <a:spcPts val="0"/>
              </a:spcAft>
              <a:defRPr/>
            </a:pPr>
            <a:r>
              <a:rPr lang="tr-TR" sz="4000" b="1" dirty="0" smtClean="0">
                <a:solidFill>
                  <a:schemeClr val="tx1">
                    <a:lumMod val="65000"/>
                    <a:lumOff val="35000"/>
                  </a:schemeClr>
                </a:solidFill>
                <a:cs typeface="Arial" pitchFamily="34" charset="0"/>
              </a:rPr>
              <a:t>Ayrık </a:t>
            </a:r>
            <a:r>
              <a:rPr lang="tr-TR" sz="4000" b="1" dirty="0" err="1" smtClean="0">
                <a:solidFill>
                  <a:schemeClr val="tx1">
                    <a:lumMod val="65000"/>
                    <a:lumOff val="35000"/>
                  </a:schemeClr>
                </a:solidFill>
                <a:cs typeface="Arial" pitchFamily="34" charset="0"/>
              </a:rPr>
              <a:t>İşlemsel</a:t>
            </a:r>
            <a:r>
              <a:rPr lang="tr-TR" sz="4000" b="1" dirty="0" smtClean="0">
                <a:solidFill>
                  <a:schemeClr val="tx1">
                    <a:lumMod val="65000"/>
                    <a:lumOff val="35000"/>
                  </a:schemeClr>
                </a:solidFill>
                <a:cs typeface="Arial" pitchFamily="34" charset="0"/>
              </a:rPr>
              <a:t> Yapılar</a:t>
            </a:r>
            <a:br>
              <a:rPr lang="tr-TR" sz="4000" b="1" dirty="0" smtClean="0">
                <a:solidFill>
                  <a:schemeClr val="tx1">
                    <a:lumMod val="65000"/>
                    <a:lumOff val="35000"/>
                  </a:schemeClr>
                </a:solidFill>
                <a:cs typeface="Arial" pitchFamily="34" charset="0"/>
              </a:rPr>
            </a:br>
            <a:r>
              <a:rPr lang="tr-TR" sz="4000" b="1" dirty="0" smtClean="0">
                <a:solidFill>
                  <a:srgbClr val="C00000"/>
                </a:solidFill>
                <a:cs typeface="Arial" pitchFamily="34" charset="0"/>
              </a:rPr>
              <a:t>KRİPTOGRAFİ</a:t>
            </a:r>
            <a:br>
              <a:rPr lang="tr-TR" sz="4000" b="1" dirty="0" smtClean="0">
                <a:solidFill>
                  <a:srgbClr val="C00000"/>
                </a:solidFill>
                <a:cs typeface="Arial" pitchFamily="34" charset="0"/>
              </a:rPr>
            </a:br>
            <a:endParaRPr lang="tr-TR" sz="3600" b="1" dirty="0">
              <a:solidFill>
                <a:schemeClr val="tx1">
                  <a:lumMod val="65000"/>
                  <a:lumOff val="35000"/>
                </a:schemeClr>
              </a:solidFill>
              <a:latin typeface="Times New Roman" pitchFamily="18" charset="0"/>
              <a:cs typeface="Times New Roman" pitchFamily="18" charset="0"/>
            </a:endParaRPr>
          </a:p>
        </p:txBody>
      </p:sp>
      <p:sp>
        <p:nvSpPr>
          <p:cNvPr id="3" name="Alt Başlık 2"/>
          <p:cNvSpPr>
            <a:spLocks noGrp="1"/>
          </p:cNvSpPr>
          <p:nvPr>
            <p:ph type="subTitle" idx="1"/>
          </p:nvPr>
        </p:nvSpPr>
        <p:spPr>
          <a:xfrm>
            <a:off x="179512" y="3789363"/>
            <a:ext cx="8784976" cy="1439837"/>
          </a:xfrm>
        </p:spPr>
        <p:txBody>
          <a:bodyPr rtlCol="0">
            <a:noAutofit/>
          </a:bodyPr>
          <a:lstStyle/>
          <a:p>
            <a:pPr fontAlgn="auto">
              <a:spcAft>
                <a:spcPts val="0"/>
              </a:spcAft>
              <a:buFont typeface="Arial" pitchFamily="34" charset="0"/>
              <a:buNone/>
              <a:defRPr/>
            </a:pPr>
            <a:r>
              <a:rPr lang="tr-TR" sz="2000" b="1" dirty="0" smtClean="0">
                <a:solidFill>
                  <a:schemeClr val="tx1">
                    <a:lumMod val="75000"/>
                    <a:lumOff val="25000"/>
                  </a:schemeClr>
                </a:solidFill>
                <a:latin typeface="Arial" pitchFamily="34" charset="0"/>
                <a:cs typeface="Arial" pitchFamily="34" charset="0"/>
              </a:rPr>
              <a:t>Doç. Dr. Nilüfer YURTAY</a:t>
            </a:r>
          </a:p>
          <a:p>
            <a:pPr fontAlgn="auto">
              <a:spcAft>
                <a:spcPts val="0"/>
              </a:spcAft>
              <a:buFont typeface="Arial" pitchFamily="34" charset="0"/>
              <a:buNone/>
              <a:defRPr/>
            </a:pPr>
            <a:r>
              <a:rPr lang="tr-TR" sz="2000" b="1" dirty="0" smtClean="0">
                <a:solidFill>
                  <a:schemeClr val="tx1">
                    <a:lumMod val="75000"/>
                    <a:lumOff val="25000"/>
                  </a:schemeClr>
                </a:solidFill>
                <a:latin typeface="Arial" pitchFamily="34" charset="0"/>
                <a:cs typeface="Arial" pitchFamily="34" charset="0"/>
              </a:rPr>
              <a:t>Arş. Gör. Dr. </a:t>
            </a:r>
            <a:r>
              <a:rPr lang="tr-TR" sz="2000" b="1" dirty="0" err="1" smtClean="0">
                <a:solidFill>
                  <a:schemeClr val="tx1">
                    <a:lumMod val="75000"/>
                    <a:lumOff val="25000"/>
                  </a:schemeClr>
                </a:solidFill>
                <a:latin typeface="Arial" pitchFamily="34" charset="0"/>
                <a:cs typeface="Arial" pitchFamily="34" charset="0"/>
              </a:rPr>
              <a:t>Gülüzar</a:t>
            </a:r>
            <a:r>
              <a:rPr lang="tr-TR" sz="2000" b="1" dirty="0" smtClean="0">
                <a:solidFill>
                  <a:schemeClr val="tx1">
                    <a:lumMod val="75000"/>
                    <a:lumOff val="25000"/>
                  </a:schemeClr>
                </a:solidFill>
                <a:latin typeface="Arial" pitchFamily="34" charset="0"/>
                <a:cs typeface="Arial" pitchFamily="34" charset="0"/>
              </a:rPr>
              <a:t> ÇİT</a:t>
            </a:r>
          </a:p>
          <a:p>
            <a:pPr fontAlgn="auto">
              <a:spcAft>
                <a:spcPts val="0"/>
              </a:spcAft>
              <a:buFont typeface="Arial" pitchFamily="34" charset="0"/>
              <a:buNone/>
              <a:defRPr/>
            </a:pPr>
            <a:endParaRPr lang="tr-TR" sz="1600" dirty="0">
              <a:solidFill>
                <a:schemeClr val="tx1">
                  <a:lumMod val="75000"/>
                  <a:lumOff val="25000"/>
                </a:schemeClr>
              </a:solidFill>
              <a:latin typeface="Arial" pitchFamily="34" charset="0"/>
              <a:cs typeface="Arial" pitchFamily="34" charset="0"/>
            </a:endParaRPr>
          </a:p>
        </p:txBody>
      </p:sp>
      <p:pic>
        <p:nvPicPr>
          <p:cNvPr id="3076" name="Resim 5"/>
          <p:cNvPicPr>
            <a:picLocks noChangeAspect="1"/>
          </p:cNvPicPr>
          <p:nvPr/>
        </p:nvPicPr>
        <p:blipFill>
          <a:blip r:embed="rId2" cstate="print"/>
          <a:srcRect/>
          <a:stretch>
            <a:fillRect/>
          </a:stretch>
        </p:blipFill>
        <p:spPr bwMode="auto">
          <a:xfrm>
            <a:off x="3203575" y="332656"/>
            <a:ext cx="2736850" cy="990600"/>
          </a:xfrm>
          <a:prstGeom prst="rect">
            <a:avLst/>
          </a:prstGeom>
          <a:noFill/>
          <a:ln w="9525">
            <a:noFill/>
            <a:miter lim="800000"/>
            <a:headEnd/>
            <a:tailEnd/>
          </a:ln>
        </p:spPr>
      </p:pic>
      <p:grpSp>
        <p:nvGrpSpPr>
          <p:cNvPr id="3077" name="Grup 9"/>
          <p:cNvGrpSpPr>
            <a:grpSpLocks/>
          </p:cNvGrpSpPr>
          <p:nvPr/>
        </p:nvGrpSpPr>
        <p:grpSpPr bwMode="auto">
          <a:xfrm>
            <a:off x="0" y="5719762"/>
            <a:ext cx="9144000" cy="836359"/>
            <a:chOff x="0" y="5719432"/>
            <a:chExt cx="9144000" cy="836874"/>
          </a:xfrm>
        </p:grpSpPr>
        <p:pic>
          <p:nvPicPr>
            <p:cNvPr id="3078" name="Resim 7"/>
            <p:cNvPicPr>
              <a:picLocks noChangeAspect="1"/>
            </p:cNvPicPr>
            <p:nvPr/>
          </p:nvPicPr>
          <p:blipFill>
            <a:blip r:embed="rId3" cstate="print"/>
            <a:srcRect/>
            <a:stretch>
              <a:fillRect/>
            </a:stretch>
          </p:blipFill>
          <p:spPr bwMode="auto">
            <a:xfrm>
              <a:off x="0" y="5719432"/>
              <a:ext cx="9144000" cy="346009"/>
            </a:xfrm>
            <a:prstGeom prst="rect">
              <a:avLst/>
            </a:prstGeom>
            <a:noFill/>
            <a:ln w="9525">
              <a:noFill/>
              <a:miter lim="800000"/>
              <a:headEnd/>
              <a:tailEnd/>
            </a:ln>
          </p:spPr>
        </p:pic>
        <p:sp>
          <p:nvSpPr>
            <p:cNvPr id="9" name="Alt Başlık 2"/>
            <p:cNvSpPr txBox="1">
              <a:spLocks/>
            </p:cNvSpPr>
            <p:nvPr/>
          </p:nvSpPr>
          <p:spPr>
            <a:xfrm>
              <a:off x="5220072" y="6278576"/>
              <a:ext cx="3915991" cy="277730"/>
            </a:xfrm>
            <a:prstGeom prst="rect">
              <a:avLst/>
            </a:prstGeom>
          </p:spPr>
          <p:txBody>
            <a:bodyPr>
              <a:normAutofit fontScale="70000" lnSpcReduction="2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tr-TR" sz="2000" dirty="0">
                  <a:solidFill>
                    <a:srgbClr val="898989"/>
                  </a:solidFill>
                </a:rPr>
                <a:t>BSM </a:t>
              </a:r>
              <a:r>
                <a:rPr lang="tr-TR" sz="2000" dirty="0" smtClean="0">
                  <a:solidFill>
                    <a:srgbClr val="898989"/>
                  </a:solidFill>
                </a:rPr>
                <a:t>210 Ayrık </a:t>
              </a:r>
              <a:r>
                <a:rPr lang="tr-TR" sz="2000" dirty="0" err="1" smtClean="0">
                  <a:solidFill>
                    <a:srgbClr val="898989"/>
                  </a:solidFill>
                </a:rPr>
                <a:t>İşlemsel</a:t>
              </a:r>
              <a:r>
                <a:rPr lang="tr-TR" sz="2000" dirty="0" smtClean="0">
                  <a:solidFill>
                    <a:srgbClr val="898989"/>
                  </a:solidFill>
                </a:rPr>
                <a:t> Yapılar 2017-2018 </a:t>
              </a:r>
              <a:r>
                <a:rPr lang="tr-TR" sz="2000" dirty="0">
                  <a:solidFill>
                    <a:srgbClr val="898989"/>
                  </a:solidFill>
                </a:rPr>
                <a:t>Bahar</a:t>
              </a:r>
            </a:p>
          </p:txBody>
        </p:sp>
      </p:grpSp>
    </p:spTree>
    <p:extLst>
      <p:ext uri="{BB962C8B-B14F-4D97-AF65-F5344CB8AC3E}">
        <p14:creationId xmlns:p14="http://schemas.microsoft.com/office/powerpoint/2010/main" val="9878341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İçerik</a:t>
            </a:r>
            <a:endParaRPr lang="tr-TR" dirty="0"/>
          </a:p>
        </p:txBody>
      </p:sp>
      <p:sp>
        <p:nvSpPr>
          <p:cNvPr id="3" name="İçerik Yer Tutucusu 2"/>
          <p:cNvSpPr>
            <a:spLocks noGrp="1"/>
          </p:cNvSpPr>
          <p:nvPr>
            <p:ph idx="1"/>
          </p:nvPr>
        </p:nvSpPr>
        <p:spPr/>
        <p:txBody>
          <a:bodyPr>
            <a:normAutofit/>
          </a:bodyPr>
          <a:lstStyle/>
          <a:p>
            <a:r>
              <a:rPr lang="tr-TR" sz="4000" dirty="0" smtClean="0"/>
              <a:t> </a:t>
            </a:r>
            <a:r>
              <a:rPr lang="tr-TR" sz="3400" dirty="0" smtClean="0"/>
              <a:t>Kriptoloji</a:t>
            </a:r>
          </a:p>
          <a:p>
            <a:r>
              <a:rPr lang="tr-TR" sz="3700" dirty="0" err="1" smtClean="0"/>
              <a:t>Kriptoanaliz</a:t>
            </a:r>
            <a:endParaRPr lang="tr-TR" sz="3700" dirty="0" smtClean="0"/>
          </a:p>
          <a:p>
            <a:r>
              <a:rPr lang="tr-TR" sz="3700" dirty="0" err="1" smtClean="0"/>
              <a:t>Kriptografi</a:t>
            </a:r>
            <a:endParaRPr lang="tr-TR" sz="3700" dirty="0"/>
          </a:p>
          <a:p>
            <a:r>
              <a:rPr lang="tr-TR" sz="3700" dirty="0" smtClean="0"/>
              <a:t>Şifreleme Algoritmaları</a:t>
            </a:r>
          </a:p>
          <a:p>
            <a:pPr lvl="1"/>
            <a:r>
              <a:rPr lang="tr-TR" sz="2700" dirty="0" smtClean="0"/>
              <a:t>Simetrik Şifreleme Algoritmaları</a:t>
            </a:r>
          </a:p>
          <a:p>
            <a:pPr lvl="1"/>
            <a:r>
              <a:rPr lang="tr-TR" sz="2700" dirty="0" smtClean="0"/>
              <a:t>Asimetrik </a:t>
            </a:r>
            <a:r>
              <a:rPr lang="tr-TR" sz="2700" dirty="0"/>
              <a:t>Şifreleme Algoritmaları</a:t>
            </a:r>
            <a:endParaRPr lang="tr-TR" sz="2700" dirty="0" smtClean="0"/>
          </a:p>
          <a:p>
            <a:pPr lvl="1"/>
            <a:endParaRPr lang="tr-TR" dirty="0"/>
          </a:p>
        </p:txBody>
      </p:sp>
    </p:spTree>
    <p:extLst>
      <p:ext uri="{BB962C8B-B14F-4D97-AF65-F5344CB8AC3E}">
        <p14:creationId xmlns:p14="http://schemas.microsoft.com/office/powerpoint/2010/main" val="96718303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Kriptoloji</a:t>
            </a:r>
            <a:endParaRPr lang="tr-TR" dirty="0"/>
          </a:p>
        </p:txBody>
      </p:sp>
      <p:sp>
        <p:nvSpPr>
          <p:cNvPr id="3" name="İçerik Yer Tutucusu 2"/>
          <p:cNvSpPr>
            <a:spLocks noGrp="1"/>
          </p:cNvSpPr>
          <p:nvPr>
            <p:ph idx="1"/>
          </p:nvPr>
        </p:nvSpPr>
        <p:spPr/>
        <p:txBody>
          <a:bodyPr/>
          <a:lstStyle/>
          <a:p>
            <a:r>
              <a:rPr lang="tr-TR" sz="3000" dirty="0" smtClean="0"/>
              <a:t>Şifre bilimi</a:t>
            </a:r>
          </a:p>
          <a:p>
            <a:r>
              <a:rPr lang="tr-TR" sz="3000" dirty="0" smtClean="0"/>
              <a:t>Bilginin gizlenmesi veya ortaya çıkarılması ile ilgilenen matematik temelli bir bilim dalıdır.</a:t>
            </a:r>
          </a:p>
          <a:p>
            <a:endParaRPr lang="tr-TR" dirty="0"/>
          </a:p>
        </p:txBody>
      </p:sp>
      <p:pic>
        <p:nvPicPr>
          <p:cNvPr id="5" name="Picture 2" descr="kriptoloji ile ilgili gÃ¶rsel sonucu"/>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9712" y="2996952"/>
            <a:ext cx="4320480" cy="2160240"/>
          </a:xfrm>
          <a:prstGeom prst="rect">
            <a:avLst/>
          </a:prstGeom>
          <a:solidFill>
            <a:schemeClr val="tx1"/>
          </a:solidFill>
          <a:effectLst>
            <a:outerShdw blurRad="76200" dir="13500000" sy="23000" kx="1200000" algn="br" rotWithShape="0">
              <a:prstClr val="black">
                <a:alpha val="20000"/>
              </a:prstClr>
            </a:outerShdw>
          </a:effectLst>
        </p:spPr>
      </p:pic>
    </p:spTree>
    <p:extLst>
      <p:ext uri="{BB962C8B-B14F-4D97-AF65-F5344CB8AC3E}">
        <p14:creationId xmlns:p14="http://schemas.microsoft.com/office/powerpoint/2010/main" val="26325360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Kriptoloji</a:t>
            </a:r>
            <a:endParaRPr lang="tr-TR" dirty="0"/>
          </a:p>
        </p:txBody>
      </p:sp>
      <p:sp>
        <p:nvSpPr>
          <p:cNvPr id="3" name="İçerik Yer Tutucusu 2"/>
          <p:cNvSpPr>
            <a:spLocks noGrp="1"/>
          </p:cNvSpPr>
          <p:nvPr>
            <p:ph idx="1"/>
          </p:nvPr>
        </p:nvSpPr>
        <p:spPr/>
        <p:txBody>
          <a:bodyPr>
            <a:normAutofit/>
          </a:bodyPr>
          <a:lstStyle/>
          <a:p>
            <a:r>
              <a:rPr lang="tr-TR" sz="3000" dirty="0" smtClean="0"/>
              <a:t>Teknolojinin hızlı bir şekilde gelişmesiyle askeri, devlet, elektronik, banka sistemleri ve daha bir çok yer kriptoloji biliminin kullanım alanları haline gelmiştir.</a:t>
            </a:r>
          </a:p>
          <a:p>
            <a:r>
              <a:rPr lang="tr-TR" sz="3000" dirty="0" smtClean="0"/>
              <a:t>Günümüz elektronik sistemlerinin en önemli gereksinimlerinden birisi bilgilerin sorunsuz ve gizli bir şekilde taşınmasıdır. </a:t>
            </a:r>
          </a:p>
          <a:p>
            <a:r>
              <a:rPr lang="tr-TR" sz="3000" dirty="0" smtClean="0"/>
              <a:t>Verilerin güvenli bir şekilde gönderilmesi ve karşı taraftan alınabilmesi için geliştirilen çeşitli şifreleme, anahtarlama ve çözümleme algoritmaları kullanılmaktadır.</a:t>
            </a:r>
          </a:p>
          <a:p>
            <a:endParaRPr lang="tr-TR" sz="3000" dirty="0" smtClean="0"/>
          </a:p>
          <a:p>
            <a:endParaRPr lang="tr-TR" dirty="0"/>
          </a:p>
        </p:txBody>
      </p:sp>
    </p:spTree>
    <p:extLst>
      <p:ext uri="{BB962C8B-B14F-4D97-AF65-F5344CB8AC3E}">
        <p14:creationId xmlns:p14="http://schemas.microsoft.com/office/powerpoint/2010/main" val="28067168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Kriptoloji</a:t>
            </a:r>
            <a:endParaRPr lang="tr-TR" dirty="0"/>
          </a:p>
        </p:txBody>
      </p:sp>
      <p:sp>
        <p:nvSpPr>
          <p:cNvPr id="3" name="İçerik Yer Tutucusu 2"/>
          <p:cNvSpPr>
            <a:spLocks noGrp="1"/>
          </p:cNvSpPr>
          <p:nvPr>
            <p:ph idx="1"/>
          </p:nvPr>
        </p:nvSpPr>
        <p:spPr/>
        <p:txBody>
          <a:bodyPr/>
          <a:lstStyle/>
          <a:p>
            <a:r>
              <a:rPr lang="tr-TR" dirty="0" smtClean="0"/>
              <a:t>Şifreleme algoritması şifrelenecek metni ve şifreleme anahtarını girdi olarak alır.</a:t>
            </a:r>
          </a:p>
          <a:p>
            <a:r>
              <a:rPr lang="tr-TR" dirty="0" smtClean="0"/>
              <a:t>Çözümleme algoritması ise şifreleme algoritmasının ters yönünde çalışır.</a:t>
            </a:r>
            <a:endParaRPr lang="tr-TR" dirty="0"/>
          </a:p>
        </p:txBody>
      </p:sp>
      <p:graphicFrame>
        <p:nvGraphicFramePr>
          <p:cNvPr id="4" name="Diyagram 3"/>
          <p:cNvGraphicFramePr/>
          <p:nvPr>
            <p:extLst>
              <p:ext uri="{D42A27DB-BD31-4B8C-83A1-F6EECF244321}">
                <p14:modId xmlns:p14="http://schemas.microsoft.com/office/powerpoint/2010/main" val="1436549074"/>
              </p:ext>
            </p:extLst>
          </p:nvPr>
        </p:nvGraphicFramePr>
        <p:xfrm>
          <a:off x="2915816" y="2708920"/>
          <a:ext cx="3816424" cy="2896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56383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Kriptoloji</a:t>
            </a:r>
          </a:p>
        </p:txBody>
      </p:sp>
      <p:pic>
        <p:nvPicPr>
          <p:cNvPr id="4" name="İçerik Yer Tutucusu 3"/>
          <p:cNvPicPr>
            <a:picLocks noGrp="1" noChangeAspect="1"/>
          </p:cNvPicPr>
          <p:nvPr>
            <p:ph idx="1"/>
          </p:nvPr>
        </p:nvPicPr>
        <p:blipFill rotWithShape="1">
          <a:blip r:embed="rId2">
            <a:extLst>
              <a:ext uri="{28A0092B-C50C-407E-A947-70E740481C1C}">
                <a14:useLocalDpi xmlns:a14="http://schemas.microsoft.com/office/drawing/2010/main" val="0"/>
              </a:ext>
            </a:extLst>
          </a:blip>
          <a:srcRect t="22230" b="19413"/>
          <a:stretch/>
        </p:blipFill>
        <p:spPr>
          <a:xfrm>
            <a:off x="704850" y="2564904"/>
            <a:ext cx="7734300" cy="1584176"/>
          </a:xfrm>
        </p:spPr>
      </p:pic>
      <p:sp>
        <p:nvSpPr>
          <p:cNvPr id="5" name="Dikdörtgen 4"/>
          <p:cNvSpPr/>
          <p:nvPr/>
        </p:nvSpPr>
        <p:spPr>
          <a:xfrm>
            <a:off x="2411760" y="3933056"/>
            <a:ext cx="1152128"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Dikdörtgen 5"/>
          <p:cNvSpPr/>
          <p:nvPr/>
        </p:nvSpPr>
        <p:spPr>
          <a:xfrm>
            <a:off x="5508104" y="3933056"/>
            <a:ext cx="1152128"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7" name="Dikdörtgen 6"/>
          <p:cNvSpPr/>
          <p:nvPr/>
        </p:nvSpPr>
        <p:spPr>
          <a:xfrm>
            <a:off x="1043608" y="4106142"/>
            <a:ext cx="1152128" cy="196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600" b="1" dirty="0" smtClean="0">
                <a:solidFill>
                  <a:schemeClr val="tx1"/>
                </a:solidFill>
                <a:effectLst>
                  <a:outerShdw blurRad="38100" dist="38100" dir="2700000" algn="tl">
                    <a:srgbClr val="000000">
                      <a:alpha val="43137"/>
                    </a:srgbClr>
                  </a:outerShdw>
                </a:effectLst>
              </a:rPr>
              <a:t>Ham Metin</a:t>
            </a:r>
            <a:endParaRPr lang="tr-TR" sz="1600" b="1" dirty="0">
              <a:solidFill>
                <a:schemeClr val="tx1"/>
              </a:solidFill>
              <a:effectLst>
                <a:outerShdw blurRad="38100" dist="38100" dir="2700000" algn="tl">
                  <a:srgbClr val="000000">
                    <a:alpha val="43137"/>
                  </a:srgbClr>
                </a:outerShdw>
              </a:effectLst>
            </a:endParaRPr>
          </a:p>
        </p:txBody>
      </p:sp>
      <p:sp>
        <p:nvSpPr>
          <p:cNvPr id="8" name="Dikdörtgen 7"/>
          <p:cNvSpPr/>
          <p:nvPr/>
        </p:nvSpPr>
        <p:spPr>
          <a:xfrm>
            <a:off x="2411760" y="3947314"/>
            <a:ext cx="1152128"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smtClean="0">
                <a:solidFill>
                  <a:schemeClr val="tx1"/>
                </a:solidFill>
                <a:effectLst>
                  <a:outerShdw blurRad="38100" dist="38100" dir="2700000" algn="tl">
                    <a:srgbClr val="000000">
                      <a:alpha val="43137"/>
                    </a:srgbClr>
                  </a:outerShdw>
                </a:effectLst>
              </a:rPr>
              <a:t>Şifreleme</a:t>
            </a:r>
            <a:endParaRPr lang="tr-TR" b="1" dirty="0">
              <a:solidFill>
                <a:schemeClr val="tx1"/>
              </a:solidFill>
              <a:effectLst>
                <a:outerShdw blurRad="38100" dist="38100" dir="2700000" algn="tl">
                  <a:srgbClr val="000000">
                    <a:alpha val="43137"/>
                  </a:srgbClr>
                </a:outerShdw>
              </a:effectLst>
            </a:endParaRPr>
          </a:p>
        </p:txBody>
      </p:sp>
      <p:sp>
        <p:nvSpPr>
          <p:cNvPr id="9" name="Dikdörtgen 8"/>
          <p:cNvSpPr/>
          <p:nvPr/>
        </p:nvSpPr>
        <p:spPr>
          <a:xfrm>
            <a:off x="3851920" y="4129830"/>
            <a:ext cx="1418878"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smtClean="0">
                <a:solidFill>
                  <a:schemeClr val="tx1"/>
                </a:solidFill>
                <a:effectLst>
                  <a:outerShdw blurRad="38100" dist="38100" dir="2700000" algn="tl">
                    <a:srgbClr val="000000">
                      <a:alpha val="43137"/>
                    </a:srgbClr>
                  </a:outerShdw>
                </a:effectLst>
              </a:rPr>
              <a:t>Şifreli Metin</a:t>
            </a:r>
            <a:endParaRPr lang="tr-TR" b="1" dirty="0">
              <a:solidFill>
                <a:schemeClr val="tx1"/>
              </a:solidFill>
              <a:effectLst>
                <a:outerShdw blurRad="38100" dist="38100" dir="2700000" algn="tl">
                  <a:srgbClr val="000000">
                    <a:alpha val="43137"/>
                  </a:srgbClr>
                </a:outerShdw>
              </a:effectLst>
            </a:endParaRPr>
          </a:p>
        </p:txBody>
      </p:sp>
      <p:sp>
        <p:nvSpPr>
          <p:cNvPr id="10" name="Dikdörtgen 9"/>
          <p:cNvSpPr/>
          <p:nvPr/>
        </p:nvSpPr>
        <p:spPr>
          <a:xfrm>
            <a:off x="5364088" y="3976189"/>
            <a:ext cx="1440160" cy="2160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smtClean="0">
                <a:solidFill>
                  <a:schemeClr val="tx1"/>
                </a:solidFill>
                <a:effectLst>
                  <a:outerShdw blurRad="38100" dist="38100" dir="2700000" algn="tl">
                    <a:srgbClr val="000000">
                      <a:alpha val="43137"/>
                    </a:srgbClr>
                  </a:outerShdw>
                </a:effectLst>
              </a:rPr>
              <a:t>Şifre Çözme</a:t>
            </a:r>
            <a:endParaRPr lang="tr-TR" b="1" dirty="0">
              <a:solidFill>
                <a:schemeClr val="tx1"/>
              </a:solidFill>
              <a:effectLst>
                <a:outerShdw blurRad="38100" dist="38100" dir="2700000" algn="tl">
                  <a:srgbClr val="000000">
                    <a:alpha val="43137"/>
                  </a:srgbClr>
                </a:outerShdw>
              </a:effectLst>
            </a:endParaRPr>
          </a:p>
        </p:txBody>
      </p:sp>
      <p:sp>
        <p:nvSpPr>
          <p:cNvPr id="11" name="Dikdörtgen 10"/>
          <p:cNvSpPr/>
          <p:nvPr/>
        </p:nvSpPr>
        <p:spPr>
          <a:xfrm>
            <a:off x="6948264" y="4128589"/>
            <a:ext cx="1296144" cy="207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b="1" dirty="0" smtClean="0">
                <a:solidFill>
                  <a:schemeClr val="tx1"/>
                </a:solidFill>
                <a:effectLst>
                  <a:outerShdw blurRad="38100" dist="38100" dir="2700000" algn="tl">
                    <a:srgbClr val="000000">
                      <a:alpha val="43137"/>
                    </a:srgbClr>
                  </a:outerShdw>
                </a:effectLst>
              </a:rPr>
              <a:t>Ham Metin</a:t>
            </a:r>
            <a:endParaRPr lang="tr-TR" b="1" dirty="0">
              <a:solidFill>
                <a:schemeClr val="tx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7111435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Kriptoanaliz</a:t>
            </a:r>
            <a:endParaRPr lang="tr-TR" dirty="0"/>
          </a:p>
        </p:txBody>
      </p:sp>
      <p:sp>
        <p:nvSpPr>
          <p:cNvPr id="3" name="İçerik Yer Tutucusu 2"/>
          <p:cNvSpPr>
            <a:spLocks noGrp="1"/>
          </p:cNvSpPr>
          <p:nvPr>
            <p:ph idx="1"/>
          </p:nvPr>
        </p:nvSpPr>
        <p:spPr/>
        <p:txBody>
          <a:bodyPr/>
          <a:lstStyle/>
          <a:p>
            <a:r>
              <a:rPr lang="tr-TR" sz="3000" dirty="0" smtClean="0"/>
              <a:t>Güvenli bilginin kırılması</a:t>
            </a:r>
          </a:p>
          <a:p>
            <a:r>
              <a:rPr lang="tr-TR" sz="3000" dirty="0" err="1" smtClean="0"/>
              <a:t>Kriptografinin</a:t>
            </a:r>
            <a:r>
              <a:rPr lang="tr-TR" sz="3000" dirty="0" smtClean="0"/>
              <a:t> tam tersi</a:t>
            </a:r>
          </a:p>
          <a:p>
            <a:r>
              <a:rPr lang="tr-TR" sz="3000" dirty="0" err="1" smtClean="0"/>
              <a:t>Kriptoanalistler</a:t>
            </a:r>
            <a:r>
              <a:rPr lang="tr-TR" sz="3000" dirty="0" smtClean="0"/>
              <a:t> genelde şifre çözmeye dayalı çalışırlar</a:t>
            </a:r>
          </a:p>
          <a:p>
            <a:endParaRPr lang="tr-TR" dirty="0"/>
          </a:p>
        </p:txBody>
      </p:sp>
    </p:spTree>
    <p:extLst>
      <p:ext uri="{BB962C8B-B14F-4D97-AF65-F5344CB8AC3E}">
        <p14:creationId xmlns:p14="http://schemas.microsoft.com/office/powerpoint/2010/main" val="192776446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err="1" smtClean="0"/>
              <a:t>Kriptografi</a:t>
            </a:r>
            <a:endParaRPr lang="tr-TR" dirty="0"/>
          </a:p>
        </p:txBody>
      </p:sp>
      <p:sp>
        <p:nvSpPr>
          <p:cNvPr id="3" name="İçerik Yer Tutucusu 2"/>
          <p:cNvSpPr>
            <a:spLocks noGrp="1"/>
          </p:cNvSpPr>
          <p:nvPr>
            <p:ph idx="1"/>
          </p:nvPr>
        </p:nvSpPr>
        <p:spPr/>
        <p:txBody>
          <a:bodyPr/>
          <a:lstStyle/>
          <a:p>
            <a:r>
              <a:rPr lang="tr-TR" dirty="0" smtClean="0"/>
              <a:t>Şifreleme bilimi</a:t>
            </a:r>
          </a:p>
          <a:p>
            <a:r>
              <a:rPr lang="tr-TR" dirty="0" smtClean="0"/>
              <a:t>Yunanca gizli anlamına gelen </a:t>
            </a:r>
            <a:r>
              <a:rPr lang="tr-TR" b="1" dirty="0" smtClean="0">
                <a:solidFill>
                  <a:srgbClr val="C00000"/>
                </a:solidFill>
                <a:effectLst>
                  <a:outerShdw blurRad="38100" dist="38100" dir="2700000" algn="tl">
                    <a:srgbClr val="000000">
                      <a:alpha val="43137"/>
                    </a:srgbClr>
                  </a:outerShdw>
                </a:effectLst>
              </a:rPr>
              <a:t>«</a:t>
            </a:r>
            <a:r>
              <a:rPr lang="tr-TR" b="1" dirty="0" err="1" smtClean="0">
                <a:solidFill>
                  <a:srgbClr val="C00000"/>
                </a:solidFill>
                <a:effectLst>
                  <a:outerShdw blurRad="38100" dist="38100" dir="2700000" algn="tl">
                    <a:srgbClr val="000000">
                      <a:alpha val="43137"/>
                    </a:srgbClr>
                  </a:outerShdw>
                </a:effectLst>
              </a:rPr>
              <a:t>kript</a:t>
            </a:r>
            <a:r>
              <a:rPr lang="tr-TR" b="1" dirty="0" smtClean="0">
                <a:solidFill>
                  <a:srgbClr val="C00000"/>
                </a:solidFill>
                <a:effectLst>
                  <a:outerShdw blurRad="38100" dist="38100" dir="2700000" algn="tl">
                    <a:srgbClr val="000000">
                      <a:alpha val="43137"/>
                    </a:srgbClr>
                  </a:outerShdw>
                </a:effectLst>
              </a:rPr>
              <a:t>»</a:t>
            </a:r>
            <a:r>
              <a:rPr lang="tr-TR" dirty="0" smtClean="0"/>
              <a:t> ve yazı anlamına gelen </a:t>
            </a:r>
            <a:r>
              <a:rPr lang="tr-TR" b="1" dirty="0" smtClean="0">
                <a:solidFill>
                  <a:srgbClr val="C00000"/>
                </a:solidFill>
                <a:effectLst>
                  <a:outerShdw blurRad="38100" dist="38100" dir="2700000" algn="tl">
                    <a:srgbClr val="000000">
                      <a:alpha val="43137"/>
                    </a:srgbClr>
                  </a:outerShdw>
                </a:effectLst>
              </a:rPr>
              <a:t>«</a:t>
            </a:r>
            <a:r>
              <a:rPr lang="tr-TR" b="1" dirty="0" err="1" smtClean="0">
                <a:solidFill>
                  <a:srgbClr val="C00000"/>
                </a:solidFill>
                <a:effectLst>
                  <a:outerShdw blurRad="38100" dist="38100" dir="2700000" algn="tl">
                    <a:srgbClr val="000000">
                      <a:alpha val="43137"/>
                    </a:srgbClr>
                  </a:outerShdw>
                </a:effectLst>
              </a:rPr>
              <a:t>graf</a:t>
            </a:r>
            <a:r>
              <a:rPr lang="tr-TR" b="1" dirty="0" smtClean="0">
                <a:solidFill>
                  <a:srgbClr val="C00000"/>
                </a:solidFill>
                <a:effectLst>
                  <a:outerShdw blurRad="38100" dist="38100" dir="2700000" algn="tl">
                    <a:srgbClr val="000000">
                      <a:alpha val="43137"/>
                    </a:srgbClr>
                  </a:outerShdw>
                </a:effectLst>
              </a:rPr>
              <a:t>»</a:t>
            </a:r>
            <a:r>
              <a:rPr lang="tr-TR" dirty="0" smtClean="0"/>
              <a:t> kelimelerinden türetilmiştir.</a:t>
            </a:r>
          </a:p>
          <a:p>
            <a:r>
              <a:rPr lang="tr-TR" dirty="0" smtClean="0"/>
              <a:t>Türkçe adı: </a:t>
            </a:r>
            <a:r>
              <a:rPr lang="tr-TR" b="1" dirty="0" smtClean="0">
                <a:solidFill>
                  <a:srgbClr val="C00000"/>
                </a:solidFill>
                <a:effectLst>
                  <a:outerShdw blurRad="38100" dist="38100" dir="2700000" algn="tl">
                    <a:srgbClr val="000000">
                      <a:alpha val="43137"/>
                    </a:srgbClr>
                  </a:outerShdw>
                </a:effectLst>
              </a:rPr>
              <a:t>«şifre yazımı»</a:t>
            </a:r>
          </a:p>
          <a:p>
            <a:endParaRPr lang="tr-TR" b="1" dirty="0">
              <a:solidFill>
                <a:srgbClr val="C000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7870358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Amaçları</a:t>
            </a:r>
            <a:endParaRPr lang="tr-TR" dirty="0"/>
          </a:p>
        </p:txBody>
      </p:sp>
      <p:sp>
        <p:nvSpPr>
          <p:cNvPr id="3" name="İçerik Yer Tutucusu 2"/>
          <p:cNvSpPr>
            <a:spLocks noGrp="1"/>
          </p:cNvSpPr>
          <p:nvPr>
            <p:ph idx="1"/>
          </p:nvPr>
        </p:nvSpPr>
        <p:spPr/>
        <p:txBody>
          <a:bodyPr/>
          <a:lstStyle/>
          <a:p>
            <a:r>
              <a:rPr lang="tr-TR" dirty="0" smtClean="0"/>
              <a:t>Gizlilik ihlalini önlemek</a:t>
            </a:r>
          </a:p>
          <a:p>
            <a:r>
              <a:rPr lang="tr-TR" dirty="0" smtClean="0"/>
              <a:t>Veri bütünlüğünü sağlamak</a:t>
            </a:r>
          </a:p>
          <a:p>
            <a:r>
              <a:rPr lang="tr-TR" dirty="0" smtClean="0"/>
              <a:t>Kimlik doğrulama ihlalini önlemek (Dijital İmza)</a:t>
            </a:r>
            <a:endParaRPr lang="tr-TR" dirty="0"/>
          </a:p>
        </p:txBody>
      </p:sp>
      <p:pic>
        <p:nvPicPr>
          <p:cNvPr id="4" name="Resim 3"/>
          <p:cNvPicPr>
            <a:picLocks noChangeAspect="1"/>
          </p:cNvPicPr>
          <p:nvPr/>
        </p:nvPicPr>
        <p:blipFill>
          <a:blip r:embed="rId2"/>
          <a:stretch>
            <a:fillRect/>
          </a:stretch>
        </p:blipFill>
        <p:spPr>
          <a:xfrm>
            <a:off x="467543" y="2481212"/>
            <a:ext cx="2310463" cy="1739876"/>
          </a:xfrm>
          <a:prstGeom prst="rect">
            <a:avLst/>
          </a:prstGeom>
        </p:spPr>
      </p:pic>
      <p:pic>
        <p:nvPicPr>
          <p:cNvPr id="5" name="Resim 4"/>
          <p:cNvPicPr>
            <a:picLocks noChangeAspect="1"/>
          </p:cNvPicPr>
          <p:nvPr/>
        </p:nvPicPr>
        <p:blipFill>
          <a:blip r:embed="rId3"/>
          <a:stretch>
            <a:fillRect/>
          </a:stretch>
        </p:blipFill>
        <p:spPr>
          <a:xfrm>
            <a:off x="2890731" y="2559061"/>
            <a:ext cx="2329341" cy="1590019"/>
          </a:xfrm>
          <a:prstGeom prst="rect">
            <a:avLst/>
          </a:prstGeom>
        </p:spPr>
      </p:pic>
      <p:pic>
        <p:nvPicPr>
          <p:cNvPr id="6" name="Resim 5"/>
          <p:cNvPicPr>
            <a:picLocks noChangeAspect="1"/>
          </p:cNvPicPr>
          <p:nvPr/>
        </p:nvPicPr>
        <p:blipFill>
          <a:blip r:embed="rId4"/>
          <a:stretch>
            <a:fillRect/>
          </a:stretch>
        </p:blipFill>
        <p:spPr>
          <a:xfrm>
            <a:off x="5316081" y="2481212"/>
            <a:ext cx="3595857" cy="3036020"/>
          </a:xfrm>
          <a:prstGeom prst="rect">
            <a:avLst/>
          </a:prstGeom>
        </p:spPr>
      </p:pic>
    </p:spTree>
    <p:extLst>
      <p:ext uri="{BB962C8B-B14F-4D97-AF65-F5344CB8AC3E}">
        <p14:creationId xmlns:p14="http://schemas.microsoft.com/office/powerpoint/2010/main" val="67683230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Kullanım Alanları</a:t>
            </a:r>
            <a:endParaRPr lang="tr-TR" dirty="0"/>
          </a:p>
        </p:txBody>
      </p:sp>
      <p:sp>
        <p:nvSpPr>
          <p:cNvPr id="3" name="İçerik Yer Tutucusu 2"/>
          <p:cNvSpPr>
            <a:spLocks noGrp="1"/>
          </p:cNvSpPr>
          <p:nvPr>
            <p:ph idx="1"/>
          </p:nvPr>
        </p:nvSpPr>
        <p:spPr/>
        <p:txBody>
          <a:bodyPr>
            <a:normAutofit/>
          </a:bodyPr>
          <a:lstStyle/>
          <a:p>
            <a:r>
              <a:rPr lang="tr-TR" sz="3400" dirty="0" smtClean="0"/>
              <a:t>ATM</a:t>
            </a:r>
          </a:p>
          <a:p>
            <a:r>
              <a:rPr lang="tr-TR" sz="3400" dirty="0" smtClean="0"/>
              <a:t>Televizyon</a:t>
            </a:r>
          </a:p>
          <a:p>
            <a:r>
              <a:rPr lang="tr-TR" sz="3400" dirty="0" smtClean="0"/>
              <a:t>Telsiz haberleşme</a:t>
            </a:r>
          </a:p>
          <a:p>
            <a:r>
              <a:rPr lang="tr-TR" sz="3400" dirty="0" smtClean="0"/>
              <a:t>E-imza</a:t>
            </a:r>
          </a:p>
          <a:p>
            <a:r>
              <a:rPr lang="tr-TR" sz="3400" dirty="0" smtClean="0"/>
              <a:t>…</a:t>
            </a:r>
            <a:endParaRPr lang="tr-TR" sz="3400" dirty="0"/>
          </a:p>
        </p:txBody>
      </p:sp>
    </p:spTree>
    <p:extLst>
      <p:ext uri="{BB962C8B-B14F-4D97-AF65-F5344CB8AC3E}">
        <p14:creationId xmlns:p14="http://schemas.microsoft.com/office/powerpoint/2010/main" val="33371554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endParaRPr lang="tr-TR"/>
          </a:p>
        </p:txBody>
      </p:sp>
      <p:sp>
        <p:nvSpPr>
          <p:cNvPr id="3" name="İçerik Yer Tutucusu 2"/>
          <p:cNvSpPr>
            <a:spLocks noGrp="1"/>
          </p:cNvSpPr>
          <p:nvPr>
            <p:ph idx="1"/>
          </p:nvPr>
        </p:nvSpPr>
        <p:spPr/>
        <p:txBody>
          <a:bodyPr/>
          <a:lstStyle/>
          <a:p>
            <a:endParaRPr lang="tr-TR" dirty="0"/>
          </a:p>
        </p:txBody>
      </p:sp>
      <p:graphicFrame>
        <p:nvGraphicFramePr>
          <p:cNvPr id="4" name="Diyagram 3"/>
          <p:cNvGraphicFramePr/>
          <p:nvPr>
            <p:extLst>
              <p:ext uri="{D42A27DB-BD31-4B8C-83A1-F6EECF244321}">
                <p14:modId xmlns:p14="http://schemas.microsoft.com/office/powerpoint/2010/main" val="3342880739"/>
              </p:ext>
            </p:extLst>
          </p:nvPr>
        </p:nvGraphicFramePr>
        <p:xfrm>
          <a:off x="1547664" y="2060848"/>
          <a:ext cx="6048672" cy="28960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565407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Simetrik Şifreleme Algoritmaları</a:t>
            </a:r>
            <a:endParaRPr lang="tr-TR" dirty="0"/>
          </a:p>
        </p:txBody>
      </p:sp>
      <p:sp>
        <p:nvSpPr>
          <p:cNvPr id="3" name="İçerik Yer Tutucusu 2"/>
          <p:cNvSpPr>
            <a:spLocks noGrp="1"/>
          </p:cNvSpPr>
          <p:nvPr>
            <p:ph idx="1"/>
          </p:nvPr>
        </p:nvSpPr>
        <p:spPr>
          <a:xfrm>
            <a:off x="179512" y="1180445"/>
            <a:ext cx="8784976" cy="4851746"/>
          </a:xfrm>
        </p:spPr>
        <p:txBody>
          <a:bodyPr>
            <a:normAutofit/>
          </a:bodyPr>
          <a:lstStyle/>
          <a:p>
            <a:r>
              <a:rPr lang="tr-TR" sz="3000" dirty="0" smtClean="0"/>
              <a:t>Bu algoritmada şifreleme ve şifre çözmek için </a:t>
            </a:r>
            <a:r>
              <a:rPr lang="tr-TR" sz="3000" b="1" dirty="0" smtClean="0">
                <a:solidFill>
                  <a:srgbClr val="C00000"/>
                </a:solidFill>
                <a:effectLst>
                  <a:outerShdw blurRad="38100" dist="38100" dir="2700000" algn="tl">
                    <a:srgbClr val="000000">
                      <a:alpha val="43137"/>
                    </a:srgbClr>
                  </a:outerShdw>
                </a:effectLst>
              </a:rPr>
              <a:t>gizli anahtar </a:t>
            </a:r>
            <a:r>
              <a:rPr lang="tr-TR" sz="3000" dirty="0" smtClean="0"/>
              <a:t>kullanılmaktadır. </a:t>
            </a:r>
          </a:p>
          <a:p>
            <a:r>
              <a:rPr lang="tr-TR" sz="3000" dirty="0" smtClean="0"/>
              <a:t>Kullanılan anahtar başkalarından gizlidir ve şifreleme yapan ile şifrelemeyi çözecek kişiler arasında anlaşılmış ortak bir anahtardır.</a:t>
            </a:r>
          </a:p>
          <a:p>
            <a:r>
              <a:rPr lang="tr-TR" sz="3000" dirty="0" smtClean="0"/>
              <a:t>Gönderilecek gizli metinle beraber üstünde anlaşılmış olan gizli anahtar da alıcıya gönderilir ve şifre çözme işlemi gerçekleştirilir. </a:t>
            </a:r>
            <a:endParaRPr lang="tr-TR" sz="3000" dirty="0"/>
          </a:p>
        </p:txBody>
      </p:sp>
    </p:spTree>
    <p:extLst>
      <p:ext uri="{BB962C8B-B14F-4D97-AF65-F5344CB8AC3E}">
        <p14:creationId xmlns:p14="http://schemas.microsoft.com/office/powerpoint/2010/main" val="19028525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Simetrik Şifreleme Algoritmaları</a:t>
            </a:r>
            <a:endParaRPr lang="tr-TR" dirty="0"/>
          </a:p>
        </p:txBody>
      </p:sp>
      <p:sp>
        <p:nvSpPr>
          <p:cNvPr id="3" name="İçerik Yer Tutucusu 2"/>
          <p:cNvSpPr>
            <a:spLocks noGrp="1"/>
          </p:cNvSpPr>
          <p:nvPr>
            <p:ph idx="1"/>
          </p:nvPr>
        </p:nvSpPr>
        <p:spPr>
          <a:xfrm>
            <a:off x="179512" y="1180445"/>
            <a:ext cx="8784976" cy="4851746"/>
          </a:xfrm>
        </p:spPr>
        <p:txBody>
          <a:bodyPr>
            <a:normAutofit/>
          </a:bodyPr>
          <a:lstStyle/>
          <a:p>
            <a:r>
              <a:rPr lang="tr-TR" sz="3000" dirty="0" smtClean="0"/>
              <a:t>Simetrik şifrelemenin asimetrik şifrelemeye göre avantajları</a:t>
            </a:r>
          </a:p>
          <a:p>
            <a:pPr lvl="1"/>
            <a:r>
              <a:rPr lang="tr-TR" sz="2400" dirty="0" smtClean="0"/>
              <a:t>Hızlı</a:t>
            </a:r>
          </a:p>
          <a:p>
            <a:pPr lvl="1"/>
            <a:r>
              <a:rPr lang="tr-TR" sz="2400" dirty="0" smtClean="0"/>
              <a:t>İçerdiği </a:t>
            </a:r>
            <a:r>
              <a:rPr lang="tr-TR" sz="2400" dirty="0"/>
              <a:t>basit işlemlerden dolayı elektronik cihazlarda uygulamak çok daha kolaydır. </a:t>
            </a:r>
            <a:endParaRPr lang="tr-TR" sz="2400" dirty="0" smtClean="0"/>
          </a:p>
          <a:p>
            <a:pPr lvl="1"/>
            <a:r>
              <a:rPr lang="tr-TR" sz="2400" dirty="0" smtClean="0"/>
              <a:t>Kullanılan </a:t>
            </a:r>
            <a:r>
              <a:rPr lang="tr-TR" sz="2400" dirty="0"/>
              <a:t>anahtarın boyu ve dolayısıyla bit sayısı çok daha küçüktür. </a:t>
            </a:r>
          </a:p>
          <a:p>
            <a:r>
              <a:rPr lang="tr-TR" sz="3000" dirty="0" smtClean="0"/>
              <a:t>Örnek Simetrik Algoritmalar</a:t>
            </a:r>
          </a:p>
          <a:p>
            <a:pPr lvl="1"/>
            <a:r>
              <a:rPr lang="tr-TR" sz="2400" dirty="0" smtClean="0"/>
              <a:t>DES</a:t>
            </a:r>
            <a:r>
              <a:rPr lang="tr-TR" sz="2400" dirty="0"/>
              <a:t>, AES, </a:t>
            </a:r>
            <a:r>
              <a:rPr lang="tr-TR" sz="2400" dirty="0" err="1"/>
              <a:t>Blowfish</a:t>
            </a:r>
            <a:r>
              <a:rPr lang="tr-TR" sz="2400" dirty="0"/>
              <a:t> </a:t>
            </a:r>
          </a:p>
        </p:txBody>
      </p:sp>
    </p:spTree>
    <p:extLst>
      <p:ext uri="{BB962C8B-B14F-4D97-AF65-F5344CB8AC3E}">
        <p14:creationId xmlns:p14="http://schemas.microsoft.com/office/powerpoint/2010/main" val="17709187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Asimetrik </a:t>
            </a:r>
            <a:r>
              <a:rPr lang="tr-TR" dirty="0"/>
              <a:t>Şifreleme Algoritmaları</a:t>
            </a:r>
          </a:p>
        </p:txBody>
      </p:sp>
      <p:sp>
        <p:nvSpPr>
          <p:cNvPr id="3" name="İçerik Yer Tutucusu 2"/>
          <p:cNvSpPr>
            <a:spLocks noGrp="1"/>
          </p:cNvSpPr>
          <p:nvPr>
            <p:ph idx="1"/>
          </p:nvPr>
        </p:nvSpPr>
        <p:spPr/>
        <p:txBody>
          <a:bodyPr>
            <a:normAutofit fontScale="92500" lnSpcReduction="20000"/>
          </a:bodyPr>
          <a:lstStyle/>
          <a:p>
            <a:r>
              <a:rPr lang="tr-TR" dirty="0" smtClean="0"/>
              <a:t>Simetrik </a:t>
            </a:r>
            <a:r>
              <a:rPr lang="tr-TR" dirty="0"/>
              <a:t>şifreleme algoritmalarında bulunan en büyük problem anahtar dağıtımıdır. </a:t>
            </a:r>
            <a:endParaRPr lang="tr-TR" dirty="0" smtClean="0"/>
          </a:p>
          <a:p>
            <a:pPr lvl="1"/>
            <a:r>
              <a:rPr lang="tr-TR" dirty="0" smtClean="0"/>
              <a:t>Simetrik </a:t>
            </a:r>
            <a:r>
              <a:rPr lang="tr-TR" dirty="0"/>
              <a:t>algoritma kullanan çok kullanıcılı bir sistemde bütün kullanıcılara aynı anahtarın dağıtılması güvenlik açısından problemli olabilir. </a:t>
            </a:r>
            <a:endParaRPr lang="tr-TR" dirty="0" smtClean="0"/>
          </a:p>
          <a:p>
            <a:pPr lvl="1"/>
            <a:r>
              <a:rPr lang="tr-TR" dirty="0" smtClean="0"/>
              <a:t>Her </a:t>
            </a:r>
            <a:r>
              <a:rPr lang="tr-TR" dirty="0"/>
              <a:t>kullanıcıya farklı bir anahtar vermek ise sistemde bir çok farklı anahtar olacağı için sıkıntılı olabilir. </a:t>
            </a:r>
            <a:endParaRPr lang="tr-TR" dirty="0" smtClean="0"/>
          </a:p>
          <a:p>
            <a:r>
              <a:rPr lang="tr-TR" dirty="0" smtClean="0"/>
              <a:t>Bu </a:t>
            </a:r>
            <a:r>
              <a:rPr lang="tr-TR" dirty="0"/>
              <a:t>sorunları çözüm getirmek için asimetrik şifreleme algoritmaları geliştirilmiştir</a:t>
            </a:r>
            <a:r>
              <a:rPr lang="tr-TR" dirty="0" smtClean="0"/>
              <a:t>.</a:t>
            </a:r>
          </a:p>
          <a:p>
            <a:r>
              <a:rPr lang="tr-TR" dirty="0" smtClean="0"/>
              <a:t> </a:t>
            </a:r>
            <a:r>
              <a:rPr lang="tr-TR" dirty="0"/>
              <a:t>Asimetrik şifreleme algoritmalarında şifreleme anahtarı ile şifre çözme anahtarı birbirinden farklıdır. </a:t>
            </a:r>
            <a:endParaRPr lang="tr-TR" dirty="0" smtClean="0"/>
          </a:p>
          <a:p>
            <a:r>
              <a:rPr lang="tr-TR" dirty="0"/>
              <a:t>Şifreleme yapan </a:t>
            </a:r>
            <a:r>
              <a:rPr lang="tr-TR" dirty="0" smtClean="0"/>
              <a:t>anahtar </a:t>
            </a:r>
            <a:r>
              <a:rPr lang="tr-TR" dirty="0"/>
              <a:t>açık anahtar, şifreyi çözen anahtar ise özel anahtardır. </a:t>
            </a:r>
          </a:p>
          <a:p>
            <a:r>
              <a:rPr lang="tr-TR" dirty="0"/>
              <a:t>Açık anahtarlar herkese dağıtılabilir, ancak hangi anahtarın kime ait olduğundan da emin olunmalıdır. Bu yüzden sertifikalar kullanılmaktadır. Sertifika açık anahtar ile sahibinin kimliği arasındaki bağlantının belgesidir</a:t>
            </a:r>
            <a:r>
              <a:rPr lang="tr-TR" dirty="0" smtClean="0"/>
              <a:t>.</a:t>
            </a:r>
          </a:p>
          <a:p>
            <a:r>
              <a:rPr lang="tr-TR" dirty="0"/>
              <a:t>Özel anahtar ise sadece şifreyi çözecek kullanıcıda bulunur, açık anahtar ise gizli değildir. </a:t>
            </a:r>
          </a:p>
        </p:txBody>
      </p:sp>
    </p:spTree>
    <p:extLst>
      <p:ext uri="{BB962C8B-B14F-4D97-AF65-F5344CB8AC3E}">
        <p14:creationId xmlns:p14="http://schemas.microsoft.com/office/powerpoint/2010/main" val="189130987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Asimetrik </a:t>
            </a:r>
            <a:r>
              <a:rPr lang="tr-TR" dirty="0"/>
              <a:t>Şifreleme Algoritmaları</a:t>
            </a:r>
          </a:p>
        </p:txBody>
      </p:sp>
      <p:sp>
        <p:nvSpPr>
          <p:cNvPr id="3" name="İçerik Yer Tutucusu 2"/>
          <p:cNvSpPr>
            <a:spLocks noGrp="1"/>
          </p:cNvSpPr>
          <p:nvPr>
            <p:ph idx="1"/>
          </p:nvPr>
        </p:nvSpPr>
        <p:spPr/>
        <p:txBody>
          <a:bodyPr>
            <a:normAutofit fontScale="92500" lnSpcReduction="10000"/>
          </a:bodyPr>
          <a:lstStyle/>
          <a:p>
            <a:r>
              <a:rPr lang="tr-TR" dirty="0" smtClean="0"/>
              <a:t>Bu </a:t>
            </a:r>
            <a:r>
              <a:rPr lang="tr-TR" dirty="0"/>
              <a:t>yüzden asimetrik şifreleme güvenlik açısından simetriğe göre çok daha başarılıdır. Az sayıda anahtar kullanarak simetrik şifreleme yapan çok kullanıcılı uygulamalarda ortaya çıkabilecek anahtar fazlalığı durumunu engeller. Bununla birlikte hız ve donanımsal uygunluk gibi konularda asimetrik şifreleme simetriğe göre geri planda kalmıştır. </a:t>
            </a:r>
            <a:endParaRPr lang="tr-TR" dirty="0" smtClean="0"/>
          </a:p>
          <a:p>
            <a:r>
              <a:rPr lang="tr-TR" dirty="0" smtClean="0"/>
              <a:t>Asimetrik </a:t>
            </a:r>
            <a:r>
              <a:rPr lang="tr-TR" dirty="0"/>
              <a:t>algoritmaların güvenliğini sağlayabilmek için çok büyük asal sayılar kullanılmaktadır. Bu da zaman açısından çok büyük problemler getirmektedir</a:t>
            </a:r>
            <a:r>
              <a:rPr lang="tr-TR" dirty="0" smtClean="0"/>
              <a:t>.</a:t>
            </a:r>
          </a:p>
          <a:p>
            <a:r>
              <a:rPr lang="tr-TR" dirty="0" smtClean="0"/>
              <a:t>Asimetrik </a:t>
            </a:r>
            <a:r>
              <a:rPr lang="tr-TR" dirty="0"/>
              <a:t>bir algoritmayı kullanan sistemler simetrik algoritmaları kullanan sistemlere göre çok daha yavaştır. </a:t>
            </a:r>
            <a:endParaRPr lang="tr-TR" dirty="0" smtClean="0"/>
          </a:p>
          <a:p>
            <a:r>
              <a:rPr lang="tr-TR" dirty="0" smtClean="0"/>
              <a:t>Ayrıca </a:t>
            </a:r>
            <a:r>
              <a:rPr lang="tr-TR" dirty="0"/>
              <a:t>asimetrik şifreleme algoritmalarının çok büyük sayılar kullanmasından dolayı donanımsal yapılara uyum sağlaması çok zor olmaktadır. </a:t>
            </a:r>
          </a:p>
          <a:p>
            <a:r>
              <a:rPr lang="tr-TR" dirty="0"/>
              <a:t>Örnek </a:t>
            </a:r>
            <a:r>
              <a:rPr lang="tr-TR" dirty="0" smtClean="0"/>
              <a:t>Asimetrik Algoritma</a:t>
            </a:r>
            <a:endParaRPr lang="tr-TR" dirty="0"/>
          </a:p>
          <a:p>
            <a:pPr lvl="1"/>
            <a:r>
              <a:rPr lang="tr-TR" dirty="0" smtClean="0"/>
              <a:t>RSA </a:t>
            </a:r>
            <a:endParaRPr lang="tr-TR" dirty="0"/>
          </a:p>
          <a:p>
            <a:endParaRPr lang="tr-TR" dirty="0"/>
          </a:p>
        </p:txBody>
      </p:sp>
    </p:spTree>
    <p:extLst>
      <p:ext uri="{BB962C8B-B14F-4D97-AF65-F5344CB8AC3E}">
        <p14:creationId xmlns:p14="http://schemas.microsoft.com/office/powerpoint/2010/main" val="42704051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Asimetrik Şifreleme Algoritmaları</a:t>
            </a:r>
          </a:p>
        </p:txBody>
      </p:sp>
      <p:sp>
        <p:nvSpPr>
          <p:cNvPr id="3" name="İçerik Yer Tutucusu 2"/>
          <p:cNvSpPr>
            <a:spLocks noGrp="1"/>
          </p:cNvSpPr>
          <p:nvPr>
            <p:ph idx="1"/>
          </p:nvPr>
        </p:nvSpPr>
        <p:spPr/>
        <p:txBody>
          <a:bodyPr>
            <a:normAutofit/>
          </a:bodyPr>
          <a:lstStyle/>
          <a:p>
            <a:r>
              <a:rPr lang="tr-TR" b="1" u="sng" dirty="0" smtClean="0">
                <a:solidFill>
                  <a:srgbClr val="C00000"/>
                </a:solidFill>
                <a:effectLst>
                  <a:outerShdw blurRad="38100" dist="38100" dir="2700000" algn="tl">
                    <a:srgbClr val="000000">
                      <a:alpha val="43137"/>
                    </a:srgbClr>
                  </a:outerShdw>
                </a:effectLst>
              </a:rPr>
              <a:t>ÖRNEK:</a:t>
            </a:r>
          </a:p>
          <a:p>
            <a:pPr lvl="1"/>
            <a:r>
              <a:rPr lang="tr-TR" dirty="0" smtClean="0"/>
              <a:t>Özel Anahtar Kullanımı</a:t>
            </a:r>
          </a:p>
          <a:p>
            <a:pPr lvl="1"/>
            <a:r>
              <a:rPr lang="tr-TR" b="1" dirty="0" smtClean="0">
                <a:solidFill>
                  <a:srgbClr val="C00000"/>
                </a:solidFill>
                <a:effectLst>
                  <a:outerShdw blurRad="38100" dist="38100" dir="2700000" algn="tl">
                    <a:srgbClr val="000000">
                      <a:alpha val="43137"/>
                    </a:srgbClr>
                  </a:outerShdw>
                </a:effectLst>
              </a:rPr>
              <a:t>Durum</a:t>
            </a:r>
            <a:r>
              <a:rPr lang="tr-TR" dirty="0"/>
              <a:t>: Barış elindeki çantanın Ayşe’ye güvenli bir biçimde iletilmesini ve çantanın yalnızca Ayşe tarafından açılmasını istiyor</a:t>
            </a:r>
            <a:r>
              <a:rPr lang="tr-TR" dirty="0" smtClean="0"/>
              <a:t>. Nasıl </a:t>
            </a:r>
            <a:r>
              <a:rPr lang="tr-TR" dirty="0"/>
              <a:t>bir algoritma kullanılmalı? </a:t>
            </a:r>
          </a:p>
          <a:p>
            <a:pPr lvl="2"/>
            <a:r>
              <a:rPr lang="tr-TR" sz="2000" b="1" u="sng" dirty="0" smtClean="0"/>
              <a:t>Adım1:</a:t>
            </a:r>
            <a:r>
              <a:rPr lang="tr-TR" sz="2000" dirty="0" smtClean="0"/>
              <a:t> </a:t>
            </a:r>
            <a:r>
              <a:rPr lang="tr-TR" sz="2000" dirty="0"/>
              <a:t>Barış elindeki çantaya sadece bir tane anahtarı olan bir kilit takar ve Ayşe’ye yollar. Buradaki anahtar Barış’ın özel anahtarıdır. </a:t>
            </a:r>
          </a:p>
          <a:p>
            <a:pPr lvl="2"/>
            <a:r>
              <a:rPr lang="tr-TR" sz="2000" b="1" u="sng" dirty="0" smtClean="0"/>
              <a:t>Adım2:</a:t>
            </a:r>
            <a:r>
              <a:rPr lang="tr-TR" sz="2000" dirty="0" smtClean="0"/>
              <a:t> </a:t>
            </a:r>
            <a:r>
              <a:rPr lang="tr-TR" sz="2000" dirty="0"/>
              <a:t>Ayşe de çantayı aldığı zaman kilidi açan anahtarı olmadığı için, anahtarı sadece kendinde olan başka bir kilit takar ve çantayı Barış’a geri yollar. </a:t>
            </a:r>
          </a:p>
          <a:p>
            <a:pPr lvl="2"/>
            <a:r>
              <a:rPr lang="tr-TR" sz="2000" b="1" u="sng" dirty="0" smtClean="0"/>
              <a:t>Adım3:</a:t>
            </a:r>
            <a:r>
              <a:rPr lang="tr-TR" sz="2000" dirty="0" smtClean="0"/>
              <a:t> </a:t>
            </a:r>
            <a:r>
              <a:rPr lang="tr-TR" sz="2000" dirty="0"/>
              <a:t>Barış çantayı aldığı zaman kendi takmış olduğu kilidi açar ve tekrar Ayşe’ye yollar. </a:t>
            </a:r>
          </a:p>
          <a:p>
            <a:pPr lvl="2"/>
            <a:r>
              <a:rPr lang="tr-TR" sz="2000" b="1" u="sng" dirty="0" smtClean="0"/>
              <a:t>Adım4:</a:t>
            </a:r>
            <a:r>
              <a:rPr lang="tr-TR" sz="2000" dirty="0" smtClean="0"/>
              <a:t> </a:t>
            </a:r>
            <a:r>
              <a:rPr lang="tr-TR" sz="2000" dirty="0"/>
              <a:t>Ayşe çantayı aldığında çantanın üzerinde sadece kendi takmış olduğu kilit vardır. Elindeki anahtarı kullanan Ayşe, çantayı açar ve Barış’ın göndermiş olduğu belgeleri sadece kendisinin almış olduğundan emin olur. </a:t>
            </a:r>
          </a:p>
        </p:txBody>
      </p:sp>
    </p:spTree>
    <p:extLst>
      <p:ext uri="{BB962C8B-B14F-4D97-AF65-F5344CB8AC3E}">
        <p14:creationId xmlns:p14="http://schemas.microsoft.com/office/powerpoint/2010/main" val="34395004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Sezar Şifreleme Algoritması</a:t>
            </a:r>
            <a:endParaRPr lang="tr-TR" dirty="0"/>
          </a:p>
        </p:txBody>
      </p:sp>
      <p:sp>
        <p:nvSpPr>
          <p:cNvPr id="3" name="İçerik Yer Tutucusu 2"/>
          <p:cNvSpPr>
            <a:spLocks noGrp="1"/>
          </p:cNvSpPr>
          <p:nvPr>
            <p:ph idx="1"/>
          </p:nvPr>
        </p:nvSpPr>
        <p:spPr/>
        <p:txBody>
          <a:bodyPr>
            <a:normAutofit/>
          </a:bodyPr>
          <a:lstStyle/>
          <a:p>
            <a:r>
              <a:rPr lang="tr-TR" sz="3000" dirty="0" smtClean="0"/>
              <a:t>İlk </a:t>
            </a:r>
            <a:r>
              <a:rPr lang="tr-TR" sz="3000" dirty="0"/>
              <a:t>şifreleme algoritmalarından kabul edilen </a:t>
            </a:r>
            <a:r>
              <a:rPr lang="tr-TR" sz="3000" b="1" dirty="0" err="1">
                <a:solidFill>
                  <a:srgbClr val="C00000"/>
                </a:solidFill>
                <a:effectLst>
                  <a:outerShdw blurRad="38100" dist="38100" dir="2700000" algn="tl">
                    <a:srgbClr val="000000">
                      <a:alpha val="43137"/>
                    </a:srgbClr>
                  </a:outerShdw>
                </a:effectLst>
              </a:rPr>
              <a:t>s</a:t>
            </a:r>
            <a:r>
              <a:rPr lang="tr-TR" sz="3000" b="1" dirty="0" err="1" smtClean="0">
                <a:solidFill>
                  <a:srgbClr val="C00000"/>
                </a:solidFill>
                <a:effectLst>
                  <a:outerShdw blurRad="38100" dist="38100" dir="2700000" algn="tl">
                    <a:srgbClr val="000000">
                      <a:alpha val="43137"/>
                    </a:srgbClr>
                  </a:outerShdw>
                </a:effectLst>
              </a:rPr>
              <a:t>ezar</a:t>
            </a:r>
            <a:r>
              <a:rPr lang="tr-TR" sz="3000" b="1" dirty="0" smtClean="0">
                <a:solidFill>
                  <a:srgbClr val="C00000"/>
                </a:solidFill>
                <a:effectLst>
                  <a:outerShdw blurRad="38100" dist="38100" dir="2700000" algn="tl">
                    <a:srgbClr val="000000">
                      <a:alpha val="43137"/>
                    </a:srgbClr>
                  </a:outerShdw>
                </a:effectLst>
              </a:rPr>
              <a:t> </a:t>
            </a:r>
            <a:r>
              <a:rPr lang="tr-TR" sz="3000" b="1" dirty="0">
                <a:solidFill>
                  <a:srgbClr val="C00000"/>
                </a:solidFill>
                <a:effectLst>
                  <a:outerShdw blurRad="38100" dist="38100" dir="2700000" algn="tl">
                    <a:srgbClr val="000000">
                      <a:alpha val="43137"/>
                    </a:srgbClr>
                  </a:outerShdw>
                </a:effectLst>
              </a:rPr>
              <a:t>şifreleme algoritması</a:t>
            </a:r>
            <a:r>
              <a:rPr lang="tr-TR" sz="3000" dirty="0"/>
              <a:t> (</a:t>
            </a:r>
            <a:r>
              <a:rPr lang="tr-TR" sz="3000" dirty="0" err="1"/>
              <a:t>Caesar</a:t>
            </a:r>
            <a:r>
              <a:rPr lang="tr-TR" sz="3000" dirty="0"/>
              <a:t> </a:t>
            </a:r>
            <a:r>
              <a:rPr lang="tr-TR" sz="3000" dirty="0" err="1"/>
              <a:t>chiper</a:t>
            </a:r>
            <a:r>
              <a:rPr lang="tr-TR" sz="3000" dirty="0"/>
              <a:t>), eski Roma İmparatoru Julius </a:t>
            </a:r>
            <a:r>
              <a:rPr lang="tr-TR" sz="3000" dirty="0" err="1"/>
              <a:t>Caesar</a:t>
            </a:r>
            <a:r>
              <a:rPr lang="tr-TR" sz="3000" dirty="0"/>
              <a:t> tarafından savaş zamanlarındaki bilgi gönderiminde kullanılmıştır. </a:t>
            </a:r>
          </a:p>
          <a:p>
            <a:pPr lvl="1"/>
            <a:r>
              <a:rPr lang="tr-TR" sz="2400" dirty="0"/>
              <a:t>Bu algoritmada; mesajdaki her karakter, başka (‘anahtar’ </a:t>
            </a:r>
            <a:r>
              <a:rPr lang="tr-TR" sz="2400" dirty="0" smtClean="0"/>
              <a:t>değeri kadar </a:t>
            </a:r>
            <a:r>
              <a:rPr lang="tr-TR" sz="2400" dirty="0"/>
              <a:t>ötelenmiş) karakterle yer değiştirerek şifreli mesaj </a:t>
            </a:r>
            <a:r>
              <a:rPr lang="tr-TR" sz="2400" dirty="0" smtClean="0"/>
              <a:t>elde edilmektedir</a:t>
            </a:r>
            <a:r>
              <a:rPr lang="tr-TR" sz="2400" dirty="0"/>
              <a:t>. </a:t>
            </a:r>
            <a:endParaRPr lang="tr-TR" sz="2400" dirty="0" smtClean="0"/>
          </a:p>
          <a:p>
            <a:pPr lvl="1"/>
            <a:r>
              <a:rPr lang="tr-TR" sz="2400" dirty="0" smtClean="0"/>
              <a:t>Örneğin </a:t>
            </a:r>
            <a:r>
              <a:rPr lang="tr-TR" sz="2400" dirty="0"/>
              <a:t>ROT13 olarak adlandırılan şifreleme </a:t>
            </a:r>
            <a:r>
              <a:rPr lang="tr-TR" sz="2400" dirty="0" smtClean="0"/>
              <a:t>yönteminde </a:t>
            </a:r>
            <a:r>
              <a:rPr lang="tr-TR" sz="2400" dirty="0"/>
              <a:t>öteleme miktarı </a:t>
            </a:r>
            <a:r>
              <a:rPr lang="tr-TR" sz="2400" dirty="0" smtClean="0"/>
              <a:t>13’tür.</a:t>
            </a:r>
            <a:endParaRPr lang="tr-TR" sz="2400" dirty="0"/>
          </a:p>
        </p:txBody>
      </p:sp>
    </p:spTree>
    <p:extLst>
      <p:ext uri="{BB962C8B-B14F-4D97-AF65-F5344CB8AC3E}">
        <p14:creationId xmlns:p14="http://schemas.microsoft.com/office/powerpoint/2010/main" val="31440900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Sezar Şifreleme Algoritması</a:t>
            </a:r>
            <a:endParaRPr lang="tr-TR" dirty="0"/>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lstStyle/>
              <a:p>
                <a:r>
                  <a:rPr lang="tr-TR" dirty="0" smtClean="0"/>
                  <a:t>Eğer anahtar değeri 2 ise orijinal mesajdaki her harf, kendisinden iki sonraki harfle yer değiştirir. Yani orijinal mesajdaki                       </a:t>
                </a:r>
                <a14:m>
                  <m:oMath xmlns:m="http://schemas.openxmlformats.org/officeDocument/2006/math">
                    <m:r>
                      <a:rPr lang="tr-TR" b="0" i="0" smtClean="0">
                        <a:latin typeface="Cambria Math" panose="02040503050406030204" pitchFamily="18" charset="0"/>
                        <a:ea typeface="Cambria Math" panose="02040503050406030204" pitchFamily="18" charset="0"/>
                      </a:rPr>
                      <m:t>"</m:t>
                    </m:r>
                    <m:r>
                      <m:rPr>
                        <m:nor/>
                      </m:rPr>
                      <a:rPr lang="tr-TR" b="0" i="0" smtClean="0">
                        <a:latin typeface="Cambria Math" panose="02040503050406030204" pitchFamily="18" charset="0"/>
                        <a:ea typeface="Cambria Math" panose="02040503050406030204" pitchFamily="18" charset="0"/>
                      </a:rPr>
                      <m:t>A</m:t>
                    </m:r>
                    <m:r>
                      <m:rPr>
                        <m:nor/>
                      </m:rPr>
                      <a:rPr lang="tr-TR" b="0" i="0" smtClean="0">
                        <a:latin typeface="Cambria Math" panose="02040503050406030204" pitchFamily="18" charset="0"/>
                        <a:ea typeface="Cambria Math" panose="02040503050406030204" pitchFamily="18" charset="0"/>
                      </a:rPr>
                      <m:t>"</m:t>
                    </m:r>
                    <m:r>
                      <a:rPr lang="tr-TR" i="1" smtClean="0">
                        <a:latin typeface="Cambria Math" panose="02040503050406030204" pitchFamily="18" charset="0"/>
                        <a:ea typeface="Cambria Math" panose="02040503050406030204" pitchFamily="18" charset="0"/>
                      </a:rPr>
                      <m:t>→</m:t>
                    </m:r>
                    <m:r>
                      <m:rPr>
                        <m:nor/>
                      </m:rPr>
                      <a:rPr lang="tr-TR" b="0" i="0" smtClean="0">
                        <a:latin typeface="Cambria Math" panose="02040503050406030204" pitchFamily="18" charset="0"/>
                        <a:ea typeface="Cambria Math" panose="02040503050406030204" pitchFamily="18" charset="0"/>
                      </a:rPr>
                      <m:t>"</m:t>
                    </m:r>
                    <m:r>
                      <m:rPr>
                        <m:nor/>
                      </m:rPr>
                      <a:rPr lang="tr-TR" b="0" i="0" smtClean="0">
                        <a:latin typeface="Cambria Math" panose="02040503050406030204" pitchFamily="18" charset="0"/>
                        <a:ea typeface="Cambria Math" panose="02040503050406030204" pitchFamily="18" charset="0"/>
                      </a:rPr>
                      <m:t>C</m:t>
                    </m:r>
                    <m:r>
                      <m:rPr>
                        <m:nor/>
                      </m:rPr>
                      <a:rPr lang="tr-TR" b="0" i="0"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𝐵</m:t>
                    </m:r>
                    <m:r>
                      <a:rPr lang="tr-TR" b="0" i="1" smtClean="0">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𝐷</m:t>
                    </m:r>
                    <m:r>
                      <a:rPr lang="tr-TR" b="0" i="1" smtClean="0">
                        <a:latin typeface="Cambria Math" panose="02040503050406030204" pitchFamily="18" charset="0"/>
                        <a:ea typeface="Cambria Math" panose="02040503050406030204" pitchFamily="18" charset="0"/>
                      </a:rPr>
                      <m:t>"</m:t>
                    </m:r>
                  </m:oMath>
                </a14:m>
                <a:r>
                  <a:rPr lang="tr-TR" dirty="0" smtClean="0"/>
                  <a:t> olur</a:t>
                </a:r>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902" t="-1759" r="-1803"/>
                </a:stretch>
              </a:blipFill>
            </p:spPr>
            <p:txBody>
              <a:bodyPr/>
              <a:lstStyle/>
              <a:p>
                <a:r>
                  <a:rPr lang="tr-TR">
                    <a:noFill/>
                  </a:rPr>
                  <a:t> </a:t>
                </a:r>
              </a:p>
            </p:txBody>
          </p:sp>
        </mc:Fallback>
      </mc:AlternateContent>
      <p:pic>
        <p:nvPicPr>
          <p:cNvPr id="4" name="Resim 3"/>
          <p:cNvPicPr>
            <a:picLocks noChangeAspect="1"/>
          </p:cNvPicPr>
          <p:nvPr/>
        </p:nvPicPr>
        <p:blipFill rotWithShape="1">
          <a:blip r:embed="rId3"/>
          <a:srcRect l="12134" t="20759" r="23557" b="32892"/>
          <a:stretch/>
        </p:blipFill>
        <p:spPr>
          <a:xfrm>
            <a:off x="2051720" y="2492896"/>
            <a:ext cx="5328592" cy="3116724"/>
          </a:xfrm>
          <a:prstGeom prst="rect">
            <a:avLst/>
          </a:prstGeom>
          <a:effectLst>
            <a:outerShdw blurRad="76200" dir="13500000" sy="23000" kx="1200000" algn="br" rotWithShape="0">
              <a:prstClr val="black">
                <a:alpha val="20000"/>
              </a:prstClr>
            </a:outerShdw>
          </a:effectLst>
        </p:spPr>
      </p:pic>
    </p:spTree>
    <p:extLst>
      <p:ext uri="{BB962C8B-B14F-4D97-AF65-F5344CB8AC3E}">
        <p14:creationId xmlns:p14="http://schemas.microsoft.com/office/powerpoint/2010/main" val="59804826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p:sp>
        <p:nvSpPr>
          <p:cNvPr id="3" name="İçerik Yer Tutucusu 2"/>
          <p:cNvSpPr>
            <a:spLocks noGrp="1"/>
          </p:cNvSpPr>
          <p:nvPr>
            <p:ph idx="1"/>
          </p:nvPr>
        </p:nvSpPr>
        <p:spPr/>
        <p:txBody>
          <a:bodyPr>
            <a:normAutofit/>
          </a:bodyPr>
          <a:lstStyle/>
          <a:p>
            <a:r>
              <a:rPr lang="tr-TR" dirty="0" smtClean="0"/>
              <a:t>İlk </a:t>
            </a:r>
            <a:r>
              <a:rPr lang="tr-TR" dirty="0"/>
              <a:t>defa 1977 yılında </a:t>
            </a:r>
            <a:r>
              <a:rPr lang="tr-TR" dirty="0" err="1"/>
              <a:t>Ron</a:t>
            </a:r>
            <a:r>
              <a:rPr lang="tr-TR" dirty="0"/>
              <a:t> </a:t>
            </a:r>
            <a:r>
              <a:rPr lang="tr-TR" dirty="0" err="1"/>
              <a:t>Rivest</a:t>
            </a:r>
            <a:r>
              <a:rPr lang="tr-TR" dirty="0"/>
              <a:t>, Adi </a:t>
            </a:r>
            <a:r>
              <a:rPr lang="tr-TR" dirty="0" err="1"/>
              <a:t>Shamir</a:t>
            </a:r>
            <a:r>
              <a:rPr lang="tr-TR" dirty="0"/>
              <a:t> ve </a:t>
            </a:r>
            <a:r>
              <a:rPr lang="tr-TR" dirty="0" err="1"/>
              <a:t>Leonard</a:t>
            </a:r>
            <a:r>
              <a:rPr lang="tr-TR" dirty="0"/>
              <a:t> </a:t>
            </a:r>
            <a:r>
              <a:rPr lang="tr-TR" dirty="0" err="1"/>
              <a:t>Adleman</a:t>
            </a:r>
            <a:r>
              <a:rPr lang="tr-TR" dirty="0"/>
              <a:t> tarafından oluşturulan RSA algoritması geliştiricilerinin soy isimlerinin ilk harfleriyle anılmaktadır. </a:t>
            </a:r>
          </a:p>
          <a:p>
            <a:r>
              <a:rPr lang="tr-TR" dirty="0" smtClean="0"/>
              <a:t>Genel </a:t>
            </a:r>
            <a:r>
              <a:rPr lang="tr-TR" dirty="0"/>
              <a:t>anahtarlı </a:t>
            </a:r>
            <a:r>
              <a:rPr lang="tr-TR" dirty="0" smtClean="0"/>
              <a:t>bir şifreleme tekniği</a:t>
            </a:r>
          </a:p>
          <a:p>
            <a:r>
              <a:rPr lang="tr-TR" dirty="0"/>
              <a:t>Ç</a:t>
            </a:r>
            <a:r>
              <a:rPr lang="tr-TR" dirty="0" smtClean="0"/>
              <a:t>ok </a:t>
            </a:r>
            <a:r>
              <a:rPr lang="tr-TR" dirty="0"/>
              <a:t>büyük tamsayıları oluşturma ve bu sayıları işlemenin zorluğu üzerine düşünülmüştür. </a:t>
            </a:r>
            <a:endParaRPr lang="tr-TR" dirty="0" smtClean="0"/>
          </a:p>
          <a:p>
            <a:r>
              <a:rPr lang="tr-TR" dirty="0" smtClean="0"/>
              <a:t>Anahtar </a:t>
            </a:r>
            <a:r>
              <a:rPr lang="tr-TR" dirty="0"/>
              <a:t>oluşturma işlemi için asal sayılar kullanılarak daha güvenli bir yapı oluşturulmuştur. </a:t>
            </a:r>
            <a:endParaRPr lang="tr-TR" dirty="0" smtClean="0"/>
          </a:p>
        </p:txBody>
      </p:sp>
    </p:spTree>
    <p:extLst>
      <p:ext uri="{BB962C8B-B14F-4D97-AF65-F5344CB8AC3E}">
        <p14:creationId xmlns:p14="http://schemas.microsoft.com/office/powerpoint/2010/main" val="112923209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p:sp>
        <p:nvSpPr>
          <p:cNvPr id="3" name="İçerik Yer Tutucusu 2"/>
          <p:cNvSpPr>
            <a:spLocks noGrp="1"/>
          </p:cNvSpPr>
          <p:nvPr>
            <p:ph idx="1"/>
          </p:nvPr>
        </p:nvSpPr>
        <p:spPr/>
        <p:txBody>
          <a:bodyPr>
            <a:normAutofit/>
          </a:bodyPr>
          <a:lstStyle/>
          <a:p>
            <a:r>
              <a:rPr lang="tr-TR" dirty="0" smtClean="0"/>
              <a:t>Anahtar </a:t>
            </a:r>
            <a:r>
              <a:rPr lang="tr-TR" dirty="0"/>
              <a:t>oluşturma </a:t>
            </a:r>
            <a:r>
              <a:rPr lang="tr-TR" dirty="0" smtClean="0"/>
              <a:t>algoritması:</a:t>
            </a:r>
            <a:endParaRPr lang="tr-TR" dirty="0"/>
          </a:p>
          <a:p>
            <a:pPr lvl="1"/>
            <a:r>
              <a:rPr lang="tr-TR" dirty="0" smtClean="0"/>
              <a:t>Alıcı </a:t>
            </a:r>
            <a:r>
              <a:rPr lang="tr-TR" dirty="0"/>
              <a:t>P ve Q gibi çok büyük iki asal sayı seçer. </a:t>
            </a:r>
          </a:p>
          <a:p>
            <a:pPr lvl="1"/>
            <a:r>
              <a:rPr lang="tr-TR" dirty="0" smtClean="0"/>
              <a:t>Bu </a:t>
            </a:r>
            <a:r>
              <a:rPr lang="tr-TR" dirty="0"/>
              <a:t>iki asal sayının çarpımı </a:t>
            </a:r>
            <a:r>
              <a:rPr lang="tr-TR" dirty="0" smtClean="0"/>
              <a:t>ve bir eksiklerinin çarpımı hesaplanır </a:t>
            </a:r>
            <a:r>
              <a:rPr lang="tr-TR" dirty="0"/>
              <a:t>(alıcı</a:t>
            </a:r>
            <a:r>
              <a:rPr lang="tr-TR" dirty="0" smtClean="0"/>
              <a:t>).</a:t>
            </a:r>
          </a:p>
          <a:p>
            <a:pPr lvl="2"/>
            <a:r>
              <a:rPr lang="tr-TR" dirty="0"/>
              <a:t>N = </a:t>
            </a:r>
            <a:r>
              <a:rPr lang="tr-TR" dirty="0" smtClean="0"/>
              <a:t>P.Q</a:t>
            </a:r>
          </a:p>
          <a:p>
            <a:pPr lvl="2"/>
            <a:r>
              <a:rPr lang="el-GR" dirty="0"/>
              <a:t>φ(</a:t>
            </a:r>
            <a:r>
              <a:rPr lang="tr-TR" dirty="0"/>
              <a:t>N)=(P- 1)(Q-1)</a:t>
            </a:r>
            <a:endParaRPr lang="tr-TR" dirty="0" smtClean="0"/>
          </a:p>
          <a:p>
            <a:pPr lvl="1"/>
            <a:r>
              <a:rPr lang="tr-TR" dirty="0" smtClean="0"/>
              <a:t>1’den </a:t>
            </a:r>
            <a:r>
              <a:rPr lang="tr-TR" dirty="0"/>
              <a:t>büyük </a:t>
            </a:r>
            <a:r>
              <a:rPr lang="el-GR" dirty="0"/>
              <a:t>φ(</a:t>
            </a:r>
            <a:r>
              <a:rPr lang="tr-TR" dirty="0"/>
              <a:t>N)’den küçük </a:t>
            </a:r>
            <a:r>
              <a:rPr lang="el-GR" dirty="0"/>
              <a:t>φ(</a:t>
            </a:r>
            <a:r>
              <a:rPr lang="tr-TR" dirty="0"/>
              <a:t>N) ile aralarında asal bir E </a:t>
            </a:r>
            <a:r>
              <a:rPr lang="tr-TR" dirty="0" smtClean="0"/>
              <a:t>tamsayısı seçilir</a:t>
            </a:r>
            <a:r>
              <a:rPr lang="tr-TR" dirty="0"/>
              <a:t> </a:t>
            </a:r>
            <a:r>
              <a:rPr lang="tr-TR" dirty="0" smtClean="0"/>
              <a:t>(alıcı). </a:t>
            </a:r>
            <a:endParaRPr lang="tr-TR" dirty="0"/>
          </a:p>
          <a:p>
            <a:pPr lvl="1"/>
            <a:r>
              <a:rPr lang="tr-TR" dirty="0" smtClean="0"/>
              <a:t>Seçilen </a:t>
            </a:r>
            <a:r>
              <a:rPr lang="tr-TR" dirty="0"/>
              <a:t>E tamsayısının </a:t>
            </a:r>
            <a:r>
              <a:rPr lang="tr-TR" dirty="0" err="1"/>
              <a:t>mod</a:t>
            </a:r>
            <a:r>
              <a:rPr lang="tr-TR" dirty="0"/>
              <a:t> </a:t>
            </a:r>
            <a:r>
              <a:rPr lang="el-GR" dirty="0"/>
              <a:t>φ(</a:t>
            </a:r>
            <a:r>
              <a:rPr lang="tr-TR" dirty="0"/>
              <a:t>N)’de tersi alınır, sonuç D gibi </a:t>
            </a:r>
            <a:r>
              <a:rPr lang="tr-TR" dirty="0" smtClean="0"/>
              <a:t>bir tamsayıdır</a:t>
            </a:r>
            <a:r>
              <a:rPr lang="tr-TR" dirty="0"/>
              <a:t> </a:t>
            </a:r>
            <a:r>
              <a:rPr lang="tr-TR" dirty="0" smtClean="0"/>
              <a:t>(alıcı). </a:t>
            </a:r>
          </a:p>
          <a:p>
            <a:pPr lvl="1"/>
            <a:r>
              <a:rPr lang="tr-TR" dirty="0" smtClean="0"/>
              <a:t>E </a:t>
            </a:r>
            <a:r>
              <a:rPr lang="tr-TR" dirty="0"/>
              <a:t>ve N tamsayıları genel anahtarı, D ve N tamsayıları ise özel anahtarı </a:t>
            </a:r>
            <a:r>
              <a:rPr lang="tr-TR" dirty="0" smtClean="0"/>
              <a:t>oluşturur</a:t>
            </a:r>
            <a:r>
              <a:rPr lang="tr-TR" dirty="0"/>
              <a:t> </a:t>
            </a:r>
            <a:r>
              <a:rPr lang="tr-TR" dirty="0" smtClean="0"/>
              <a:t>(alıcı).</a:t>
            </a:r>
            <a:endParaRPr lang="tr-TR" dirty="0"/>
          </a:p>
        </p:txBody>
      </p:sp>
    </p:spTree>
    <p:extLst>
      <p:ext uri="{BB962C8B-B14F-4D97-AF65-F5344CB8AC3E}">
        <p14:creationId xmlns:p14="http://schemas.microsoft.com/office/powerpoint/2010/main" val="222107684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a:t>RSA Algoritması</a:t>
            </a:r>
          </a:p>
        </p:txBody>
      </p:sp>
      <p:sp>
        <p:nvSpPr>
          <p:cNvPr id="3" name="İçerik Yer Tutucusu 2"/>
          <p:cNvSpPr>
            <a:spLocks noGrp="1"/>
          </p:cNvSpPr>
          <p:nvPr>
            <p:ph idx="1"/>
          </p:nvPr>
        </p:nvSpPr>
        <p:spPr/>
        <p:txBody>
          <a:bodyPr>
            <a:normAutofit lnSpcReduction="10000"/>
          </a:bodyPr>
          <a:lstStyle/>
          <a:p>
            <a:r>
              <a:rPr lang="tr-TR" dirty="0" smtClean="0"/>
              <a:t>Genel </a:t>
            </a:r>
            <a:r>
              <a:rPr lang="tr-TR" dirty="0"/>
              <a:t>ve özel anahtarları oluşturduktan sonra; alıcı genel anahtarı halka açar. Yani bu sayıları herkes görebilir. Ancak özel anahtarı sadece alıcı bilir. </a:t>
            </a:r>
          </a:p>
          <a:p>
            <a:r>
              <a:rPr lang="tr-TR" dirty="0"/>
              <a:t>Şimdi bu alıcıya mesaj gönderelim. </a:t>
            </a:r>
          </a:p>
          <a:p>
            <a:r>
              <a:rPr lang="tr-TR" dirty="0"/>
              <a:t>Gönderen kişi halka açık olduğu için (</a:t>
            </a:r>
            <a:r>
              <a:rPr lang="tr-TR" dirty="0" err="1"/>
              <a:t>N,e</a:t>
            </a:r>
            <a:r>
              <a:rPr lang="tr-TR" dirty="0"/>
              <a:t>)’ye </a:t>
            </a:r>
            <a:r>
              <a:rPr lang="tr-TR" dirty="0" smtClean="0"/>
              <a:t>ulaşabilir. Ve </a:t>
            </a:r>
            <a:r>
              <a:rPr lang="tr-TR" dirty="0"/>
              <a:t>bu genel anahtar ile göndereceği mesajı şifreler. Şifreleme işlemi şu şekilde yapılmaktadır: </a:t>
            </a:r>
          </a:p>
          <a:p>
            <a:pPr lvl="1"/>
            <a:r>
              <a:rPr lang="tr-TR" dirty="0"/>
              <a:t>Şifrelenecek bilginin sayısal karşılığının </a:t>
            </a:r>
            <a:r>
              <a:rPr lang="tr-TR" dirty="0" err="1"/>
              <a:t>E’ninci</a:t>
            </a:r>
            <a:r>
              <a:rPr lang="tr-TR" dirty="0"/>
              <a:t> kuvveti alınır ve bunun </a:t>
            </a:r>
            <a:r>
              <a:rPr lang="tr-TR" dirty="0" err="1" smtClean="0"/>
              <a:t>mod</a:t>
            </a:r>
            <a:r>
              <a:rPr lang="tr-TR" dirty="0" smtClean="0"/>
              <a:t> </a:t>
            </a:r>
            <a:r>
              <a:rPr lang="tr-TR" dirty="0"/>
              <a:t>N deki karşılığı şifrelenmiş metni oluşturmaktadır. </a:t>
            </a:r>
          </a:p>
          <a:p>
            <a:r>
              <a:rPr lang="tr-TR" dirty="0"/>
              <a:t>Genel anahtar ile şifrelenmiş bir metin ancak özel anahtar ile açılabilir. </a:t>
            </a:r>
            <a:endParaRPr lang="tr-TR" dirty="0" smtClean="0"/>
          </a:p>
          <a:p>
            <a:pPr lvl="1"/>
            <a:r>
              <a:rPr lang="tr-TR" dirty="0" smtClean="0"/>
              <a:t>Bu </a:t>
            </a:r>
            <a:r>
              <a:rPr lang="tr-TR" dirty="0"/>
              <a:t>yüzden şifrelenmiş metin, yine aynı yolla, şifrelenmiş metnin sayısal karşılığının </a:t>
            </a:r>
            <a:r>
              <a:rPr lang="tr-TR" dirty="0" err="1"/>
              <a:t>D’ninci</a:t>
            </a:r>
            <a:r>
              <a:rPr lang="tr-TR" dirty="0"/>
              <a:t> kuvveti alınır ve bunun </a:t>
            </a:r>
            <a:r>
              <a:rPr lang="tr-TR" dirty="0" err="1"/>
              <a:t>mod</a:t>
            </a:r>
            <a:r>
              <a:rPr lang="tr-TR" dirty="0"/>
              <a:t> N deki karşılığı orijinal metni oluşturur</a:t>
            </a:r>
          </a:p>
        </p:txBody>
      </p:sp>
    </p:spTree>
    <p:extLst>
      <p:ext uri="{BB962C8B-B14F-4D97-AF65-F5344CB8AC3E}">
        <p14:creationId xmlns:p14="http://schemas.microsoft.com/office/powerpoint/2010/main" val="182982785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p:sp>
        <p:nvSpPr>
          <p:cNvPr id="3" name="İçerik Yer Tutucusu 2"/>
          <p:cNvSpPr>
            <a:spLocks noGrp="1"/>
          </p:cNvSpPr>
          <p:nvPr>
            <p:ph idx="1"/>
          </p:nvPr>
        </p:nvSpPr>
        <p:spPr/>
        <p:txBody>
          <a:bodyPr/>
          <a:lstStyle/>
          <a:p>
            <a:r>
              <a:rPr lang="tr-TR" dirty="0" smtClean="0"/>
              <a:t>Bu </a:t>
            </a:r>
            <a:r>
              <a:rPr lang="tr-TR" dirty="0"/>
              <a:t>algoritmada iki asal sayının çarpımını kullanarak anahtar </a:t>
            </a:r>
            <a:r>
              <a:rPr lang="tr-TR" dirty="0" smtClean="0"/>
              <a:t>oluşturulmasının </a:t>
            </a:r>
            <a:r>
              <a:rPr lang="tr-TR" dirty="0"/>
              <a:t>sebebi, iki asal sayının çarpımını asal çarpanlarına ayırmak asal olmayan sayıları ayırmaktan daha zorlu olmasıdır. </a:t>
            </a:r>
          </a:p>
          <a:p>
            <a:r>
              <a:rPr lang="tr-TR" dirty="0"/>
              <a:t>Formül işleme koyulduğunda en çok zaman alan süreç, üst alma ve </a:t>
            </a:r>
            <a:r>
              <a:rPr lang="tr-TR" dirty="0" err="1"/>
              <a:t>mod</a:t>
            </a:r>
            <a:r>
              <a:rPr lang="tr-TR" dirty="0"/>
              <a:t> </a:t>
            </a:r>
            <a:r>
              <a:rPr lang="tr-TR" dirty="0" smtClean="0"/>
              <a:t>bulma </a:t>
            </a:r>
            <a:r>
              <a:rPr lang="tr-TR" dirty="0"/>
              <a:t>işlemleridir. Süreci hızlandırmak için E </a:t>
            </a:r>
            <a:r>
              <a:rPr lang="tr-TR" dirty="0" smtClean="0"/>
              <a:t>değeri </a:t>
            </a:r>
            <a:r>
              <a:rPr lang="tr-TR" dirty="0"/>
              <a:t>küçük ya da </a:t>
            </a:r>
            <a:r>
              <a:rPr lang="tr-TR" dirty="0" smtClean="0"/>
              <a:t>hesaplanması </a:t>
            </a:r>
            <a:r>
              <a:rPr lang="tr-TR" dirty="0"/>
              <a:t>kolay bir değer seçilebilir. </a:t>
            </a:r>
            <a:r>
              <a:rPr lang="tr-TR" dirty="0" smtClean="0"/>
              <a:t>Bu durumda </a:t>
            </a:r>
            <a:r>
              <a:rPr lang="tr-TR" dirty="0"/>
              <a:t>da yukarıda bahsettiğimiz gibi değerin küçüklüğü ve tekrarlı kullanılması </a:t>
            </a:r>
            <a:r>
              <a:rPr lang="tr-TR" dirty="0" smtClean="0"/>
              <a:t>sonucu güvenliği azaltmaktadır.</a:t>
            </a:r>
            <a:endParaRPr lang="tr-TR" dirty="0"/>
          </a:p>
        </p:txBody>
      </p:sp>
    </p:spTree>
    <p:extLst>
      <p:ext uri="{BB962C8B-B14F-4D97-AF65-F5344CB8AC3E}">
        <p14:creationId xmlns:p14="http://schemas.microsoft.com/office/powerpoint/2010/main" val="225968641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mc:AlternateContent xmlns:mc="http://schemas.openxmlformats.org/markup-compatibility/2006">
        <mc:Choice xmlns:a14="http://schemas.microsoft.com/office/drawing/2010/main" Requires="a14">
          <p:sp>
            <p:nvSpPr>
              <p:cNvPr id="3" name="İçerik Yer Tutucusu 2"/>
              <p:cNvSpPr>
                <a:spLocks noGrp="1"/>
              </p:cNvSpPr>
              <p:nvPr>
                <p:ph idx="1"/>
              </p:nvPr>
            </p:nvSpPr>
            <p:spPr/>
            <p:txBody>
              <a:bodyPr>
                <a:normAutofit lnSpcReduction="10000"/>
              </a:bodyPr>
              <a:lstStyle/>
              <a:p>
                <a:r>
                  <a:rPr lang="tr-TR" b="1" u="sng" dirty="0" smtClean="0">
                    <a:solidFill>
                      <a:srgbClr val="C00000"/>
                    </a:solidFill>
                    <a:effectLst>
                      <a:outerShdw blurRad="38100" dist="38100" dir="2700000" algn="tl">
                        <a:srgbClr val="000000">
                          <a:alpha val="43137"/>
                        </a:srgbClr>
                      </a:outerShdw>
                    </a:effectLst>
                  </a:rPr>
                  <a:t>Örnek:</a:t>
                </a:r>
              </a:p>
              <a:p>
                <a:pPr lvl="1"/>
                <a:r>
                  <a:rPr lang="tr-TR" sz="2400" dirty="0" smtClean="0"/>
                  <a:t>İki farklı asal sayı seçelim</a:t>
                </a:r>
              </a:p>
              <a:p>
                <a:pPr lvl="2"/>
                <a14:m>
                  <m:oMath xmlns:m="http://schemas.openxmlformats.org/officeDocument/2006/math">
                    <m:r>
                      <a:rPr lang="tr-TR" sz="2400" b="0" i="1" smtClean="0">
                        <a:latin typeface="Cambria Math" panose="02040503050406030204" pitchFamily="18" charset="0"/>
                      </a:rPr>
                      <m:t>𝑝</m:t>
                    </m:r>
                    <m:r>
                      <a:rPr lang="tr-TR" sz="2400" b="0" i="1" smtClean="0">
                        <a:latin typeface="Cambria Math" panose="02040503050406030204" pitchFamily="18" charset="0"/>
                      </a:rPr>
                      <m:t>=61</m:t>
                    </m:r>
                  </m:oMath>
                </a14:m>
                <a:r>
                  <a:rPr lang="tr-TR" sz="2400" dirty="0" smtClean="0"/>
                  <a:t> ve </a:t>
                </a:r>
                <a14:m>
                  <m:oMath xmlns:m="http://schemas.openxmlformats.org/officeDocument/2006/math">
                    <m:r>
                      <a:rPr lang="tr-TR" sz="2400" b="0" i="1" smtClean="0">
                        <a:latin typeface="Cambria Math" panose="02040503050406030204" pitchFamily="18" charset="0"/>
                      </a:rPr>
                      <m:t>𝑞</m:t>
                    </m:r>
                    <m:r>
                      <a:rPr lang="tr-TR" sz="2400" b="0" i="1" smtClean="0">
                        <a:latin typeface="Cambria Math" panose="02040503050406030204" pitchFamily="18" charset="0"/>
                      </a:rPr>
                      <m:t>=53</m:t>
                    </m:r>
                  </m:oMath>
                </a14:m>
                <a:endParaRPr lang="tr-TR" sz="2400" b="0" dirty="0" smtClean="0"/>
              </a:p>
              <a:p>
                <a:pPr lvl="1"/>
                <a:r>
                  <a:rPr lang="tr-TR" sz="2400" dirty="0" smtClean="0">
                    <a:latin typeface="Cambria Math" panose="02040503050406030204" pitchFamily="18" charset="0"/>
                  </a:rPr>
                  <a:t>İki asal sayının çarpımını hesapla</a:t>
                </a:r>
                <a:endParaRPr lang="tr-TR" sz="2400" b="0" dirty="0" smtClean="0">
                  <a:latin typeface="Cambria Math" panose="02040503050406030204" pitchFamily="18" charset="0"/>
                </a:endParaRPr>
              </a:p>
              <a:p>
                <a:pPr lvl="2"/>
                <a14:m>
                  <m:oMath xmlns:m="http://schemas.openxmlformats.org/officeDocument/2006/math">
                    <m:r>
                      <a:rPr lang="tr-TR" sz="2400" b="0" i="1" smtClean="0">
                        <a:latin typeface="Cambria Math" panose="02040503050406030204" pitchFamily="18" charset="0"/>
                      </a:rPr>
                      <m:t>𝑛</m:t>
                    </m:r>
                    <m:r>
                      <a:rPr lang="tr-TR" sz="2400" b="0" i="1" smtClean="0">
                        <a:latin typeface="Cambria Math" panose="02040503050406030204" pitchFamily="18" charset="0"/>
                      </a:rPr>
                      <m:t>=</m:t>
                    </m:r>
                    <m:r>
                      <a:rPr lang="tr-TR" sz="2400" b="0" i="1" smtClean="0">
                        <a:latin typeface="Cambria Math" panose="02040503050406030204" pitchFamily="18" charset="0"/>
                      </a:rPr>
                      <m:t>𝑝𝑥𝑞</m:t>
                    </m:r>
                    <m:r>
                      <a:rPr lang="tr-TR" sz="2400" b="0" i="1" smtClean="0">
                        <a:latin typeface="Cambria Math" panose="02040503050406030204" pitchFamily="18" charset="0"/>
                      </a:rPr>
                      <m:t>=61</m:t>
                    </m:r>
                    <m:r>
                      <a:rPr lang="tr-TR" sz="2400" b="0" i="1" smtClean="0">
                        <a:latin typeface="Cambria Math" panose="02040503050406030204" pitchFamily="18" charset="0"/>
                      </a:rPr>
                      <m:t>𝑥</m:t>
                    </m:r>
                    <m:r>
                      <a:rPr lang="tr-TR" sz="2400" b="0" i="1" smtClean="0">
                        <a:latin typeface="Cambria Math" panose="02040503050406030204" pitchFamily="18" charset="0"/>
                      </a:rPr>
                      <m:t>53=3233</m:t>
                    </m:r>
                  </m:oMath>
                </a14:m>
                <a:endParaRPr lang="tr-TR" sz="2400" dirty="0" smtClean="0"/>
              </a:p>
              <a:p>
                <a:pPr lvl="1"/>
                <a:r>
                  <a:rPr lang="tr-TR" sz="2400" dirty="0" err="1" smtClean="0"/>
                  <a:t>Totient</a:t>
                </a:r>
                <a:r>
                  <a:rPr lang="tr-TR" sz="2400" dirty="0" smtClean="0"/>
                  <a:t> değerini hesapla</a:t>
                </a:r>
              </a:p>
              <a:p>
                <a:pPr lvl="2"/>
                <a14:m>
                  <m:oMath xmlns:m="http://schemas.openxmlformats.org/officeDocument/2006/math">
                    <m:r>
                      <a:rPr lang="tr-TR" sz="2400" i="1" smtClean="0">
                        <a:latin typeface="Cambria Math" panose="02040503050406030204" pitchFamily="18" charset="0"/>
                        <a:ea typeface="Cambria Math" panose="02040503050406030204" pitchFamily="18" charset="0"/>
                      </a:rPr>
                      <m:t>𝜑</m:t>
                    </m:r>
                    <m:d>
                      <m:dPr>
                        <m:ctrlPr>
                          <a:rPr lang="tr-TR" sz="2400" i="1" smtClean="0">
                            <a:latin typeface="Cambria Math" panose="02040503050406030204" pitchFamily="18" charset="0"/>
                            <a:ea typeface="Cambria Math" panose="02040503050406030204" pitchFamily="18" charset="0"/>
                          </a:rPr>
                        </m:ctrlPr>
                      </m:dPr>
                      <m:e>
                        <m:r>
                          <a:rPr lang="tr-TR" sz="2400" b="0" i="1" smtClean="0">
                            <a:latin typeface="Cambria Math" panose="02040503050406030204" pitchFamily="18" charset="0"/>
                            <a:ea typeface="Cambria Math" panose="02040503050406030204" pitchFamily="18" charset="0"/>
                          </a:rPr>
                          <m:t>3233</m:t>
                        </m:r>
                      </m:e>
                    </m:d>
                    <m:r>
                      <a:rPr lang="tr-TR" sz="2400" b="0" i="1" smtClean="0">
                        <a:latin typeface="Cambria Math" panose="02040503050406030204" pitchFamily="18" charset="0"/>
                        <a:ea typeface="Cambria Math" panose="02040503050406030204" pitchFamily="18" charset="0"/>
                      </a:rPr>
                      <m:t>=</m:t>
                    </m:r>
                    <m:d>
                      <m:dPr>
                        <m:ctrlPr>
                          <a:rPr lang="tr-TR" sz="2400" b="0" i="1" smtClean="0">
                            <a:latin typeface="Cambria Math" panose="02040503050406030204" pitchFamily="18" charset="0"/>
                            <a:ea typeface="Cambria Math" panose="02040503050406030204" pitchFamily="18" charset="0"/>
                          </a:rPr>
                        </m:ctrlPr>
                      </m:dPr>
                      <m:e>
                        <m:r>
                          <a:rPr lang="tr-TR" sz="2400" b="0" i="1" smtClean="0">
                            <a:latin typeface="Cambria Math" panose="02040503050406030204" pitchFamily="18" charset="0"/>
                            <a:ea typeface="Cambria Math" panose="02040503050406030204" pitchFamily="18" charset="0"/>
                          </a:rPr>
                          <m:t>61−1</m:t>
                        </m:r>
                      </m:e>
                    </m:d>
                    <m:r>
                      <a:rPr lang="tr-TR" sz="2400" b="0" i="1" smtClean="0">
                        <a:latin typeface="Cambria Math" panose="02040503050406030204" pitchFamily="18" charset="0"/>
                        <a:ea typeface="Cambria Math" panose="02040503050406030204" pitchFamily="18" charset="0"/>
                      </a:rPr>
                      <m:t>.</m:t>
                    </m:r>
                    <m:d>
                      <m:dPr>
                        <m:ctrlPr>
                          <a:rPr lang="tr-TR" sz="2400" b="0" i="1" smtClean="0">
                            <a:latin typeface="Cambria Math" panose="02040503050406030204" pitchFamily="18" charset="0"/>
                            <a:ea typeface="Cambria Math" panose="02040503050406030204" pitchFamily="18" charset="0"/>
                          </a:rPr>
                        </m:ctrlPr>
                      </m:dPr>
                      <m:e>
                        <m:r>
                          <a:rPr lang="tr-TR" sz="2400" b="0" i="1" smtClean="0">
                            <a:latin typeface="Cambria Math" panose="02040503050406030204" pitchFamily="18" charset="0"/>
                            <a:ea typeface="Cambria Math" panose="02040503050406030204" pitchFamily="18" charset="0"/>
                          </a:rPr>
                          <m:t>53−1</m:t>
                        </m:r>
                      </m:e>
                    </m:d>
                    <m:r>
                      <a:rPr lang="tr-TR" sz="2400" b="0" i="1" smtClean="0">
                        <a:latin typeface="Cambria Math" panose="02040503050406030204" pitchFamily="18" charset="0"/>
                        <a:ea typeface="Cambria Math" panose="02040503050406030204" pitchFamily="18" charset="0"/>
                      </a:rPr>
                      <m:t>=3120</m:t>
                    </m:r>
                  </m:oMath>
                </a14:m>
                <a:endParaRPr lang="tr-TR" sz="2400" dirty="0" smtClean="0"/>
              </a:p>
              <a:p>
                <a:pPr lvl="1"/>
                <a:r>
                  <a:rPr lang="tr-TR" sz="2400" dirty="0" smtClean="0"/>
                  <a:t>1 ile 3120 arasında 3120 ile aralarında asal olan bir </a:t>
                </a:r>
                <a:r>
                  <a:rPr lang="tr-TR" sz="2400" i="1" dirty="0" smtClean="0"/>
                  <a:t>e</a:t>
                </a:r>
                <a:r>
                  <a:rPr lang="tr-TR" sz="2400" dirty="0" smtClean="0"/>
                  <a:t> değeri seçelim. </a:t>
                </a:r>
                <a:r>
                  <a:rPr lang="tr-TR" sz="2400" i="1" dirty="0" smtClean="0"/>
                  <a:t>e</a:t>
                </a:r>
                <a:r>
                  <a:rPr lang="tr-TR" sz="2400" dirty="0" smtClean="0"/>
                  <a:t> değerini asal seçersek sadece 3120’nin böleni olup olmadığını kontrol etmemiz gerekir. </a:t>
                </a:r>
                <a:r>
                  <a:rPr lang="tr-TR" sz="2400" i="1" dirty="0"/>
                  <a:t>e</a:t>
                </a:r>
                <a:r>
                  <a:rPr lang="tr-TR" sz="2400" i="1" dirty="0" smtClean="0"/>
                  <a:t>=17</a:t>
                </a:r>
                <a:r>
                  <a:rPr lang="tr-TR" sz="2400" dirty="0" smtClean="0"/>
                  <a:t> olsun.</a:t>
                </a:r>
              </a:p>
              <a:p>
                <a:pPr lvl="1"/>
                <a:r>
                  <a:rPr lang="tr-TR" sz="2400" i="1" dirty="0"/>
                  <a:t>d</a:t>
                </a:r>
                <a:r>
                  <a:rPr lang="tr-TR" sz="2400" dirty="0" smtClean="0"/>
                  <a:t>’yi </a:t>
                </a:r>
                <a:r>
                  <a:rPr lang="tr-TR" sz="2400" i="1" dirty="0" smtClean="0"/>
                  <a:t>e</a:t>
                </a:r>
                <a:r>
                  <a:rPr lang="tr-TR" sz="2400" dirty="0" smtClean="0"/>
                  <a:t>’nin </a:t>
                </a:r>
                <a14:m>
                  <m:oMath xmlns:m="http://schemas.openxmlformats.org/officeDocument/2006/math">
                    <m:r>
                      <a:rPr lang="tr-TR" sz="2400" i="1">
                        <a:latin typeface="Cambria Math" panose="02040503050406030204" pitchFamily="18" charset="0"/>
                        <a:ea typeface="Cambria Math" panose="02040503050406030204" pitchFamily="18" charset="0"/>
                      </a:rPr>
                      <m:t>𝜑</m:t>
                    </m:r>
                    <m:d>
                      <m:dPr>
                        <m:ctrlPr>
                          <a:rPr lang="tr-TR" sz="2400" i="1">
                            <a:latin typeface="Cambria Math" panose="02040503050406030204" pitchFamily="18" charset="0"/>
                            <a:ea typeface="Cambria Math" panose="02040503050406030204" pitchFamily="18" charset="0"/>
                          </a:rPr>
                        </m:ctrlPr>
                      </m:dPr>
                      <m:e>
                        <m:r>
                          <a:rPr lang="tr-TR" sz="2400" b="0" i="1" smtClean="0">
                            <a:latin typeface="Cambria Math" panose="02040503050406030204" pitchFamily="18" charset="0"/>
                            <a:ea typeface="Cambria Math" panose="02040503050406030204" pitchFamily="18" charset="0"/>
                          </a:rPr>
                          <m:t>𝑛</m:t>
                        </m:r>
                      </m:e>
                    </m:d>
                  </m:oMath>
                </a14:m>
                <a:r>
                  <a:rPr lang="tr-TR" sz="2400" dirty="0" smtClean="0"/>
                  <a:t>’deki çarpmaya göre tersi olarak hesaplayalım.</a:t>
                </a:r>
              </a:p>
              <a:p>
                <a:pPr lvl="2"/>
                <a:r>
                  <a:rPr lang="tr-TR" sz="2400" i="1" dirty="0" smtClean="0"/>
                  <a:t>d=2753</a:t>
                </a:r>
              </a:p>
              <a:p>
                <a:pPr lvl="2"/>
                <a:r>
                  <a:rPr lang="tr-TR" sz="2400" i="1" dirty="0" smtClean="0"/>
                  <a:t>(e*d) </a:t>
                </a:r>
                <a:r>
                  <a:rPr lang="tr-TR" sz="2400" i="1" dirty="0" err="1" smtClean="0"/>
                  <a:t>mod</a:t>
                </a:r>
                <a:r>
                  <a:rPr lang="tr-TR" sz="2400" i="1" dirty="0" smtClean="0"/>
                  <a:t> </a:t>
                </a:r>
                <a14:m>
                  <m:oMath xmlns:m="http://schemas.openxmlformats.org/officeDocument/2006/math">
                    <m:r>
                      <a:rPr lang="tr-TR" sz="2400" i="1">
                        <a:latin typeface="Cambria Math" panose="02040503050406030204" pitchFamily="18" charset="0"/>
                        <a:ea typeface="Cambria Math" panose="02040503050406030204" pitchFamily="18" charset="0"/>
                      </a:rPr>
                      <m:t>𝜑</m:t>
                    </m:r>
                    <m:d>
                      <m:dPr>
                        <m:ctrlPr>
                          <a:rPr lang="tr-TR" sz="2400" i="1">
                            <a:latin typeface="Cambria Math" panose="02040503050406030204" pitchFamily="18" charset="0"/>
                            <a:ea typeface="Cambria Math" panose="02040503050406030204" pitchFamily="18" charset="0"/>
                          </a:rPr>
                        </m:ctrlPr>
                      </m:dPr>
                      <m:e>
                        <m:r>
                          <a:rPr lang="tr-TR" sz="2400" i="1">
                            <a:latin typeface="Cambria Math" panose="02040503050406030204" pitchFamily="18" charset="0"/>
                            <a:ea typeface="Cambria Math" panose="02040503050406030204" pitchFamily="18" charset="0"/>
                          </a:rPr>
                          <m:t>𝑛</m:t>
                        </m:r>
                      </m:e>
                    </m:d>
                  </m:oMath>
                </a14:m>
                <a:r>
                  <a:rPr lang="tr-TR" sz="2400" i="1" dirty="0" smtClean="0"/>
                  <a:t> =1  yani e*d=1+X*</a:t>
                </a:r>
                <a14:m>
                  <m:oMath xmlns:m="http://schemas.openxmlformats.org/officeDocument/2006/math">
                    <m:r>
                      <a:rPr lang="tr-TR" sz="2400" i="1">
                        <a:latin typeface="Cambria Math" panose="02040503050406030204" pitchFamily="18" charset="0"/>
                        <a:ea typeface="Cambria Math" panose="02040503050406030204" pitchFamily="18" charset="0"/>
                      </a:rPr>
                      <m:t>𝜑</m:t>
                    </m:r>
                    <m:d>
                      <m:dPr>
                        <m:ctrlPr>
                          <a:rPr lang="tr-TR" sz="2400" i="1">
                            <a:latin typeface="Cambria Math" panose="02040503050406030204" pitchFamily="18" charset="0"/>
                            <a:ea typeface="Cambria Math" panose="02040503050406030204" pitchFamily="18" charset="0"/>
                          </a:rPr>
                        </m:ctrlPr>
                      </m:dPr>
                      <m:e>
                        <m:r>
                          <a:rPr lang="tr-TR" sz="2400" i="1">
                            <a:latin typeface="Cambria Math" panose="02040503050406030204" pitchFamily="18" charset="0"/>
                            <a:ea typeface="Cambria Math" panose="02040503050406030204" pitchFamily="18" charset="0"/>
                          </a:rPr>
                          <m:t>𝑛</m:t>
                        </m:r>
                      </m:e>
                    </m:d>
                  </m:oMath>
                </a14:m>
                <a:r>
                  <a:rPr lang="tr-TR" sz="2400" i="1" dirty="0" smtClean="0"/>
                  <a:t>   </a:t>
                </a:r>
              </a:p>
              <a:p>
                <a:pPr lvl="2"/>
                <a:r>
                  <a:rPr lang="tr-TR" sz="2400" dirty="0" smtClean="0"/>
                  <a:t>17 </a:t>
                </a:r>
                <a:r>
                  <a:rPr lang="tr-TR" sz="2400" dirty="0"/>
                  <a:t>* d</a:t>
                </a:r>
                <a:r>
                  <a:rPr lang="tr-TR" sz="2400" dirty="0" smtClean="0"/>
                  <a:t> </a:t>
                </a:r>
                <a:r>
                  <a:rPr lang="tr-TR" sz="2400" dirty="0"/>
                  <a:t>= 46801 = 1 + </a:t>
                </a:r>
                <a:r>
                  <a:rPr lang="tr-TR" sz="2400" dirty="0" smtClean="0"/>
                  <a:t>X </a:t>
                </a:r>
                <a:r>
                  <a:rPr lang="tr-TR" sz="2400" dirty="0"/>
                  <a:t>* 3120</a:t>
                </a:r>
                <a:endParaRPr lang="tr-TR" sz="2400" i="1" dirty="0"/>
              </a:p>
            </p:txBody>
          </p:sp>
        </mc:Choice>
        <mc:Fallback>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971" t="-2513" b="-2387"/>
                </a:stretch>
              </a:blipFill>
            </p:spPr>
            <p:txBody>
              <a:bodyPr/>
              <a:lstStyle/>
              <a:p>
                <a:r>
                  <a:rPr lang="tr-TR">
                    <a:noFill/>
                  </a:rPr>
                  <a:t> </a:t>
                </a:r>
              </a:p>
            </p:txBody>
          </p:sp>
        </mc:Fallback>
      </mc:AlternateContent>
    </p:spTree>
    <p:extLst>
      <p:ext uri="{BB962C8B-B14F-4D97-AF65-F5344CB8AC3E}">
        <p14:creationId xmlns:p14="http://schemas.microsoft.com/office/powerpoint/2010/main" val="376928600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p:sp>
        <p:nvSpPr>
          <p:cNvPr id="3" name="İçerik Yer Tutucusu 2"/>
          <p:cNvSpPr>
            <a:spLocks noGrp="1"/>
          </p:cNvSpPr>
          <p:nvPr>
            <p:ph idx="1"/>
          </p:nvPr>
        </p:nvSpPr>
        <p:spPr/>
        <p:txBody>
          <a:bodyPr>
            <a:normAutofit/>
          </a:bodyPr>
          <a:lstStyle/>
          <a:p>
            <a:r>
              <a:rPr lang="tr-TR" b="1" u="sng" dirty="0" smtClean="0">
                <a:solidFill>
                  <a:srgbClr val="C00000"/>
                </a:solidFill>
                <a:effectLst>
                  <a:outerShdw blurRad="38100" dist="38100" dir="2700000" algn="tl">
                    <a:srgbClr val="000000">
                      <a:alpha val="43137"/>
                    </a:srgbClr>
                  </a:outerShdw>
                </a:effectLst>
              </a:rPr>
              <a:t>Örnek:</a:t>
            </a:r>
          </a:p>
          <a:p>
            <a:pPr marL="685800" lvl="2" indent="0">
              <a:buNone/>
            </a:pPr>
            <a:r>
              <a:rPr lang="tr-TR" sz="2400" dirty="0" smtClean="0"/>
              <a:t>17 * </a:t>
            </a:r>
            <a:r>
              <a:rPr lang="tr-TR" sz="2400" dirty="0"/>
              <a:t>d</a:t>
            </a:r>
            <a:r>
              <a:rPr lang="tr-TR" sz="2400" dirty="0" smtClean="0"/>
              <a:t> </a:t>
            </a:r>
            <a:r>
              <a:rPr lang="tr-TR" sz="2400" dirty="0"/>
              <a:t>= 46801 = </a:t>
            </a:r>
            <a:r>
              <a:rPr lang="tr-TR" sz="2400" dirty="0" smtClean="0"/>
              <a:t>1 </a:t>
            </a:r>
            <a:r>
              <a:rPr lang="tr-TR" sz="2400" dirty="0"/>
              <a:t>+ </a:t>
            </a:r>
            <a:r>
              <a:rPr lang="tr-TR" sz="2400" dirty="0" smtClean="0"/>
              <a:t>X </a:t>
            </a:r>
            <a:r>
              <a:rPr lang="tr-TR" sz="2400" dirty="0"/>
              <a:t>* </a:t>
            </a:r>
            <a:r>
              <a:rPr lang="tr-TR" sz="2400" dirty="0" smtClean="0"/>
              <a:t>3120</a:t>
            </a:r>
          </a:p>
          <a:p>
            <a:pPr marL="685800" lvl="2" indent="0">
              <a:buNone/>
            </a:pPr>
            <a:endParaRPr lang="tr-TR" sz="2400" i="1" dirty="0"/>
          </a:p>
        </p:txBody>
      </p:sp>
      <p:graphicFrame>
        <p:nvGraphicFramePr>
          <p:cNvPr id="4" name="Tablo 3"/>
          <p:cNvGraphicFramePr>
            <a:graphicFrameLocks noGrp="1"/>
          </p:cNvGraphicFramePr>
          <p:nvPr>
            <p:extLst>
              <p:ext uri="{D42A27DB-BD31-4B8C-83A1-F6EECF244321}">
                <p14:modId xmlns:p14="http://schemas.microsoft.com/office/powerpoint/2010/main" val="2835379830"/>
              </p:ext>
            </p:extLst>
          </p:nvPr>
        </p:nvGraphicFramePr>
        <p:xfrm>
          <a:off x="899592" y="2122958"/>
          <a:ext cx="3024336" cy="333756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2996618585"/>
                    </a:ext>
                  </a:extLst>
                </a:gridCol>
                <a:gridCol w="2376264">
                  <a:extLst>
                    <a:ext uri="{9D8B030D-6E8A-4147-A177-3AD203B41FA5}">
                      <a16:colId xmlns:a16="http://schemas.microsoft.com/office/drawing/2014/main" val="3284723303"/>
                    </a:ext>
                  </a:extLst>
                </a:gridCol>
              </a:tblGrid>
              <a:tr h="370840">
                <a:tc>
                  <a:txBody>
                    <a:bodyPr/>
                    <a:lstStyle/>
                    <a:p>
                      <a:r>
                        <a:rPr lang="tr-TR" dirty="0" smtClean="0"/>
                        <a:t>X</a:t>
                      </a:r>
                      <a:endParaRPr lang="tr-TR" dirty="0"/>
                    </a:p>
                  </a:txBody>
                  <a:tcPr/>
                </a:tc>
                <a:tc>
                  <a:txBody>
                    <a:bodyPr/>
                    <a:lstStyle/>
                    <a:p>
                      <a:r>
                        <a:rPr lang="tr-TR" sz="1400" dirty="0" smtClean="0"/>
                        <a:t>(X * 3120) </a:t>
                      </a:r>
                      <a:r>
                        <a:rPr lang="tr-TR" sz="1400" dirty="0" err="1" smtClean="0"/>
                        <a:t>Mod</a:t>
                      </a:r>
                      <a:r>
                        <a:rPr lang="tr-TR" sz="1400" dirty="0" smtClean="0"/>
                        <a:t> 17</a:t>
                      </a:r>
                      <a:endParaRPr lang="tr-TR" dirty="0"/>
                    </a:p>
                  </a:txBody>
                  <a:tcPr/>
                </a:tc>
                <a:extLst>
                  <a:ext uri="{0D108BD9-81ED-4DB2-BD59-A6C34878D82A}">
                    <a16:rowId xmlns:a16="http://schemas.microsoft.com/office/drawing/2014/main" val="1333377687"/>
                  </a:ext>
                </a:extLst>
              </a:tr>
              <a:tr h="370840">
                <a:tc>
                  <a:txBody>
                    <a:bodyPr/>
                    <a:lstStyle/>
                    <a:p>
                      <a:r>
                        <a:rPr lang="tr-TR" dirty="0" smtClean="0"/>
                        <a:t>1</a:t>
                      </a:r>
                      <a:endParaRPr lang="tr-TR" dirty="0"/>
                    </a:p>
                  </a:txBody>
                  <a:tcPr/>
                </a:tc>
                <a:tc>
                  <a:txBody>
                    <a:bodyPr/>
                    <a:lstStyle/>
                    <a:p>
                      <a:r>
                        <a:rPr lang="tr-TR" dirty="0" smtClean="0"/>
                        <a:t>9</a:t>
                      </a:r>
                      <a:endParaRPr lang="tr-TR" dirty="0"/>
                    </a:p>
                  </a:txBody>
                  <a:tcPr/>
                </a:tc>
                <a:extLst>
                  <a:ext uri="{0D108BD9-81ED-4DB2-BD59-A6C34878D82A}">
                    <a16:rowId xmlns:a16="http://schemas.microsoft.com/office/drawing/2014/main" val="1494568664"/>
                  </a:ext>
                </a:extLst>
              </a:tr>
              <a:tr h="370840">
                <a:tc>
                  <a:txBody>
                    <a:bodyPr/>
                    <a:lstStyle/>
                    <a:p>
                      <a:r>
                        <a:rPr lang="tr-TR" dirty="0" smtClean="0"/>
                        <a:t>2</a:t>
                      </a:r>
                      <a:endParaRPr lang="tr-TR" dirty="0"/>
                    </a:p>
                  </a:txBody>
                  <a:tcPr/>
                </a:tc>
                <a:tc>
                  <a:txBody>
                    <a:bodyPr/>
                    <a:lstStyle/>
                    <a:p>
                      <a:r>
                        <a:rPr lang="tr-TR" dirty="0" smtClean="0"/>
                        <a:t>1</a:t>
                      </a:r>
                      <a:endParaRPr lang="tr-TR" dirty="0"/>
                    </a:p>
                  </a:txBody>
                  <a:tcPr/>
                </a:tc>
                <a:extLst>
                  <a:ext uri="{0D108BD9-81ED-4DB2-BD59-A6C34878D82A}">
                    <a16:rowId xmlns:a16="http://schemas.microsoft.com/office/drawing/2014/main" val="1991757474"/>
                  </a:ext>
                </a:extLst>
              </a:tr>
              <a:tr h="370840">
                <a:tc>
                  <a:txBody>
                    <a:bodyPr/>
                    <a:lstStyle/>
                    <a:p>
                      <a:r>
                        <a:rPr lang="tr-TR" dirty="0" smtClean="0"/>
                        <a:t>3</a:t>
                      </a:r>
                      <a:endParaRPr lang="tr-TR" dirty="0"/>
                    </a:p>
                  </a:txBody>
                  <a:tcPr/>
                </a:tc>
                <a:tc>
                  <a:txBody>
                    <a:bodyPr/>
                    <a:lstStyle/>
                    <a:p>
                      <a:r>
                        <a:rPr lang="tr-TR" dirty="0" smtClean="0"/>
                        <a:t>10</a:t>
                      </a:r>
                      <a:endParaRPr lang="tr-TR" dirty="0"/>
                    </a:p>
                  </a:txBody>
                  <a:tcPr/>
                </a:tc>
                <a:extLst>
                  <a:ext uri="{0D108BD9-81ED-4DB2-BD59-A6C34878D82A}">
                    <a16:rowId xmlns:a16="http://schemas.microsoft.com/office/drawing/2014/main" val="315939369"/>
                  </a:ext>
                </a:extLst>
              </a:tr>
              <a:tr h="370840">
                <a:tc>
                  <a:txBody>
                    <a:bodyPr/>
                    <a:lstStyle/>
                    <a:p>
                      <a:r>
                        <a:rPr lang="tr-TR" dirty="0" smtClean="0"/>
                        <a:t>4</a:t>
                      </a:r>
                      <a:endParaRPr lang="tr-TR" dirty="0"/>
                    </a:p>
                  </a:txBody>
                  <a:tcPr/>
                </a:tc>
                <a:tc>
                  <a:txBody>
                    <a:bodyPr/>
                    <a:lstStyle/>
                    <a:p>
                      <a:r>
                        <a:rPr lang="tr-TR" dirty="0" smtClean="0"/>
                        <a:t>2</a:t>
                      </a:r>
                      <a:endParaRPr lang="tr-TR" dirty="0"/>
                    </a:p>
                  </a:txBody>
                  <a:tcPr/>
                </a:tc>
                <a:extLst>
                  <a:ext uri="{0D108BD9-81ED-4DB2-BD59-A6C34878D82A}">
                    <a16:rowId xmlns:a16="http://schemas.microsoft.com/office/drawing/2014/main" val="336113966"/>
                  </a:ext>
                </a:extLst>
              </a:tr>
              <a:tr h="370840">
                <a:tc>
                  <a:txBody>
                    <a:bodyPr/>
                    <a:lstStyle/>
                    <a:p>
                      <a:r>
                        <a:rPr lang="tr-TR" dirty="0" smtClean="0"/>
                        <a:t>5</a:t>
                      </a:r>
                      <a:endParaRPr lang="tr-TR" dirty="0"/>
                    </a:p>
                  </a:txBody>
                  <a:tcPr/>
                </a:tc>
                <a:tc>
                  <a:txBody>
                    <a:bodyPr/>
                    <a:lstStyle/>
                    <a:p>
                      <a:r>
                        <a:rPr lang="tr-TR" dirty="0" smtClean="0"/>
                        <a:t>11</a:t>
                      </a:r>
                      <a:endParaRPr lang="tr-TR" dirty="0"/>
                    </a:p>
                  </a:txBody>
                  <a:tcPr/>
                </a:tc>
                <a:extLst>
                  <a:ext uri="{0D108BD9-81ED-4DB2-BD59-A6C34878D82A}">
                    <a16:rowId xmlns:a16="http://schemas.microsoft.com/office/drawing/2014/main" val="2526933734"/>
                  </a:ext>
                </a:extLst>
              </a:tr>
              <a:tr h="370840">
                <a:tc>
                  <a:txBody>
                    <a:bodyPr/>
                    <a:lstStyle/>
                    <a:p>
                      <a:r>
                        <a:rPr lang="tr-TR" dirty="0" smtClean="0"/>
                        <a:t>6</a:t>
                      </a:r>
                      <a:endParaRPr lang="tr-TR" dirty="0"/>
                    </a:p>
                  </a:txBody>
                  <a:tcPr/>
                </a:tc>
                <a:tc>
                  <a:txBody>
                    <a:bodyPr/>
                    <a:lstStyle/>
                    <a:p>
                      <a:r>
                        <a:rPr lang="tr-TR" dirty="0" smtClean="0"/>
                        <a:t>3</a:t>
                      </a:r>
                      <a:endParaRPr lang="tr-TR" dirty="0"/>
                    </a:p>
                  </a:txBody>
                  <a:tcPr/>
                </a:tc>
                <a:extLst>
                  <a:ext uri="{0D108BD9-81ED-4DB2-BD59-A6C34878D82A}">
                    <a16:rowId xmlns:a16="http://schemas.microsoft.com/office/drawing/2014/main" val="1340453716"/>
                  </a:ext>
                </a:extLst>
              </a:tr>
              <a:tr h="370840">
                <a:tc>
                  <a:txBody>
                    <a:bodyPr/>
                    <a:lstStyle/>
                    <a:p>
                      <a:r>
                        <a:rPr lang="tr-TR" dirty="0" smtClean="0"/>
                        <a:t>7</a:t>
                      </a:r>
                      <a:endParaRPr lang="tr-TR" dirty="0"/>
                    </a:p>
                  </a:txBody>
                  <a:tcPr/>
                </a:tc>
                <a:tc>
                  <a:txBody>
                    <a:bodyPr/>
                    <a:lstStyle/>
                    <a:p>
                      <a:r>
                        <a:rPr lang="tr-TR" dirty="0" smtClean="0"/>
                        <a:t>12</a:t>
                      </a:r>
                      <a:endParaRPr lang="tr-TR" dirty="0"/>
                    </a:p>
                  </a:txBody>
                  <a:tcPr/>
                </a:tc>
                <a:extLst>
                  <a:ext uri="{0D108BD9-81ED-4DB2-BD59-A6C34878D82A}">
                    <a16:rowId xmlns:a16="http://schemas.microsoft.com/office/drawing/2014/main" val="4002428671"/>
                  </a:ext>
                </a:extLst>
              </a:tr>
              <a:tr h="370840">
                <a:tc>
                  <a:txBody>
                    <a:bodyPr/>
                    <a:lstStyle/>
                    <a:p>
                      <a:r>
                        <a:rPr lang="tr-TR" dirty="0" smtClean="0"/>
                        <a:t>8</a:t>
                      </a:r>
                      <a:endParaRPr lang="tr-TR" dirty="0"/>
                    </a:p>
                  </a:txBody>
                  <a:tcPr/>
                </a:tc>
                <a:tc>
                  <a:txBody>
                    <a:bodyPr/>
                    <a:lstStyle/>
                    <a:p>
                      <a:r>
                        <a:rPr lang="tr-TR" dirty="0" smtClean="0"/>
                        <a:t>4</a:t>
                      </a:r>
                      <a:endParaRPr lang="tr-TR" dirty="0"/>
                    </a:p>
                  </a:txBody>
                  <a:tcPr/>
                </a:tc>
                <a:extLst>
                  <a:ext uri="{0D108BD9-81ED-4DB2-BD59-A6C34878D82A}">
                    <a16:rowId xmlns:a16="http://schemas.microsoft.com/office/drawing/2014/main" val="2277709492"/>
                  </a:ext>
                </a:extLst>
              </a:tr>
            </a:tbl>
          </a:graphicData>
        </a:graphic>
      </p:graphicFrame>
      <p:graphicFrame>
        <p:nvGraphicFramePr>
          <p:cNvPr id="5" name="Tablo 4"/>
          <p:cNvGraphicFramePr>
            <a:graphicFrameLocks noGrp="1"/>
          </p:cNvGraphicFramePr>
          <p:nvPr>
            <p:extLst>
              <p:ext uri="{D42A27DB-BD31-4B8C-83A1-F6EECF244321}">
                <p14:modId xmlns:p14="http://schemas.microsoft.com/office/powerpoint/2010/main" val="643302618"/>
              </p:ext>
            </p:extLst>
          </p:nvPr>
        </p:nvGraphicFramePr>
        <p:xfrm>
          <a:off x="4211960" y="2122958"/>
          <a:ext cx="3024336" cy="333756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2996618585"/>
                    </a:ext>
                  </a:extLst>
                </a:gridCol>
                <a:gridCol w="2376264">
                  <a:extLst>
                    <a:ext uri="{9D8B030D-6E8A-4147-A177-3AD203B41FA5}">
                      <a16:colId xmlns:a16="http://schemas.microsoft.com/office/drawing/2014/main" val="3284723303"/>
                    </a:ext>
                  </a:extLst>
                </a:gridCol>
              </a:tblGrid>
              <a:tr h="370840">
                <a:tc>
                  <a:txBody>
                    <a:bodyPr/>
                    <a:lstStyle/>
                    <a:p>
                      <a:r>
                        <a:rPr lang="tr-TR" dirty="0" smtClean="0"/>
                        <a:t>X</a:t>
                      </a:r>
                      <a:endParaRPr lang="tr-TR" dirty="0"/>
                    </a:p>
                  </a:txBody>
                  <a:tcPr/>
                </a:tc>
                <a:tc>
                  <a:txBody>
                    <a:bodyPr/>
                    <a:lstStyle/>
                    <a:p>
                      <a:r>
                        <a:rPr lang="tr-TR" sz="1400" dirty="0" smtClean="0"/>
                        <a:t>(X * 3120) </a:t>
                      </a:r>
                      <a:r>
                        <a:rPr lang="tr-TR" sz="1400" dirty="0" err="1" smtClean="0"/>
                        <a:t>Mod</a:t>
                      </a:r>
                      <a:r>
                        <a:rPr lang="tr-TR" sz="1400" dirty="0" smtClean="0"/>
                        <a:t> 17</a:t>
                      </a:r>
                      <a:endParaRPr lang="tr-TR" dirty="0"/>
                    </a:p>
                  </a:txBody>
                  <a:tcPr/>
                </a:tc>
                <a:extLst>
                  <a:ext uri="{0D108BD9-81ED-4DB2-BD59-A6C34878D82A}">
                    <a16:rowId xmlns:a16="http://schemas.microsoft.com/office/drawing/2014/main" val="1333377687"/>
                  </a:ext>
                </a:extLst>
              </a:tr>
              <a:tr h="370840">
                <a:tc>
                  <a:txBody>
                    <a:bodyPr/>
                    <a:lstStyle/>
                    <a:p>
                      <a:r>
                        <a:rPr lang="tr-TR" dirty="0" smtClean="0"/>
                        <a:t>9</a:t>
                      </a:r>
                      <a:endParaRPr lang="tr-TR" dirty="0"/>
                    </a:p>
                  </a:txBody>
                  <a:tcPr/>
                </a:tc>
                <a:tc>
                  <a:txBody>
                    <a:bodyPr/>
                    <a:lstStyle/>
                    <a:p>
                      <a:r>
                        <a:rPr lang="tr-TR" dirty="0" smtClean="0"/>
                        <a:t>13</a:t>
                      </a:r>
                      <a:endParaRPr lang="tr-TR" dirty="0"/>
                    </a:p>
                  </a:txBody>
                  <a:tcPr/>
                </a:tc>
                <a:extLst>
                  <a:ext uri="{0D108BD9-81ED-4DB2-BD59-A6C34878D82A}">
                    <a16:rowId xmlns:a16="http://schemas.microsoft.com/office/drawing/2014/main" val="1494568664"/>
                  </a:ext>
                </a:extLst>
              </a:tr>
              <a:tr h="370840">
                <a:tc>
                  <a:txBody>
                    <a:bodyPr/>
                    <a:lstStyle/>
                    <a:p>
                      <a:r>
                        <a:rPr lang="tr-TR" dirty="0" smtClean="0"/>
                        <a:t>10</a:t>
                      </a:r>
                      <a:endParaRPr lang="tr-TR" dirty="0"/>
                    </a:p>
                  </a:txBody>
                  <a:tcPr/>
                </a:tc>
                <a:tc>
                  <a:txBody>
                    <a:bodyPr/>
                    <a:lstStyle/>
                    <a:p>
                      <a:r>
                        <a:rPr lang="tr-TR" dirty="0" smtClean="0"/>
                        <a:t>5</a:t>
                      </a:r>
                      <a:endParaRPr lang="tr-TR" dirty="0"/>
                    </a:p>
                  </a:txBody>
                  <a:tcPr/>
                </a:tc>
                <a:extLst>
                  <a:ext uri="{0D108BD9-81ED-4DB2-BD59-A6C34878D82A}">
                    <a16:rowId xmlns:a16="http://schemas.microsoft.com/office/drawing/2014/main" val="1991757474"/>
                  </a:ext>
                </a:extLst>
              </a:tr>
              <a:tr h="370840">
                <a:tc>
                  <a:txBody>
                    <a:bodyPr/>
                    <a:lstStyle/>
                    <a:p>
                      <a:r>
                        <a:rPr lang="tr-TR" dirty="0" smtClean="0"/>
                        <a:t>11</a:t>
                      </a:r>
                      <a:endParaRPr lang="tr-TR" dirty="0"/>
                    </a:p>
                  </a:txBody>
                  <a:tcPr/>
                </a:tc>
                <a:tc>
                  <a:txBody>
                    <a:bodyPr/>
                    <a:lstStyle/>
                    <a:p>
                      <a:r>
                        <a:rPr lang="tr-TR" dirty="0" smtClean="0"/>
                        <a:t>14</a:t>
                      </a:r>
                      <a:endParaRPr lang="tr-TR" dirty="0"/>
                    </a:p>
                  </a:txBody>
                  <a:tcPr/>
                </a:tc>
                <a:extLst>
                  <a:ext uri="{0D108BD9-81ED-4DB2-BD59-A6C34878D82A}">
                    <a16:rowId xmlns:a16="http://schemas.microsoft.com/office/drawing/2014/main" val="315939369"/>
                  </a:ext>
                </a:extLst>
              </a:tr>
              <a:tr h="370840">
                <a:tc>
                  <a:txBody>
                    <a:bodyPr/>
                    <a:lstStyle/>
                    <a:p>
                      <a:r>
                        <a:rPr lang="tr-TR" dirty="0" smtClean="0"/>
                        <a:t>12</a:t>
                      </a:r>
                      <a:endParaRPr lang="tr-TR" dirty="0"/>
                    </a:p>
                  </a:txBody>
                  <a:tcPr/>
                </a:tc>
                <a:tc>
                  <a:txBody>
                    <a:bodyPr/>
                    <a:lstStyle/>
                    <a:p>
                      <a:r>
                        <a:rPr lang="tr-TR" dirty="0" smtClean="0"/>
                        <a:t>6</a:t>
                      </a:r>
                      <a:endParaRPr lang="tr-TR" dirty="0"/>
                    </a:p>
                  </a:txBody>
                  <a:tcPr/>
                </a:tc>
                <a:extLst>
                  <a:ext uri="{0D108BD9-81ED-4DB2-BD59-A6C34878D82A}">
                    <a16:rowId xmlns:a16="http://schemas.microsoft.com/office/drawing/2014/main" val="336113966"/>
                  </a:ext>
                </a:extLst>
              </a:tr>
              <a:tr h="370840">
                <a:tc>
                  <a:txBody>
                    <a:bodyPr/>
                    <a:lstStyle/>
                    <a:p>
                      <a:r>
                        <a:rPr lang="tr-TR" dirty="0" smtClean="0"/>
                        <a:t>13</a:t>
                      </a:r>
                      <a:endParaRPr lang="tr-TR" dirty="0"/>
                    </a:p>
                  </a:txBody>
                  <a:tcPr/>
                </a:tc>
                <a:tc>
                  <a:txBody>
                    <a:bodyPr/>
                    <a:lstStyle/>
                    <a:p>
                      <a:r>
                        <a:rPr lang="tr-TR" dirty="0" smtClean="0"/>
                        <a:t>15</a:t>
                      </a:r>
                      <a:endParaRPr lang="tr-TR" dirty="0"/>
                    </a:p>
                  </a:txBody>
                  <a:tcPr/>
                </a:tc>
                <a:extLst>
                  <a:ext uri="{0D108BD9-81ED-4DB2-BD59-A6C34878D82A}">
                    <a16:rowId xmlns:a16="http://schemas.microsoft.com/office/drawing/2014/main" val="2526933734"/>
                  </a:ext>
                </a:extLst>
              </a:tr>
              <a:tr h="370840">
                <a:tc>
                  <a:txBody>
                    <a:bodyPr/>
                    <a:lstStyle/>
                    <a:p>
                      <a:r>
                        <a:rPr lang="tr-TR" dirty="0" smtClean="0"/>
                        <a:t>14</a:t>
                      </a:r>
                      <a:endParaRPr lang="tr-TR" dirty="0"/>
                    </a:p>
                  </a:txBody>
                  <a:tcPr/>
                </a:tc>
                <a:tc>
                  <a:txBody>
                    <a:bodyPr/>
                    <a:lstStyle/>
                    <a:p>
                      <a:r>
                        <a:rPr lang="tr-TR" dirty="0" smtClean="0"/>
                        <a:t>7</a:t>
                      </a:r>
                      <a:endParaRPr lang="tr-TR" dirty="0"/>
                    </a:p>
                  </a:txBody>
                  <a:tcPr/>
                </a:tc>
                <a:extLst>
                  <a:ext uri="{0D108BD9-81ED-4DB2-BD59-A6C34878D82A}">
                    <a16:rowId xmlns:a16="http://schemas.microsoft.com/office/drawing/2014/main" val="1340453716"/>
                  </a:ext>
                </a:extLst>
              </a:tr>
              <a:tr h="370840">
                <a:tc>
                  <a:txBody>
                    <a:bodyPr/>
                    <a:lstStyle/>
                    <a:p>
                      <a:r>
                        <a:rPr lang="tr-TR" dirty="0" smtClean="0">
                          <a:solidFill>
                            <a:srgbClr val="FF0000"/>
                          </a:solidFill>
                        </a:rPr>
                        <a:t>15</a:t>
                      </a:r>
                      <a:endParaRPr lang="tr-TR" dirty="0">
                        <a:solidFill>
                          <a:srgbClr val="FF0000"/>
                        </a:solidFill>
                      </a:endParaRPr>
                    </a:p>
                  </a:txBody>
                  <a:tcPr/>
                </a:tc>
                <a:tc>
                  <a:txBody>
                    <a:bodyPr/>
                    <a:lstStyle/>
                    <a:p>
                      <a:r>
                        <a:rPr lang="tr-TR" dirty="0" smtClean="0">
                          <a:solidFill>
                            <a:srgbClr val="FF0000"/>
                          </a:solidFill>
                        </a:rPr>
                        <a:t>16</a:t>
                      </a:r>
                      <a:endParaRPr lang="tr-TR" dirty="0">
                        <a:solidFill>
                          <a:srgbClr val="FF0000"/>
                        </a:solidFill>
                      </a:endParaRPr>
                    </a:p>
                  </a:txBody>
                  <a:tcPr/>
                </a:tc>
                <a:extLst>
                  <a:ext uri="{0D108BD9-81ED-4DB2-BD59-A6C34878D82A}">
                    <a16:rowId xmlns:a16="http://schemas.microsoft.com/office/drawing/2014/main" val="4002428671"/>
                  </a:ext>
                </a:extLst>
              </a:tr>
              <a:tr h="370840">
                <a:tc gridSpan="2">
                  <a:txBody>
                    <a:bodyPr/>
                    <a:lstStyle/>
                    <a:p>
                      <a:r>
                        <a:rPr lang="tr-TR" dirty="0" smtClean="0">
                          <a:solidFill>
                            <a:srgbClr val="FF0000"/>
                          </a:solidFill>
                        </a:rPr>
                        <a:t>D=2753</a:t>
                      </a:r>
                      <a:endParaRPr lang="tr-TR" dirty="0">
                        <a:solidFill>
                          <a:srgbClr val="FF0000"/>
                        </a:solidFill>
                      </a:endParaRPr>
                    </a:p>
                  </a:txBody>
                  <a:tcPr/>
                </a:tc>
                <a:tc hMerge="1">
                  <a:txBody>
                    <a:bodyPr/>
                    <a:lstStyle/>
                    <a:p>
                      <a:endParaRPr lang="tr-TR" dirty="0"/>
                    </a:p>
                  </a:txBody>
                  <a:tcPr/>
                </a:tc>
                <a:extLst>
                  <a:ext uri="{0D108BD9-81ED-4DB2-BD59-A6C34878D82A}">
                    <a16:rowId xmlns:a16="http://schemas.microsoft.com/office/drawing/2014/main" val="2277709492"/>
                  </a:ext>
                </a:extLst>
              </a:tr>
            </a:tbl>
          </a:graphicData>
        </a:graphic>
      </p:graphicFrame>
    </p:spTree>
    <p:extLst>
      <p:ext uri="{BB962C8B-B14F-4D97-AF65-F5344CB8AC3E}">
        <p14:creationId xmlns:p14="http://schemas.microsoft.com/office/powerpoint/2010/main" val="72854028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a:xfrm>
                <a:off x="179512" y="1180445"/>
                <a:ext cx="8640960" cy="4851746"/>
              </a:xfrm>
            </p:spPr>
            <p:txBody>
              <a:bodyPr>
                <a:normAutofit lnSpcReduction="10000"/>
              </a:bodyPr>
              <a:lstStyle/>
              <a:p>
                <a:r>
                  <a:rPr lang="tr-TR" b="1" u="sng" dirty="0" smtClean="0">
                    <a:solidFill>
                      <a:srgbClr val="C00000"/>
                    </a:solidFill>
                    <a:effectLst>
                      <a:outerShdw blurRad="38100" dist="38100" dir="2700000" algn="tl">
                        <a:srgbClr val="000000">
                          <a:alpha val="43137"/>
                        </a:srgbClr>
                      </a:outerShdw>
                    </a:effectLst>
                  </a:rPr>
                  <a:t>Örnek…:</a:t>
                </a:r>
              </a:p>
              <a:p>
                <a:pPr lvl="1"/>
                <a:r>
                  <a:rPr lang="tr-TR" sz="2400" b="1" dirty="0" smtClean="0"/>
                  <a:t>Ortak Anahtar:</a:t>
                </a:r>
              </a:p>
              <a:p>
                <a:pPr lvl="2"/>
                <a:r>
                  <a:rPr lang="tr-TR" sz="2400" dirty="0" smtClean="0"/>
                  <a:t> </a:t>
                </a:r>
                <a14:m>
                  <m:oMath xmlns:m="http://schemas.openxmlformats.org/officeDocument/2006/math">
                    <m:r>
                      <a:rPr lang="tr-TR" sz="2400" b="0" i="1" smtClean="0">
                        <a:latin typeface="Cambria Math" panose="02040503050406030204" pitchFamily="18" charset="0"/>
                      </a:rPr>
                      <m:t>𝑛</m:t>
                    </m:r>
                    <m:r>
                      <a:rPr lang="tr-TR" sz="2400" b="0" i="1" smtClean="0">
                        <a:latin typeface="Cambria Math" panose="02040503050406030204" pitchFamily="18" charset="0"/>
                      </a:rPr>
                      <m:t>=3233, </m:t>
                    </m:r>
                    <m:r>
                      <a:rPr lang="tr-TR" sz="2400" b="0" i="1" smtClean="0">
                        <a:latin typeface="Cambria Math" panose="02040503050406030204" pitchFamily="18" charset="0"/>
                      </a:rPr>
                      <m:t>𝑒</m:t>
                    </m:r>
                    <m:r>
                      <a:rPr lang="tr-TR" sz="2400" b="0" i="1" smtClean="0">
                        <a:latin typeface="Cambria Math" panose="02040503050406030204" pitchFamily="18" charset="0"/>
                      </a:rPr>
                      <m:t>=17</m:t>
                    </m:r>
                  </m:oMath>
                </a14:m>
                <a:endParaRPr lang="tr-TR" sz="2400" b="0" dirty="0" smtClean="0"/>
              </a:p>
              <a:p>
                <a:pPr lvl="2"/>
                <a:r>
                  <a:rPr lang="tr-TR" sz="2400" dirty="0" smtClean="0"/>
                  <a:t>Herhangi bir m mesajı için şifreleme fonksiyonu: </a:t>
                </a:r>
                <a14:m>
                  <m:oMath xmlns:m="http://schemas.openxmlformats.org/officeDocument/2006/math">
                    <m:sSup>
                      <m:sSupPr>
                        <m:ctrlPr>
                          <a:rPr lang="tr-TR" sz="2400" i="1" smtClean="0">
                            <a:latin typeface="Cambria Math" panose="02040503050406030204" pitchFamily="18" charset="0"/>
                          </a:rPr>
                        </m:ctrlPr>
                      </m:sSupPr>
                      <m:e>
                        <m:r>
                          <a:rPr lang="tr-TR" sz="2400" b="0" i="1" smtClean="0">
                            <a:latin typeface="Cambria Math" panose="02040503050406030204" pitchFamily="18" charset="0"/>
                          </a:rPr>
                          <m:t>𝑚</m:t>
                        </m:r>
                      </m:e>
                      <m:sup>
                        <m:r>
                          <a:rPr lang="tr-TR" sz="2400" b="0" i="1" smtClean="0">
                            <a:latin typeface="Cambria Math" panose="02040503050406030204" pitchFamily="18" charset="0"/>
                          </a:rPr>
                          <m:t>17</m:t>
                        </m:r>
                      </m:sup>
                    </m:sSup>
                    <m:d>
                      <m:dPr>
                        <m:ctrlPr>
                          <a:rPr lang="tr-TR" sz="2400" i="1" smtClean="0">
                            <a:latin typeface="Cambria Math" panose="02040503050406030204" pitchFamily="18" charset="0"/>
                          </a:rPr>
                        </m:ctrlPr>
                      </m:dPr>
                      <m:e>
                        <m:r>
                          <a:rPr lang="tr-TR" sz="2400" b="0" i="1" smtClean="0">
                            <a:latin typeface="Cambria Math" panose="02040503050406030204" pitchFamily="18" charset="0"/>
                          </a:rPr>
                          <m:t>𝑚𝑜𝑑</m:t>
                        </m:r>
                        <m:r>
                          <a:rPr lang="tr-TR" sz="2400" b="0" i="1" smtClean="0">
                            <a:latin typeface="Cambria Math" panose="02040503050406030204" pitchFamily="18" charset="0"/>
                          </a:rPr>
                          <m:t> 3233</m:t>
                        </m:r>
                      </m:e>
                    </m:d>
                  </m:oMath>
                </a14:m>
                <a:endParaRPr lang="tr-TR" sz="2400" dirty="0" smtClean="0"/>
              </a:p>
              <a:p>
                <a:pPr lvl="1"/>
                <a:r>
                  <a:rPr lang="tr-TR" sz="2400" b="1" dirty="0" smtClean="0"/>
                  <a:t>Özel Anahtar:</a:t>
                </a:r>
              </a:p>
              <a:p>
                <a:pPr lvl="2"/>
                <a14:m>
                  <m:oMath xmlns:m="http://schemas.openxmlformats.org/officeDocument/2006/math">
                    <m:r>
                      <a:rPr lang="tr-TR" sz="2400" i="1">
                        <a:latin typeface="Cambria Math" panose="02040503050406030204" pitchFamily="18" charset="0"/>
                      </a:rPr>
                      <m:t>𝑛</m:t>
                    </m:r>
                    <m:r>
                      <a:rPr lang="tr-TR" sz="2400" i="1">
                        <a:latin typeface="Cambria Math" panose="02040503050406030204" pitchFamily="18" charset="0"/>
                      </a:rPr>
                      <m:t>=3233, </m:t>
                    </m:r>
                    <m:r>
                      <a:rPr lang="tr-TR" sz="2400" b="0" i="1" smtClean="0">
                        <a:latin typeface="Cambria Math" panose="02040503050406030204" pitchFamily="18" charset="0"/>
                      </a:rPr>
                      <m:t>𝑑</m:t>
                    </m:r>
                    <m:r>
                      <a:rPr lang="tr-TR" sz="2400" i="1">
                        <a:latin typeface="Cambria Math" panose="02040503050406030204" pitchFamily="18" charset="0"/>
                      </a:rPr>
                      <m:t>=</m:t>
                    </m:r>
                    <m:r>
                      <a:rPr lang="tr-TR" sz="2400" b="0" i="1" smtClean="0">
                        <a:latin typeface="Cambria Math" panose="02040503050406030204" pitchFamily="18" charset="0"/>
                      </a:rPr>
                      <m:t>2753</m:t>
                    </m:r>
                  </m:oMath>
                </a14:m>
                <a:endParaRPr lang="tr-TR" sz="2400" dirty="0" smtClean="0"/>
              </a:p>
              <a:p>
                <a:pPr lvl="2"/>
                <a:r>
                  <a:rPr lang="tr-TR" sz="2400" dirty="0" smtClean="0"/>
                  <a:t>Herhangi bir c şifreli mesajı için şifre çözme fonksiyonu: </a:t>
                </a:r>
                <a14:m>
                  <m:oMath xmlns:m="http://schemas.openxmlformats.org/officeDocument/2006/math">
                    <m:sSup>
                      <m:sSupPr>
                        <m:ctrlPr>
                          <a:rPr lang="tr-TR" sz="2400" i="1">
                            <a:latin typeface="Cambria Math" panose="02040503050406030204" pitchFamily="18" charset="0"/>
                          </a:rPr>
                        </m:ctrlPr>
                      </m:sSupPr>
                      <m:e>
                        <m:r>
                          <a:rPr lang="tr-TR" sz="2400" b="0" i="1" smtClean="0">
                            <a:latin typeface="Cambria Math" panose="02040503050406030204" pitchFamily="18" charset="0"/>
                          </a:rPr>
                          <m:t>𝑐</m:t>
                        </m:r>
                      </m:e>
                      <m:sup>
                        <m:r>
                          <a:rPr lang="tr-TR" sz="2400" b="0" i="1" smtClean="0">
                            <a:latin typeface="Cambria Math" panose="02040503050406030204" pitchFamily="18" charset="0"/>
                          </a:rPr>
                          <m:t>2753</m:t>
                        </m:r>
                      </m:sup>
                    </m:sSup>
                    <m:d>
                      <m:dPr>
                        <m:ctrlPr>
                          <a:rPr lang="tr-TR" sz="2400" i="1">
                            <a:latin typeface="Cambria Math" panose="02040503050406030204" pitchFamily="18" charset="0"/>
                          </a:rPr>
                        </m:ctrlPr>
                      </m:dPr>
                      <m:e>
                        <m:r>
                          <a:rPr lang="tr-TR" sz="2400" i="1">
                            <a:latin typeface="Cambria Math" panose="02040503050406030204" pitchFamily="18" charset="0"/>
                          </a:rPr>
                          <m:t>𝑚𝑜𝑑</m:t>
                        </m:r>
                        <m:r>
                          <a:rPr lang="tr-TR" sz="2400" i="1">
                            <a:latin typeface="Cambria Math" panose="02040503050406030204" pitchFamily="18" charset="0"/>
                          </a:rPr>
                          <m:t> 3233</m:t>
                        </m:r>
                      </m:e>
                    </m:d>
                  </m:oMath>
                </a14:m>
                <a:endParaRPr lang="tr-TR" sz="2400" dirty="0" smtClean="0"/>
              </a:p>
              <a:p>
                <a:pPr lvl="1"/>
                <a14:m>
                  <m:oMath xmlns:m="http://schemas.openxmlformats.org/officeDocument/2006/math">
                    <m:r>
                      <a:rPr lang="tr-TR" sz="2400" b="0" i="1" smtClean="0">
                        <a:latin typeface="Cambria Math" panose="02040503050406030204" pitchFamily="18" charset="0"/>
                      </a:rPr>
                      <m:t>𝑚</m:t>
                    </m:r>
                    <m:r>
                      <a:rPr lang="tr-TR" sz="2400" b="0" i="1" smtClean="0">
                        <a:latin typeface="Cambria Math" panose="02040503050406030204" pitchFamily="18" charset="0"/>
                      </a:rPr>
                      <m:t>=65 </m:t>
                    </m:r>
                  </m:oMath>
                </a14:m>
                <a:r>
                  <a:rPr lang="tr-TR" sz="2400" dirty="0" smtClean="0"/>
                  <a:t>için şifre</a:t>
                </a:r>
              </a:p>
              <a:p>
                <a:pPr lvl="2"/>
                <a14:m>
                  <m:oMath xmlns:m="http://schemas.openxmlformats.org/officeDocument/2006/math">
                    <m:r>
                      <a:rPr lang="tr-TR" sz="2400" b="0" i="1" smtClean="0">
                        <a:latin typeface="Cambria Math" panose="02040503050406030204" pitchFamily="18" charset="0"/>
                      </a:rPr>
                      <m:t>𝑐</m:t>
                    </m:r>
                    <m:r>
                      <a:rPr lang="tr-TR" sz="2400" b="0" i="1" smtClean="0">
                        <a:latin typeface="Cambria Math" panose="02040503050406030204" pitchFamily="18" charset="0"/>
                      </a:rPr>
                      <m:t>=</m:t>
                    </m:r>
                    <m:sSup>
                      <m:sSupPr>
                        <m:ctrlPr>
                          <a:rPr lang="tr-TR" sz="2400" b="0" i="1" smtClean="0">
                            <a:latin typeface="Cambria Math" panose="02040503050406030204" pitchFamily="18" charset="0"/>
                          </a:rPr>
                        </m:ctrlPr>
                      </m:sSupPr>
                      <m:e>
                        <m:r>
                          <a:rPr lang="tr-TR" sz="2400" b="0" i="1" smtClean="0">
                            <a:latin typeface="Cambria Math" panose="02040503050406030204" pitchFamily="18" charset="0"/>
                          </a:rPr>
                          <m:t>65</m:t>
                        </m:r>
                      </m:e>
                      <m:sup>
                        <m:r>
                          <a:rPr lang="tr-TR" sz="2400" b="0" i="1" smtClean="0">
                            <a:latin typeface="Cambria Math" panose="02040503050406030204" pitchFamily="18" charset="0"/>
                          </a:rPr>
                          <m:t>17</m:t>
                        </m:r>
                      </m:sup>
                    </m:sSup>
                    <m:d>
                      <m:dPr>
                        <m:ctrlPr>
                          <a:rPr lang="tr-TR" sz="2400" b="0" i="1" smtClean="0">
                            <a:latin typeface="Cambria Math" panose="02040503050406030204" pitchFamily="18" charset="0"/>
                          </a:rPr>
                        </m:ctrlPr>
                      </m:dPr>
                      <m:e>
                        <m:r>
                          <a:rPr lang="tr-TR" sz="2400" b="0" i="1" smtClean="0">
                            <a:latin typeface="Cambria Math" panose="02040503050406030204" pitchFamily="18" charset="0"/>
                          </a:rPr>
                          <m:t>𝑚𝑜𝑑</m:t>
                        </m:r>
                        <m:r>
                          <a:rPr lang="tr-TR" sz="2400" b="0" i="1" smtClean="0">
                            <a:latin typeface="Cambria Math" panose="02040503050406030204" pitchFamily="18" charset="0"/>
                          </a:rPr>
                          <m:t> 3233</m:t>
                        </m:r>
                      </m:e>
                    </m:d>
                    <m:r>
                      <a:rPr lang="tr-TR" sz="2400" b="0" i="1" smtClean="0">
                        <a:latin typeface="Cambria Math" panose="02040503050406030204" pitchFamily="18" charset="0"/>
                      </a:rPr>
                      <m:t>=2790</m:t>
                    </m:r>
                  </m:oMath>
                </a14:m>
                <a:endParaRPr lang="tr-TR" sz="2400" dirty="0" smtClean="0"/>
              </a:p>
              <a:p>
                <a:pPr lvl="1"/>
                <a:r>
                  <a:rPr lang="tr-TR" sz="2400" dirty="0" smtClean="0"/>
                  <a:t>c</a:t>
                </a:r>
                <a14:m>
                  <m:oMath xmlns:m="http://schemas.openxmlformats.org/officeDocument/2006/math">
                    <m:r>
                      <a:rPr lang="tr-TR" sz="2400" i="1">
                        <a:latin typeface="Cambria Math" panose="02040503050406030204" pitchFamily="18" charset="0"/>
                      </a:rPr>
                      <m:t>=</m:t>
                    </m:r>
                    <m:r>
                      <a:rPr lang="tr-TR" sz="2400" b="0" i="1" smtClean="0">
                        <a:latin typeface="Cambria Math" panose="02040503050406030204" pitchFamily="18" charset="0"/>
                      </a:rPr>
                      <m:t>2790</m:t>
                    </m:r>
                    <m:r>
                      <a:rPr lang="tr-TR" sz="2400" i="1">
                        <a:latin typeface="Cambria Math" panose="02040503050406030204" pitchFamily="18" charset="0"/>
                      </a:rPr>
                      <m:t> </m:t>
                    </m:r>
                  </m:oMath>
                </a14:m>
                <a:r>
                  <a:rPr lang="tr-TR" sz="2400" dirty="0"/>
                  <a:t>için </a:t>
                </a:r>
                <a:r>
                  <a:rPr lang="tr-TR" sz="2400" dirty="0" smtClean="0"/>
                  <a:t>şifre çözme</a:t>
                </a:r>
                <a:endParaRPr lang="tr-TR" sz="2400" dirty="0"/>
              </a:p>
              <a:p>
                <a:pPr lvl="2"/>
                <a:r>
                  <a:rPr lang="tr-TR" sz="2400" dirty="0" smtClean="0"/>
                  <a:t>m</a:t>
                </a:r>
                <a14:m>
                  <m:oMath xmlns:m="http://schemas.openxmlformats.org/officeDocument/2006/math">
                    <m:r>
                      <a:rPr lang="tr-TR" sz="2400" i="1">
                        <a:latin typeface="Cambria Math" panose="02040503050406030204" pitchFamily="18" charset="0"/>
                      </a:rPr>
                      <m:t>=</m:t>
                    </m:r>
                    <m:sSup>
                      <m:sSupPr>
                        <m:ctrlPr>
                          <a:rPr lang="tr-TR" sz="2400" i="1">
                            <a:latin typeface="Cambria Math" panose="02040503050406030204" pitchFamily="18" charset="0"/>
                          </a:rPr>
                        </m:ctrlPr>
                      </m:sSupPr>
                      <m:e>
                        <m:r>
                          <a:rPr lang="tr-TR" sz="2400" b="0" i="1" smtClean="0">
                            <a:latin typeface="Cambria Math" panose="02040503050406030204" pitchFamily="18" charset="0"/>
                          </a:rPr>
                          <m:t>2790</m:t>
                        </m:r>
                      </m:e>
                      <m:sup>
                        <m:r>
                          <a:rPr lang="tr-TR" sz="2400" b="0" i="1" smtClean="0">
                            <a:latin typeface="Cambria Math" panose="02040503050406030204" pitchFamily="18" charset="0"/>
                          </a:rPr>
                          <m:t>2753</m:t>
                        </m:r>
                      </m:sup>
                    </m:sSup>
                    <m:d>
                      <m:dPr>
                        <m:ctrlPr>
                          <a:rPr lang="tr-TR" sz="2400" i="1">
                            <a:latin typeface="Cambria Math" panose="02040503050406030204" pitchFamily="18" charset="0"/>
                          </a:rPr>
                        </m:ctrlPr>
                      </m:dPr>
                      <m:e>
                        <m:r>
                          <a:rPr lang="tr-TR" sz="2400" i="1">
                            <a:latin typeface="Cambria Math" panose="02040503050406030204" pitchFamily="18" charset="0"/>
                          </a:rPr>
                          <m:t>𝑚𝑜𝑑</m:t>
                        </m:r>
                        <m:r>
                          <a:rPr lang="tr-TR" sz="2400" i="1">
                            <a:latin typeface="Cambria Math" panose="02040503050406030204" pitchFamily="18" charset="0"/>
                          </a:rPr>
                          <m:t> 3233</m:t>
                        </m:r>
                      </m:e>
                    </m:d>
                    <m:r>
                      <a:rPr lang="tr-TR" sz="2400" i="1">
                        <a:latin typeface="Cambria Math" panose="02040503050406030204" pitchFamily="18" charset="0"/>
                      </a:rPr>
                      <m:t>=</m:t>
                    </m:r>
                    <m:r>
                      <a:rPr lang="tr-TR" sz="2400" b="0" i="1" smtClean="0">
                        <a:latin typeface="Cambria Math" panose="02040503050406030204" pitchFamily="18" charset="0"/>
                      </a:rPr>
                      <m:t>65</m:t>
                    </m:r>
                  </m:oMath>
                </a14:m>
                <a:endParaRPr lang="tr-TR" sz="2400"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xfrm>
                <a:off x="179512" y="1180445"/>
                <a:ext cx="8640960" cy="4851746"/>
              </a:xfrm>
              <a:blipFill>
                <a:blip r:embed="rId2"/>
                <a:stretch>
                  <a:fillRect l="-987" t="-2513"/>
                </a:stretch>
              </a:blipFill>
            </p:spPr>
            <p:txBody>
              <a:bodyPr/>
              <a:lstStyle/>
              <a:p>
                <a:r>
                  <a:rPr lang="tr-TR">
                    <a:noFill/>
                  </a:rPr>
                  <a:t> </a:t>
                </a:r>
              </a:p>
            </p:txBody>
          </p:sp>
        </mc:Fallback>
      </mc:AlternateContent>
    </p:spTree>
    <p:extLst>
      <p:ext uri="{BB962C8B-B14F-4D97-AF65-F5344CB8AC3E}">
        <p14:creationId xmlns:p14="http://schemas.microsoft.com/office/powerpoint/2010/main" val="20189094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p:sp>
        <p:nvSpPr>
          <p:cNvPr id="3" name="İçerik Yer Tutucusu 2"/>
          <p:cNvSpPr>
            <a:spLocks noGrp="1"/>
          </p:cNvSpPr>
          <p:nvPr>
            <p:ph idx="1"/>
          </p:nvPr>
        </p:nvSpPr>
        <p:spPr/>
        <p:txBody>
          <a:bodyPr/>
          <a:lstStyle/>
          <a:p>
            <a:r>
              <a:rPr lang="tr-TR" b="1" u="sng" dirty="0" smtClean="0">
                <a:solidFill>
                  <a:srgbClr val="C00000"/>
                </a:solidFill>
                <a:effectLst>
                  <a:outerShdw blurRad="38100" dist="38100" dir="2700000" algn="tl">
                    <a:srgbClr val="000000">
                      <a:alpha val="43137"/>
                    </a:srgbClr>
                  </a:outerShdw>
                </a:effectLst>
              </a:rPr>
              <a:t>Örnek:</a:t>
            </a:r>
            <a:endParaRPr lang="tr-TR" b="1" u="sng" dirty="0">
              <a:solidFill>
                <a:srgbClr val="C00000"/>
              </a:solidFill>
              <a:effectLst>
                <a:outerShdw blurRad="38100" dist="38100" dir="2700000" algn="tl">
                  <a:srgbClr val="000000">
                    <a:alpha val="43137"/>
                  </a:srgbClr>
                </a:outerShdw>
              </a:effectLst>
            </a:endParaRPr>
          </a:p>
          <a:p>
            <a:pPr lvl="1"/>
            <a:r>
              <a:rPr lang="tr-TR" dirty="0" smtClean="0"/>
              <a:t>Ayşe </a:t>
            </a:r>
            <a:r>
              <a:rPr lang="tr-TR" dirty="0"/>
              <a:t>Barış’a FEDA sözcüğünü şifreli olarak göndermek istiyor. </a:t>
            </a:r>
            <a:endParaRPr lang="tr-TR" dirty="0" smtClean="0"/>
          </a:p>
          <a:p>
            <a:pPr lvl="1"/>
            <a:r>
              <a:rPr lang="tr-TR" dirty="0" smtClean="0"/>
              <a:t>Barış </a:t>
            </a:r>
            <a:r>
              <a:rPr lang="tr-TR" dirty="0"/>
              <a:t>gizli anahtarlar olan p ve q </a:t>
            </a:r>
            <a:r>
              <a:rPr lang="tr-TR" dirty="0" smtClean="0"/>
              <a:t>asallarını </a:t>
            </a:r>
            <a:r>
              <a:rPr lang="tr-TR" dirty="0"/>
              <a:t>2 ve 11 seçsin. </a:t>
            </a:r>
          </a:p>
          <a:p>
            <a:pPr lvl="1"/>
            <a:r>
              <a:rPr lang="tr-TR" dirty="0" smtClean="0"/>
              <a:t>Burada </a:t>
            </a:r>
            <a:r>
              <a:rPr lang="tr-TR" dirty="0"/>
              <a:t>N sayısı </a:t>
            </a:r>
            <a:r>
              <a:rPr lang="tr-TR" dirty="0" err="1"/>
              <a:t>p.q</a:t>
            </a:r>
            <a:r>
              <a:rPr lang="tr-TR" dirty="0"/>
              <a:t>=2.11=22 ve </a:t>
            </a:r>
            <a:r>
              <a:rPr lang="el-GR" dirty="0"/>
              <a:t>φ(</a:t>
            </a:r>
            <a:r>
              <a:rPr lang="tr-TR" dirty="0"/>
              <a:t>N) sayısı ise (p-1).(q-1)=1.10 olacaktır. </a:t>
            </a:r>
          </a:p>
          <a:p>
            <a:pPr lvl="1"/>
            <a:r>
              <a:rPr lang="tr-TR" dirty="0" smtClean="0"/>
              <a:t>Sırada </a:t>
            </a:r>
            <a:r>
              <a:rPr lang="tr-TR" dirty="0"/>
              <a:t>bir e sayısı belirlemek var. e=7 seçilsin. (N, e) ikilisini (22, 7) olarak duyurur. </a:t>
            </a:r>
          </a:p>
          <a:p>
            <a:pPr lvl="1"/>
            <a:r>
              <a:rPr lang="tr-TR" dirty="0" smtClean="0"/>
              <a:t>Ayşe bu ikiliye ulaşır ve göndereceği mesajı bu ikiliyi kullanarak şifreler. Aralarında aşağıdaki harfleri aşağıdaki gibi kodlama konusunda anlaştıklarını varsayalım. </a:t>
            </a:r>
          </a:p>
          <a:p>
            <a:endParaRPr lang="tr-TR" dirty="0"/>
          </a:p>
        </p:txBody>
      </p:sp>
      <p:pic>
        <p:nvPicPr>
          <p:cNvPr id="5" name="Resim 4"/>
          <p:cNvPicPr>
            <a:picLocks noChangeAspect="1"/>
          </p:cNvPicPr>
          <p:nvPr/>
        </p:nvPicPr>
        <p:blipFill>
          <a:blip r:embed="rId2"/>
          <a:stretch>
            <a:fillRect/>
          </a:stretch>
        </p:blipFill>
        <p:spPr>
          <a:xfrm>
            <a:off x="1187624" y="4366722"/>
            <a:ext cx="7472278" cy="934486"/>
          </a:xfrm>
          <a:prstGeom prst="rect">
            <a:avLst/>
          </a:prstGeom>
          <a:effectLst>
            <a:outerShdw blurRad="76200" dir="13500000" sy="23000" kx="1200000" algn="br" rotWithShape="0">
              <a:prstClr val="black">
                <a:alpha val="20000"/>
              </a:prstClr>
            </a:outerShdw>
          </a:effectLst>
        </p:spPr>
      </p:pic>
    </p:spTree>
    <p:extLst>
      <p:ext uri="{BB962C8B-B14F-4D97-AF65-F5344CB8AC3E}">
        <p14:creationId xmlns:p14="http://schemas.microsoft.com/office/powerpoint/2010/main" val="21677940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mc:AlternateContent xmlns:mc="http://schemas.openxmlformats.org/markup-compatibility/2006">
        <mc:Choice xmlns:a14="http://schemas.microsoft.com/office/drawing/2010/main" Requires="a14">
          <p:sp>
            <p:nvSpPr>
              <p:cNvPr id="3" name="İçerik Yer Tutucusu 2"/>
              <p:cNvSpPr>
                <a:spLocks noGrp="1"/>
              </p:cNvSpPr>
              <p:nvPr>
                <p:ph idx="1"/>
              </p:nvPr>
            </p:nvSpPr>
            <p:spPr/>
            <p:txBody>
              <a:bodyPr>
                <a:normAutofit/>
              </a:bodyPr>
              <a:lstStyle/>
              <a:p>
                <a:r>
                  <a:rPr lang="tr-TR" b="1" u="sng" dirty="0" smtClean="0">
                    <a:solidFill>
                      <a:srgbClr val="C00000"/>
                    </a:solidFill>
                    <a:effectLst>
                      <a:outerShdw blurRad="38100" dist="38100" dir="2700000" algn="tl">
                        <a:srgbClr val="000000">
                          <a:alpha val="43137"/>
                        </a:srgbClr>
                      </a:outerShdw>
                    </a:effectLst>
                  </a:rPr>
                  <a:t>Örnek…:</a:t>
                </a:r>
                <a:endParaRPr lang="tr-TR" b="1" u="sng" dirty="0">
                  <a:solidFill>
                    <a:srgbClr val="C00000"/>
                  </a:solidFill>
                  <a:effectLst>
                    <a:outerShdw blurRad="38100" dist="38100" dir="2700000" algn="tl">
                      <a:srgbClr val="000000">
                        <a:alpha val="43137"/>
                      </a:srgbClr>
                    </a:outerShdw>
                  </a:effectLst>
                </a:endParaRPr>
              </a:p>
              <a:p>
                <a:pPr lvl="1"/>
                <a:r>
                  <a:rPr lang="tr-TR" dirty="0" smtClean="0"/>
                  <a:t>Ayşe bu sayıların 7. dereceden kuvvetlerini alarak mod22’de hesaplasın.</a:t>
                </a:r>
              </a:p>
              <a:p>
                <a:pPr lvl="2"/>
                <a14:m>
                  <m:oMath xmlns:m="http://schemas.openxmlformats.org/officeDocument/2006/math">
                    <m:sSup>
                      <m:sSupPr>
                        <m:ctrlPr>
                          <a:rPr lang="tr-TR" i="1" smtClean="0">
                            <a:latin typeface="Cambria Math" panose="02040503050406030204" pitchFamily="18" charset="0"/>
                          </a:rPr>
                        </m:ctrlPr>
                      </m:sSupPr>
                      <m:e>
                        <m:r>
                          <a:rPr lang="tr-TR" b="0" i="1" smtClean="0">
                            <a:latin typeface="Cambria Math" panose="02040503050406030204" pitchFamily="18" charset="0"/>
                          </a:rPr>
                          <m:t>6</m:t>
                        </m:r>
                      </m:e>
                      <m:sup>
                        <m:r>
                          <a:rPr lang="tr-TR" b="0" i="1" smtClean="0">
                            <a:latin typeface="Cambria Math" panose="02040503050406030204" pitchFamily="18" charset="0"/>
                          </a:rPr>
                          <m:t>7</m:t>
                        </m:r>
                      </m:sup>
                    </m:sSup>
                    <m:r>
                      <a:rPr lang="tr-TR" b="0" i="1" smtClean="0">
                        <a:latin typeface="Cambria Math" panose="02040503050406030204" pitchFamily="18" charset="0"/>
                      </a:rPr>
                      <m:t>𝑚𝑜𝑑</m:t>
                    </m:r>
                    <m:r>
                      <a:rPr lang="tr-TR" b="0" i="1" smtClean="0">
                        <a:latin typeface="Cambria Math" panose="02040503050406030204" pitchFamily="18" charset="0"/>
                      </a:rPr>
                      <m:t> 22=8</m:t>
                    </m:r>
                  </m:oMath>
                </a14:m>
                <a:endParaRPr lang="tr-TR" b="0" dirty="0" smtClean="0"/>
              </a:p>
              <a:p>
                <a:pPr lvl="2"/>
                <a14:m>
                  <m:oMath xmlns:m="http://schemas.openxmlformats.org/officeDocument/2006/math">
                    <m:sSup>
                      <m:sSupPr>
                        <m:ctrlPr>
                          <a:rPr lang="tr-TR" i="1">
                            <a:latin typeface="Cambria Math" panose="02040503050406030204" pitchFamily="18" charset="0"/>
                          </a:rPr>
                        </m:ctrlPr>
                      </m:sSupPr>
                      <m:e>
                        <m:r>
                          <a:rPr lang="tr-TR" b="0" i="1" smtClean="0">
                            <a:latin typeface="Cambria Math" panose="02040503050406030204" pitchFamily="18" charset="0"/>
                          </a:rPr>
                          <m:t>5</m:t>
                        </m:r>
                      </m:e>
                      <m:sup>
                        <m:r>
                          <a:rPr lang="tr-TR" i="1">
                            <a:latin typeface="Cambria Math" panose="02040503050406030204" pitchFamily="18" charset="0"/>
                          </a:rPr>
                          <m:t>7</m:t>
                        </m:r>
                      </m:sup>
                    </m:sSup>
                    <m:r>
                      <a:rPr lang="tr-TR" i="1">
                        <a:latin typeface="Cambria Math" panose="02040503050406030204" pitchFamily="18" charset="0"/>
                      </a:rPr>
                      <m:t>𝑚𝑜𝑑</m:t>
                    </m:r>
                    <m:r>
                      <a:rPr lang="tr-TR" i="1">
                        <a:latin typeface="Cambria Math" panose="02040503050406030204" pitchFamily="18" charset="0"/>
                      </a:rPr>
                      <m:t> 22=3</m:t>
                    </m:r>
                  </m:oMath>
                </a14:m>
                <a:endParaRPr lang="tr-TR" dirty="0" smtClean="0"/>
              </a:p>
              <a:p>
                <a:pPr lvl="2"/>
                <a14:m>
                  <m:oMath xmlns:m="http://schemas.openxmlformats.org/officeDocument/2006/math">
                    <m:sSup>
                      <m:sSupPr>
                        <m:ctrlPr>
                          <a:rPr lang="tr-TR" i="1" smtClean="0">
                            <a:latin typeface="Cambria Math" panose="02040503050406030204" pitchFamily="18" charset="0"/>
                          </a:rPr>
                        </m:ctrlPr>
                      </m:sSupPr>
                      <m:e>
                        <m:r>
                          <a:rPr lang="tr-TR" b="0" i="1" smtClean="0">
                            <a:latin typeface="Cambria Math" panose="02040503050406030204" pitchFamily="18" charset="0"/>
                          </a:rPr>
                          <m:t>4</m:t>
                        </m:r>
                      </m:e>
                      <m:sup>
                        <m:r>
                          <a:rPr lang="tr-TR" i="1">
                            <a:latin typeface="Cambria Math" panose="02040503050406030204" pitchFamily="18" charset="0"/>
                          </a:rPr>
                          <m:t>7</m:t>
                        </m:r>
                      </m:sup>
                    </m:sSup>
                    <m:r>
                      <a:rPr lang="tr-TR" i="1">
                        <a:latin typeface="Cambria Math" panose="02040503050406030204" pitchFamily="18" charset="0"/>
                      </a:rPr>
                      <m:t>𝑚𝑜𝑑</m:t>
                    </m:r>
                    <m:r>
                      <a:rPr lang="tr-TR" i="1">
                        <a:latin typeface="Cambria Math" panose="02040503050406030204" pitchFamily="18" charset="0"/>
                      </a:rPr>
                      <m:t> 22=16</m:t>
                    </m:r>
                  </m:oMath>
                </a14:m>
                <a:endParaRPr lang="tr-TR" dirty="0" smtClean="0"/>
              </a:p>
              <a:p>
                <a:pPr lvl="2"/>
                <a14:m>
                  <m:oMath xmlns:m="http://schemas.openxmlformats.org/officeDocument/2006/math">
                    <m:sSup>
                      <m:sSupPr>
                        <m:ctrlPr>
                          <a:rPr lang="tr-TR" i="1">
                            <a:latin typeface="Cambria Math" panose="02040503050406030204" pitchFamily="18" charset="0"/>
                          </a:rPr>
                        </m:ctrlPr>
                      </m:sSupPr>
                      <m:e>
                        <m:r>
                          <a:rPr lang="tr-TR" b="0" i="1" smtClean="0">
                            <a:latin typeface="Cambria Math" panose="02040503050406030204" pitchFamily="18" charset="0"/>
                          </a:rPr>
                          <m:t>1</m:t>
                        </m:r>
                      </m:e>
                      <m:sup>
                        <m:r>
                          <a:rPr lang="tr-TR" i="1">
                            <a:latin typeface="Cambria Math" panose="02040503050406030204" pitchFamily="18" charset="0"/>
                          </a:rPr>
                          <m:t>7</m:t>
                        </m:r>
                      </m:sup>
                    </m:sSup>
                    <m:r>
                      <a:rPr lang="tr-TR" i="1">
                        <a:latin typeface="Cambria Math" panose="02040503050406030204" pitchFamily="18" charset="0"/>
                      </a:rPr>
                      <m:t>𝑚𝑜𝑑</m:t>
                    </m:r>
                    <m:r>
                      <a:rPr lang="tr-TR" i="1">
                        <a:latin typeface="Cambria Math" panose="02040503050406030204" pitchFamily="18" charset="0"/>
                      </a:rPr>
                      <m:t> 22=1</m:t>
                    </m:r>
                  </m:oMath>
                </a14:m>
                <a:endParaRPr lang="tr-TR" dirty="0" smtClean="0"/>
              </a:p>
              <a:p>
                <a:pPr lvl="1"/>
                <a:r>
                  <a:rPr lang="tr-TR" dirty="0" smtClean="0"/>
                  <a:t>Ayşe çıkan sonuçları (8-3-16-1) harflere çevirir ve ‘HCPA’ şifre metnini Barış’a gönderir.</a:t>
                </a:r>
              </a:p>
              <a:p>
                <a:pPr lvl="1"/>
                <a:r>
                  <a:rPr lang="tr-TR" dirty="0" smtClean="0"/>
                  <a:t>Şifre metnini alan Barış, şifre çözme algoritmasını uygulamak için </a:t>
                </a:r>
                <a:r>
                  <a:rPr lang="tr-TR" i="1" dirty="0" smtClean="0"/>
                  <a:t>d</a:t>
                </a:r>
                <a:r>
                  <a:rPr lang="tr-TR" dirty="0" smtClean="0"/>
                  <a:t> sayısını hesaplar.</a:t>
                </a:r>
              </a:p>
              <a:p>
                <a:pPr lvl="2"/>
                <a14:m>
                  <m:oMath xmlns:m="http://schemas.openxmlformats.org/officeDocument/2006/math">
                    <m:r>
                      <a:rPr lang="tr-TR" b="0" i="1" smtClean="0">
                        <a:latin typeface="Cambria Math" panose="02040503050406030204" pitchFamily="18" charset="0"/>
                      </a:rPr>
                      <m:t>𝑒</m:t>
                    </m:r>
                    <m:r>
                      <a:rPr lang="tr-TR" b="0" i="1" smtClean="0">
                        <a:latin typeface="Cambria Math" panose="02040503050406030204" pitchFamily="18" charset="0"/>
                      </a:rPr>
                      <m:t>.</m:t>
                    </m:r>
                    <m:r>
                      <a:rPr lang="tr-TR" b="0" i="1" smtClean="0">
                        <a:latin typeface="Cambria Math" panose="02040503050406030204" pitchFamily="18" charset="0"/>
                      </a:rPr>
                      <m:t>𝑑</m:t>
                    </m:r>
                    <m:r>
                      <a:rPr lang="tr-TR" b="0" i="1" smtClean="0">
                        <a:latin typeface="Cambria Math" panose="02040503050406030204" pitchFamily="18" charset="0"/>
                      </a:rPr>
                      <m:t>=1.</m:t>
                    </m:r>
                    <m:r>
                      <a:rPr lang="tr-TR" b="0" i="1" smtClean="0">
                        <a:latin typeface="Cambria Math" panose="02040503050406030204" pitchFamily="18" charset="0"/>
                      </a:rPr>
                      <m:t>𝑚𝑜𝑑</m:t>
                    </m:r>
                    <m:r>
                      <a:rPr lang="tr-TR" b="0" i="1" smtClean="0">
                        <a:latin typeface="Cambria Math" panose="02040503050406030204" pitchFamily="18" charset="0"/>
                      </a:rPr>
                      <m:t> </m:t>
                    </m:r>
                    <m:r>
                      <a:rPr lang="tr-TR" b="0" i="1" smtClean="0">
                        <a:latin typeface="Cambria Math" panose="02040503050406030204" pitchFamily="18" charset="0"/>
                        <a:ea typeface="Cambria Math" panose="02040503050406030204" pitchFamily="18" charset="0"/>
                      </a:rPr>
                      <m:t>𝜑</m:t>
                    </m:r>
                    <m:d>
                      <m:dPr>
                        <m:ctrlPr>
                          <a:rPr lang="tr-TR" b="0" i="1" smtClean="0">
                            <a:latin typeface="Cambria Math" panose="02040503050406030204" pitchFamily="18" charset="0"/>
                            <a:ea typeface="Cambria Math" panose="02040503050406030204" pitchFamily="18" charset="0"/>
                          </a:rPr>
                        </m:ctrlPr>
                      </m:dPr>
                      <m:e>
                        <m:r>
                          <a:rPr lang="tr-TR" b="0" i="1" smtClean="0">
                            <a:latin typeface="Cambria Math" panose="02040503050406030204" pitchFamily="18" charset="0"/>
                            <a:ea typeface="Cambria Math" panose="02040503050406030204" pitchFamily="18" charset="0"/>
                          </a:rPr>
                          <m:t>𝑁</m:t>
                        </m:r>
                      </m:e>
                    </m:d>
                    <m:r>
                      <a:rPr lang="tr-TR" b="0" i="1" smtClean="0">
                        <a:latin typeface="Cambria Math" panose="02040503050406030204" pitchFamily="18" charset="0"/>
                        <a:ea typeface="Cambria Math" panose="02040503050406030204" pitchFamily="18" charset="0"/>
                      </a:rPr>
                      <m:t>⇒7.</m:t>
                    </m:r>
                    <m:r>
                      <a:rPr lang="tr-TR" b="0" i="1" smtClean="0">
                        <a:latin typeface="Cambria Math" panose="02040503050406030204" pitchFamily="18" charset="0"/>
                        <a:ea typeface="Cambria Math" panose="02040503050406030204" pitchFamily="18" charset="0"/>
                      </a:rPr>
                      <m:t>𝑑</m:t>
                    </m:r>
                    <m:r>
                      <a:rPr lang="tr-TR" b="0" i="1" smtClean="0">
                        <a:latin typeface="Cambria Math" panose="02040503050406030204" pitchFamily="18" charset="0"/>
                        <a:ea typeface="Cambria Math" panose="02040503050406030204" pitchFamily="18" charset="0"/>
                      </a:rPr>
                      <m:t>=1.</m:t>
                    </m:r>
                    <m:r>
                      <a:rPr lang="tr-TR" b="0" i="1" smtClean="0">
                        <a:latin typeface="Cambria Math" panose="02040503050406030204" pitchFamily="18" charset="0"/>
                        <a:ea typeface="Cambria Math" panose="02040503050406030204" pitchFamily="18" charset="0"/>
                      </a:rPr>
                      <m:t>𝑚𝑜𝑑</m:t>
                    </m:r>
                    <m:r>
                      <a:rPr lang="tr-TR" b="0" i="1" smtClean="0">
                        <a:latin typeface="Cambria Math" panose="02040503050406030204" pitchFamily="18" charset="0"/>
                        <a:ea typeface="Cambria Math" panose="02040503050406030204" pitchFamily="18" charset="0"/>
                      </a:rPr>
                      <m:t> </m:t>
                    </m:r>
                    <m:d>
                      <m:dPr>
                        <m:ctrlPr>
                          <a:rPr lang="tr-TR" b="0" i="1" smtClean="0">
                            <a:latin typeface="Cambria Math" panose="02040503050406030204" pitchFamily="18" charset="0"/>
                            <a:ea typeface="Cambria Math" panose="02040503050406030204" pitchFamily="18" charset="0"/>
                          </a:rPr>
                        </m:ctrlPr>
                      </m:dPr>
                      <m:e>
                        <m:r>
                          <a:rPr lang="tr-TR" b="0" i="1" smtClean="0">
                            <a:latin typeface="Cambria Math" panose="02040503050406030204" pitchFamily="18" charset="0"/>
                            <a:ea typeface="Cambria Math" panose="02040503050406030204" pitchFamily="18" charset="0"/>
                          </a:rPr>
                          <m:t>10</m:t>
                        </m:r>
                      </m:e>
                    </m:d>
                    <m:r>
                      <a:rPr lang="tr-TR" i="1">
                        <a:latin typeface="Cambria Math" panose="02040503050406030204" pitchFamily="18" charset="0"/>
                        <a:ea typeface="Cambria Math" panose="02040503050406030204" pitchFamily="18" charset="0"/>
                      </a:rPr>
                      <m:t>⇒</m:t>
                    </m:r>
                    <m:r>
                      <a:rPr lang="tr-TR" b="0" i="1" smtClean="0">
                        <a:latin typeface="Cambria Math" panose="02040503050406030204" pitchFamily="18" charset="0"/>
                        <a:ea typeface="Cambria Math" panose="02040503050406030204" pitchFamily="18" charset="0"/>
                      </a:rPr>
                      <m:t>𝑑</m:t>
                    </m:r>
                    <m:r>
                      <a:rPr lang="tr-TR" b="0" i="1" smtClean="0">
                        <a:latin typeface="Cambria Math" panose="02040503050406030204" pitchFamily="18" charset="0"/>
                        <a:ea typeface="Cambria Math" panose="02040503050406030204" pitchFamily="18" charset="0"/>
                      </a:rPr>
                      <m:t>=3</m:t>
                    </m:r>
                  </m:oMath>
                </a14:m>
                <a:endParaRPr lang="tr-TR" dirty="0"/>
              </a:p>
              <a:p>
                <a:pPr lvl="2"/>
                <a:endParaRPr lang="tr-TR" dirty="0"/>
              </a:p>
              <a:p>
                <a:endParaRPr lang="tr-TR" dirty="0"/>
              </a:p>
            </p:txBody>
          </p:sp>
        </mc:Choice>
        <mc:Fallback>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971" t="-1884"/>
                </a:stretch>
              </a:blipFill>
            </p:spPr>
            <p:txBody>
              <a:bodyPr/>
              <a:lstStyle/>
              <a:p>
                <a:r>
                  <a:rPr lang="tr-TR">
                    <a:noFill/>
                  </a:rPr>
                  <a:t> </a:t>
                </a:r>
              </a:p>
            </p:txBody>
          </p:sp>
        </mc:Fallback>
      </mc:AlternateContent>
    </p:spTree>
    <p:extLst>
      <p:ext uri="{BB962C8B-B14F-4D97-AF65-F5344CB8AC3E}">
        <p14:creationId xmlns:p14="http://schemas.microsoft.com/office/powerpoint/2010/main" val="991293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mc:AlternateContent xmlns:mc="http://schemas.openxmlformats.org/markup-compatibility/2006" xmlns:a14="http://schemas.microsoft.com/office/drawing/2010/main">
        <mc:Choice Requires="a14">
          <p:sp>
            <p:nvSpPr>
              <p:cNvPr id="3" name="İçerik Yer Tutucusu 2"/>
              <p:cNvSpPr>
                <a:spLocks noGrp="1"/>
              </p:cNvSpPr>
              <p:nvPr>
                <p:ph idx="1"/>
              </p:nvPr>
            </p:nvSpPr>
            <p:spPr/>
            <p:txBody>
              <a:bodyPr>
                <a:normAutofit/>
              </a:bodyPr>
              <a:lstStyle/>
              <a:p>
                <a:r>
                  <a:rPr lang="tr-TR" b="1" u="sng" dirty="0" smtClean="0">
                    <a:solidFill>
                      <a:srgbClr val="C00000"/>
                    </a:solidFill>
                    <a:effectLst>
                      <a:outerShdw blurRad="38100" dist="38100" dir="2700000" algn="tl">
                        <a:srgbClr val="000000">
                          <a:alpha val="43137"/>
                        </a:srgbClr>
                      </a:outerShdw>
                    </a:effectLst>
                  </a:rPr>
                  <a:t>Örnek…:</a:t>
                </a:r>
                <a:endParaRPr lang="tr-TR" b="1" u="sng" dirty="0">
                  <a:solidFill>
                    <a:srgbClr val="C00000"/>
                  </a:solidFill>
                  <a:effectLst>
                    <a:outerShdw blurRad="38100" dist="38100" dir="2700000" algn="tl">
                      <a:srgbClr val="000000">
                        <a:alpha val="43137"/>
                      </a:srgbClr>
                    </a:outerShdw>
                  </a:effectLst>
                </a:endParaRPr>
              </a:p>
              <a:p>
                <a:pPr lvl="1" algn="just"/>
                <a14:m>
                  <m:oMath xmlns:m="http://schemas.openxmlformats.org/officeDocument/2006/math">
                    <m:r>
                      <a:rPr lang="tr-TR" i="1">
                        <a:latin typeface="Cambria Math" panose="02040503050406030204" pitchFamily="18" charset="0"/>
                        <a:ea typeface="Cambria Math" panose="02040503050406030204" pitchFamily="18" charset="0"/>
                      </a:rPr>
                      <m:t>𝑑</m:t>
                    </m:r>
                    <m:r>
                      <a:rPr lang="tr-TR" i="1">
                        <a:latin typeface="Cambria Math" panose="02040503050406030204" pitchFamily="18" charset="0"/>
                        <a:ea typeface="Cambria Math" panose="02040503050406030204" pitchFamily="18" charset="0"/>
                      </a:rPr>
                      <m:t>=3</m:t>
                    </m:r>
                  </m:oMath>
                </a14:m>
                <a:r>
                  <a:rPr lang="tr-TR" dirty="0" smtClean="0"/>
                  <a:t> sayısı bulunduktan sonra artık deşifre işlemi, şifreli metni sayılara dönüştürüp her sayının 3. kuvvetini alarak </a:t>
                </a:r>
                <a:r>
                  <a:rPr lang="tr-TR" i="1" dirty="0" err="1" smtClean="0"/>
                  <a:t>mod</a:t>
                </a:r>
                <a:r>
                  <a:rPr lang="tr-TR" i="1" dirty="0" smtClean="0"/>
                  <a:t> 22</a:t>
                </a:r>
                <a:r>
                  <a:rPr lang="tr-TR" dirty="0" smtClean="0"/>
                  <a:t>’de hesaplamaktır.</a:t>
                </a:r>
              </a:p>
              <a:p>
                <a:pPr lvl="2"/>
                <a14:m>
                  <m:oMath xmlns:m="http://schemas.openxmlformats.org/officeDocument/2006/math">
                    <m:sSup>
                      <m:sSupPr>
                        <m:ctrlPr>
                          <a:rPr lang="tr-TR" i="1">
                            <a:latin typeface="Cambria Math" panose="02040503050406030204" pitchFamily="18" charset="0"/>
                          </a:rPr>
                        </m:ctrlPr>
                      </m:sSupPr>
                      <m:e>
                        <m:r>
                          <a:rPr lang="tr-TR" b="0" i="1" smtClean="0">
                            <a:latin typeface="Cambria Math" panose="02040503050406030204" pitchFamily="18" charset="0"/>
                          </a:rPr>
                          <m:t>8</m:t>
                        </m:r>
                      </m:e>
                      <m:sup>
                        <m:r>
                          <a:rPr lang="tr-TR" b="0" i="1" smtClean="0">
                            <a:latin typeface="Cambria Math" panose="02040503050406030204" pitchFamily="18" charset="0"/>
                          </a:rPr>
                          <m:t>3</m:t>
                        </m:r>
                      </m:sup>
                    </m:sSup>
                    <m:r>
                      <a:rPr lang="tr-TR" i="1">
                        <a:latin typeface="Cambria Math" panose="02040503050406030204" pitchFamily="18" charset="0"/>
                      </a:rPr>
                      <m:t>𝑚𝑜𝑑</m:t>
                    </m:r>
                    <m:r>
                      <a:rPr lang="tr-TR" i="1">
                        <a:latin typeface="Cambria Math" panose="02040503050406030204" pitchFamily="18" charset="0"/>
                      </a:rPr>
                      <m:t> 22=6</m:t>
                    </m:r>
                  </m:oMath>
                </a14:m>
                <a:endParaRPr lang="tr-TR" b="0" dirty="0" smtClean="0"/>
              </a:p>
              <a:p>
                <a:pPr lvl="2"/>
                <a14:m>
                  <m:oMath xmlns:m="http://schemas.openxmlformats.org/officeDocument/2006/math">
                    <m:sSup>
                      <m:sSupPr>
                        <m:ctrlPr>
                          <a:rPr lang="tr-TR" i="1">
                            <a:latin typeface="Cambria Math" panose="02040503050406030204" pitchFamily="18" charset="0"/>
                          </a:rPr>
                        </m:ctrlPr>
                      </m:sSupPr>
                      <m:e>
                        <m:r>
                          <a:rPr lang="tr-TR" b="0" i="1" smtClean="0">
                            <a:latin typeface="Cambria Math" panose="02040503050406030204" pitchFamily="18" charset="0"/>
                          </a:rPr>
                          <m:t>3</m:t>
                        </m:r>
                      </m:e>
                      <m:sup>
                        <m:r>
                          <a:rPr lang="tr-TR" i="1">
                            <a:latin typeface="Cambria Math" panose="02040503050406030204" pitchFamily="18" charset="0"/>
                          </a:rPr>
                          <m:t>3</m:t>
                        </m:r>
                      </m:sup>
                    </m:sSup>
                    <m:r>
                      <a:rPr lang="tr-TR" i="1">
                        <a:latin typeface="Cambria Math" panose="02040503050406030204" pitchFamily="18" charset="0"/>
                      </a:rPr>
                      <m:t>𝑚𝑜𝑑</m:t>
                    </m:r>
                    <m:r>
                      <a:rPr lang="tr-TR" i="1">
                        <a:latin typeface="Cambria Math" panose="02040503050406030204" pitchFamily="18" charset="0"/>
                      </a:rPr>
                      <m:t> 22=5</m:t>
                    </m:r>
                  </m:oMath>
                </a14:m>
                <a:endParaRPr lang="tr-TR" dirty="0" smtClean="0"/>
              </a:p>
              <a:p>
                <a:pPr lvl="2"/>
                <a14:m>
                  <m:oMath xmlns:m="http://schemas.openxmlformats.org/officeDocument/2006/math">
                    <m:sSup>
                      <m:sSupPr>
                        <m:ctrlPr>
                          <a:rPr lang="tr-TR" i="1" smtClean="0">
                            <a:latin typeface="Cambria Math" panose="02040503050406030204" pitchFamily="18" charset="0"/>
                          </a:rPr>
                        </m:ctrlPr>
                      </m:sSupPr>
                      <m:e>
                        <m:r>
                          <a:rPr lang="tr-TR" b="0" i="1" smtClean="0">
                            <a:latin typeface="Cambria Math" panose="02040503050406030204" pitchFamily="18" charset="0"/>
                          </a:rPr>
                          <m:t>16</m:t>
                        </m:r>
                      </m:e>
                      <m:sup>
                        <m:r>
                          <a:rPr lang="tr-TR" i="1">
                            <a:latin typeface="Cambria Math" panose="02040503050406030204" pitchFamily="18" charset="0"/>
                          </a:rPr>
                          <m:t>3</m:t>
                        </m:r>
                      </m:sup>
                    </m:sSup>
                    <m:r>
                      <a:rPr lang="tr-TR" i="1">
                        <a:latin typeface="Cambria Math" panose="02040503050406030204" pitchFamily="18" charset="0"/>
                      </a:rPr>
                      <m:t>𝑚𝑜𝑑</m:t>
                    </m:r>
                    <m:r>
                      <a:rPr lang="tr-TR" i="1">
                        <a:latin typeface="Cambria Math" panose="02040503050406030204" pitchFamily="18" charset="0"/>
                      </a:rPr>
                      <m:t> 22=4</m:t>
                    </m:r>
                  </m:oMath>
                </a14:m>
                <a:endParaRPr lang="tr-TR" dirty="0" smtClean="0"/>
              </a:p>
              <a:p>
                <a:pPr lvl="2"/>
                <a14:m>
                  <m:oMath xmlns:m="http://schemas.openxmlformats.org/officeDocument/2006/math">
                    <m:sSup>
                      <m:sSupPr>
                        <m:ctrlPr>
                          <a:rPr lang="tr-TR" i="1">
                            <a:latin typeface="Cambria Math" panose="02040503050406030204" pitchFamily="18" charset="0"/>
                          </a:rPr>
                        </m:ctrlPr>
                      </m:sSupPr>
                      <m:e>
                        <m:r>
                          <a:rPr lang="tr-TR" b="0" i="1" smtClean="0">
                            <a:latin typeface="Cambria Math" panose="02040503050406030204" pitchFamily="18" charset="0"/>
                          </a:rPr>
                          <m:t>1</m:t>
                        </m:r>
                      </m:e>
                      <m:sup>
                        <m:r>
                          <a:rPr lang="tr-TR" i="1">
                            <a:latin typeface="Cambria Math" panose="02040503050406030204" pitchFamily="18" charset="0"/>
                          </a:rPr>
                          <m:t>3</m:t>
                        </m:r>
                      </m:sup>
                    </m:sSup>
                    <m:r>
                      <a:rPr lang="tr-TR" i="1">
                        <a:latin typeface="Cambria Math" panose="02040503050406030204" pitchFamily="18" charset="0"/>
                      </a:rPr>
                      <m:t>𝑚𝑜𝑑</m:t>
                    </m:r>
                    <m:r>
                      <a:rPr lang="tr-TR" i="1">
                        <a:latin typeface="Cambria Math" panose="02040503050406030204" pitchFamily="18" charset="0"/>
                      </a:rPr>
                      <m:t> 22=1</m:t>
                    </m:r>
                  </m:oMath>
                </a14:m>
                <a:endParaRPr lang="tr-TR" dirty="0" smtClean="0"/>
              </a:p>
              <a:p>
                <a:pPr lvl="1"/>
                <a:r>
                  <a:rPr lang="tr-TR" dirty="0" smtClean="0"/>
                  <a:t>Barış 6-5-4-1 sayılarını bularak ‘FEDA’ sözcüğünü elde etmiş oldu.</a:t>
                </a:r>
                <a:endParaRPr lang="tr-TR" dirty="0"/>
              </a:p>
              <a:p>
                <a:pPr lvl="2"/>
                <a:endParaRPr lang="tr-TR" dirty="0"/>
              </a:p>
              <a:p>
                <a:endParaRPr lang="tr-TR" dirty="0"/>
              </a:p>
            </p:txBody>
          </p:sp>
        </mc:Choice>
        <mc:Fallback xmlns="">
          <p:sp>
            <p:nvSpPr>
              <p:cNvPr id="3" name="İçerik Yer Tutucusu 2"/>
              <p:cNvSpPr>
                <a:spLocks noGrp="1" noRot="1" noChangeAspect="1" noMove="1" noResize="1" noEditPoints="1" noAdjustHandles="1" noChangeArrowheads="1" noChangeShapeType="1" noTextEdit="1"/>
              </p:cNvSpPr>
              <p:nvPr>
                <p:ph idx="1"/>
              </p:nvPr>
            </p:nvSpPr>
            <p:spPr>
              <a:blipFill>
                <a:blip r:embed="rId2"/>
                <a:stretch>
                  <a:fillRect l="-971" t="-1884" r="-763"/>
                </a:stretch>
              </a:blipFill>
            </p:spPr>
            <p:txBody>
              <a:bodyPr/>
              <a:lstStyle/>
              <a:p>
                <a:r>
                  <a:rPr lang="tr-TR">
                    <a:noFill/>
                  </a:rPr>
                  <a:t> </a:t>
                </a:r>
              </a:p>
            </p:txBody>
          </p:sp>
        </mc:Fallback>
      </mc:AlternateContent>
    </p:spTree>
    <p:extLst>
      <p:ext uri="{BB962C8B-B14F-4D97-AF65-F5344CB8AC3E}">
        <p14:creationId xmlns:p14="http://schemas.microsoft.com/office/powerpoint/2010/main" val="24157580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van 1"/>
          <p:cNvSpPr>
            <a:spLocks noGrp="1"/>
          </p:cNvSpPr>
          <p:nvPr>
            <p:ph type="title"/>
          </p:nvPr>
        </p:nvSpPr>
        <p:spPr/>
        <p:txBody>
          <a:bodyPr/>
          <a:lstStyle/>
          <a:p>
            <a:r>
              <a:rPr lang="tr-TR" dirty="0" smtClean="0"/>
              <a:t>RSA Algoritması</a:t>
            </a:r>
            <a:endParaRPr lang="tr-TR" dirty="0"/>
          </a:p>
        </p:txBody>
      </p:sp>
      <p:sp>
        <p:nvSpPr>
          <p:cNvPr id="3" name="İçerik Yer Tutucusu 2"/>
          <p:cNvSpPr>
            <a:spLocks noGrp="1"/>
          </p:cNvSpPr>
          <p:nvPr>
            <p:ph idx="1"/>
          </p:nvPr>
        </p:nvSpPr>
        <p:spPr/>
        <p:txBody>
          <a:bodyPr/>
          <a:lstStyle/>
          <a:p>
            <a:r>
              <a:rPr lang="tr-TR" dirty="0" smtClean="0"/>
              <a:t>RSA </a:t>
            </a:r>
            <a:r>
              <a:rPr lang="tr-TR" dirty="0"/>
              <a:t>algoritmasının en büyük dezavantajı</a:t>
            </a:r>
            <a:r>
              <a:rPr lang="tr-TR" dirty="0" smtClean="0"/>
              <a:t>;</a:t>
            </a:r>
          </a:p>
          <a:p>
            <a:pPr lvl="1"/>
            <a:r>
              <a:rPr lang="tr-TR" dirty="0" smtClean="0"/>
              <a:t> </a:t>
            </a:r>
            <a:r>
              <a:rPr lang="tr-TR" dirty="0"/>
              <a:t>A</a:t>
            </a:r>
            <a:r>
              <a:rPr lang="tr-TR" dirty="0" smtClean="0"/>
              <a:t>simetrik </a:t>
            </a:r>
            <a:r>
              <a:rPr lang="tr-TR" dirty="0"/>
              <a:t>bir şifreleme algoritması olması </a:t>
            </a:r>
            <a:endParaRPr lang="tr-TR" dirty="0" smtClean="0"/>
          </a:p>
          <a:p>
            <a:pPr lvl="1"/>
            <a:r>
              <a:rPr lang="tr-TR" dirty="0" smtClean="0"/>
              <a:t>büyük </a:t>
            </a:r>
            <a:r>
              <a:rPr lang="tr-TR" dirty="0"/>
              <a:t>sayılarla işlem yapması nedeniyle yavaş olmasıdır. </a:t>
            </a:r>
            <a:endParaRPr lang="tr-TR" dirty="0" smtClean="0"/>
          </a:p>
          <a:p>
            <a:r>
              <a:rPr lang="tr-TR" dirty="0" smtClean="0"/>
              <a:t>Özellikle </a:t>
            </a:r>
            <a:r>
              <a:rPr lang="tr-TR" dirty="0"/>
              <a:t>kablosuz ağ sistemlerinde bu algoritmanın kullanılması bazı sorunlara yol açabilir. </a:t>
            </a:r>
            <a:r>
              <a:rPr lang="tr-TR"/>
              <a:t>Çünkü </a:t>
            </a:r>
            <a:r>
              <a:rPr lang="tr-TR" smtClean="0"/>
              <a:t>bant </a:t>
            </a:r>
            <a:r>
              <a:rPr lang="tr-TR" dirty="0"/>
              <a:t>genişliğini fazlaca tüketir ve sistemi yavaşlatarak performans düşüşüne neden olur. </a:t>
            </a:r>
          </a:p>
          <a:p>
            <a:r>
              <a:rPr lang="tr-TR" dirty="0" smtClean="0"/>
              <a:t>Büyük </a:t>
            </a:r>
            <a:r>
              <a:rPr lang="tr-TR" dirty="0"/>
              <a:t>sayılarla işlem yapmak zor olduğu için güvenilirliği son derece yüksek olan bir şifreleme tekniğidir </a:t>
            </a:r>
            <a:r>
              <a:rPr lang="tr-TR" dirty="0" smtClean="0"/>
              <a:t>.</a:t>
            </a:r>
            <a:endParaRPr lang="tr-TR" dirty="0"/>
          </a:p>
          <a:p>
            <a:endParaRPr lang="tr-TR" dirty="0"/>
          </a:p>
        </p:txBody>
      </p:sp>
    </p:spTree>
    <p:extLst>
      <p:ext uri="{BB962C8B-B14F-4D97-AF65-F5344CB8AC3E}">
        <p14:creationId xmlns:p14="http://schemas.microsoft.com/office/powerpoint/2010/main" val="3369040724"/>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2568</TotalTime>
  <Words>1558</Words>
  <Application>Microsoft Office PowerPoint</Application>
  <PresentationFormat>Ekran Gösterisi (4:3)</PresentationFormat>
  <Paragraphs>218</Paragraphs>
  <Slides>29</Slides>
  <Notes>1</Notes>
  <HiddenSlides>0</HiddenSlides>
  <MMClips>0</MMClips>
  <ScaleCrop>false</ScaleCrop>
  <HeadingPairs>
    <vt:vector size="6" baseType="variant">
      <vt:variant>
        <vt:lpstr>Kullanılan Yazı Tipleri</vt:lpstr>
      </vt:variant>
      <vt:variant>
        <vt:i4>6</vt:i4>
      </vt:variant>
      <vt:variant>
        <vt:lpstr>Tema</vt:lpstr>
      </vt:variant>
      <vt:variant>
        <vt:i4>1</vt:i4>
      </vt:variant>
      <vt:variant>
        <vt:lpstr>Slayt Başlıkları</vt:lpstr>
      </vt:variant>
      <vt:variant>
        <vt:i4>29</vt:i4>
      </vt:variant>
    </vt:vector>
  </HeadingPairs>
  <TitlesOfParts>
    <vt:vector size="36" baseType="lpstr">
      <vt:lpstr>Arial</vt:lpstr>
      <vt:lpstr>Calibri</vt:lpstr>
      <vt:lpstr>Calibri Light</vt:lpstr>
      <vt:lpstr>Cambria Math</vt:lpstr>
      <vt:lpstr>Times New Roman</vt:lpstr>
      <vt:lpstr>Wingdings</vt:lpstr>
      <vt:lpstr>Office Teması</vt:lpstr>
      <vt:lpstr>Ayrık İşlemsel Yapılar KRİPTOGRAFİ </vt:lpstr>
      <vt:lpstr>İçerik</vt:lpstr>
      <vt:lpstr>Kriptoloji</vt:lpstr>
      <vt:lpstr>Kriptoloji</vt:lpstr>
      <vt:lpstr>Kriptoloji</vt:lpstr>
      <vt:lpstr>Kriptoloji</vt:lpstr>
      <vt:lpstr>Kriptoanaliz</vt:lpstr>
      <vt:lpstr>Kriptografi</vt:lpstr>
      <vt:lpstr>Amaçları</vt:lpstr>
      <vt:lpstr>Kullanım Alanları</vt:lpstr>
      <vt:lpstr>PowerPoint Sunusu</vt:lpstr>
      <vt:lpstr>Simetrik Şifreleme Algoritmaları</vt:lpstr>
      <vt:lpstr>Simetrik Şifreleme Algoritmaları</vt:lpstr>
      <vt:lpstr>Asimetrik Şifreleme Algoritmaları</vt:lpstr>
      <vt:lpstr>Asimetrik Şifreleme Algoritmaları</vt:lpstr>
      <vt:lpstr>Asimetrik Şifreleme Algoritmaları</vt:lpstr>
      <vt:lpstr>Sezar Şifreleme Algoritması</vt:lpstr>
      <vt:lpstr>Sezar Şifreleme Algoritması</vt:lpstr>
      <vt:lpstr>RSA Algoritması</vt:lpstr>
      <vt:lpstr>RSA Algoritması</vt:lpstr>
      <vt:lpstr>RSA Algoritması</vt:lpstr>
      <vt:lpstr>RSA Algoritması</vt:lpstr>
      <vt:lpstr>RSA Algoritması</vt:lpstr>
      <vt:lpstr>RSA Algoritması</vt:lpstr>
      <vt:lpstr>RSA Algoritması</vt:lpstr>
      <vt:lpstr>RSA Algoritması</vt:lpstr>
      <vt:lpstr>RSA Algoritması</vt:lpstr>
      <vt:lpstr>RSA Algoritması</vt:lpstr>
      <vt:lpstr>RSA Algoritması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Teknolojileri HAFTA 2????</dc:title>
  <dc:creator>gulizar</dc:creator>
  <cp:lastModifiedBy>Hüseyin Eski</cp:lastModifiedBy>
  <cp:revision>740</cp:revision>
  <dcterms:created xsi:type="dcterms:W3CDTF">2018-02-02T11:53:53Z</dcterms:created>
  <dcterms:modified xsi:type="dcterms:W3CDTF">2018-05-07T11:10:52Z</dcterms:modified>
</cp:coreProperties>
</file>